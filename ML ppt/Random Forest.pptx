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3" r:id="rId6"/>
    <p:sldId id="261" r:id="rId7"/>
    <p:sldId id="260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0" d="100"/>
          <a:sy n="120" d="100"/>
        </p:scale>
        <p:origin x="198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5937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3852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7761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7030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287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9004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3510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1438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5371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8119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9777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87293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92140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71862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076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49690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7014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8601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90973" y="1417701"/>
            <a:ext cx="2200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Class</a:t>
            </a:r>
            <a:r>
              <a:rPr spc="-60" dirty="0"/>
              <a:t> </a:t>
            </a:r>
            <a:r>
              <a:rPr spc="-10" dirty="0"/>
              <a:t>Content: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7359" y="2296159"/>
            <a:ext cx="3187700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spc="-5" dirty="0">
                <a:latin typeface="Times New Roman"/>
                <a:cs typeface="Times New Roman"/>
              </a:rPr>
              <a:t>Decision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Tree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Pruning</a:t>
            </a:r>
            <a:endParaRPr sz="18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spc="-5" dirty="0">
                <a:latin typeface="Times New Roman"/>
                <a:cs typeface="Times New Roman"/>
              </a:rPr>
              <a:t>Pre-Pruning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Decision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Tree</a:t>
            </a:r>
            <a:endParaRPr sz="18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spc="-5" dirty="0">
                <a:latin typeface="Times New Roman"/>
                <a:cs typeface="Times New Roman"/>
              </a:rPr>
              <a:t>Post-Pruning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5" dirty="0">
                <a:latin typeface="Times New Roman"/>
                <a:cs typeface="Times New Roman"/>
              </a:rPr>
              <a:t> Decision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Tree</a:t>
            </a:r>
            <a:endParaRPr sz="18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dirty="0">
                <a:latin typeface="Times New Roman"/>
                <a:cs typeface="Times New Roman"/>
              </a:rPr>
              <a:t>Ensemble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Machine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Learning</a:t>
            </a:r>
            <a:endParaRPr sz="18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dirty="0">
                <a:latin typeface="Times New Roman"/>
                <a:cs typeface="Times New Roman"/>
              </a:rPr>
              <a:t>Bagging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Algorith</a:t>
            </a:r>
            <a:r>
              <a:rPr sz="1800" spc="-15" dirty="0">
                <a:latin typeface="Times New Roman"/>
                <a:cs typeface="Times New Roman"/>
              </a:rPr>
              <a:t>m</a:t>
            </a:r>
            <a:r>
              <a:rPr sz="1800" dirty="0">
                <a:latin typeface="Times New Roman"/>
                <a:cs typeface="Times New Roman"/>
              </a:rPr>
              <a:t>s</a:t>
            </a:r>
            <a:endParaRPr sz="18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dirty="0">
                <a:latin typeface="Times New Roman"/>
                <a:cs typeface="Times New Roman"/>
              </a:rPr>
              <a:t>Boosting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Algori</a:t>
            </a:r>
            <a:r>
              <a:rPr sz="1800" spc="5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h</a:t>
            </a:r>
            <a:r>
              <a:rPr sz="1800" spc="-10" dirty="0">
                <a:latin typeface="Times New Roman"/>
                <a:cs typeface="Times New Roman"/>
              </a:rPr>
              <a:t>m</a:t>
            </a:r>
            <a:r>
              <a:rPr sz="1800" spc="-5" dirty="0">
                <a:latin typeface="Times New Roman"/>
                <a:cs typeface="Times New Roman"/>
              </a:rPr>
              <a:t>s</a:t>
            </a:r>
            <a:endParaRPr sz="18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dirty="0">
                <a:latin typeface="Times New Roman"/>
                <a:cs typeface="Times New Roman"/>
              </a:rPr>
              <a:t>Random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Forest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In-depth</a:t>
            </a:r>
            <a:endParaRPr sz="18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dirty="0">
                <a:latin typeface="Times New Roman"/>
                <a:cs typeface="Times New Roman"/>
              </a:rPr>
              <a:t>Hyper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Parameter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Tuning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using:</a:t>
            </a:r>
            <a:endParaRPr sz="18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Randomized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Search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CV</a:t>
            </a:r>
            <a:endParaRPr sz="18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Grid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Search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CV</a:t>
            </a:r>
            <a:endParaRPr sz="18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dirty="0">
                <a:latin typeface="Times New Roman"/>
                <a:cs typeface="Times New Roman"/>
              </a:rPr>
              <a:t>Python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Implementations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31333" y="442671"/>
            <a:ext cx="20491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Decision</a:t>
            </a:r>
            <a:r>
              <a:rPr spc="-60" dirty="0"/>
              <a:t> </a:t>
            </a:r>
            <a:r>
              <a:rPr spc="-5" dirty="0"/>
              <a:t>Tree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3759" y="1303019"/>
            <a:ext cx="8616808" cy="48908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97327" y="1337817"/>
            <a:ext cx="24936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1F4E79"/>
                </a:solidFill>
                <a:latin typeface="Segoe Print"/>
                <a:cs typeface="Segoe Print"/>
              </a:rPr>
              <a:t>Normal</a:t>
            </a:r>
            <a:r>
              <a:rPr sz="1800" b="1" spc="-35" dirty="0">
                <a:solidFill>
                  <a:srgbClr val="1F4E79"/>
                </a:solidFill>
                <a:latin typeface="Segoe Print"/>
                <a:cs typeface="Segoe Print"/>
              </a:rPr>
              <a:t> </a:t>
            </a:r>
            <a:r>
              <a:rPr sz="1800" b="1" spc="-5" dirty="0">
                <a:solidFill>
                  <a:srgbClr val="1F4E79"/>
                </a:solidFill>
                <a:latin typeface="Segoe Print"/>
                <a:cs typeface="Segoe Print"/>
              </a:rPr>
              <a:t>Decision</a:t>
            </a:r>
            <a:r>
              <a:rPr sz="1800" b="1" spc="-25" dirty="0">
                <a:solidFill>
                  <a:srgbClr val="1F4E79"/>
                </a:solidFill>
                <a:latin typeface="Segoe Print"/>
                <a:cs typeface="Segoe Print"/>
              </a:rPr>
              <a:t> </a:t>
            </a:r>
            <a:r>
              <a:rPr sz="1800" b="1" dirty="0">
                <a:solidFill>
                  <a:srgbClr val="1F4E79"/>
                </a:solidFill>
                <a:latin typeface="Segoe Print"/>
                <a:cs typeface="Segoe Print"/>
              </a:rPr>
              <a:t>Tree</a:t>
            </a:r>
            <a:endParaRPr sz="1800">
              <a:latin typeface="Segoe Print"/>
              <a:cs typeface="Segoe Prin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38237" y="1337817"/>
            <a:ext cx="2218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1F4E79"/>
                </a:solidFill>
                <a:latin typeface="Segoe Print"/>
                <a:cs typeface="Segoe Print"/>
              </a:rPr>
              <a:t>After</a:t>
            </a:r>
            <a:r>
              <a:rPr sz="1800" b="1" spc="-50" dirty="0">
                <a:solidFill>
                  <a:srgbClr val="1F4E79"/>
                </a:solidFill>
                <a:latin typeface="Segoe Print"/>
                <a:cs typeface="Segoe Print"/>
              </a:rPr>
              <a:t> </a:t>
            </a:r>
            <a:r>
              <a:rPr sz="1800" b="1" dirty="0">
                <a:solidFill>
                  <a:srgbClr val="1F4E79"/>
                </a:solidFill>
                <a:latin typeface="Segoe Print"/>
                <a:cs typeface="Segoe Print"/>
              </a:rPr>
              <a:t>Post</a:t>
            </a:r>
            <a:r>
              <a:rPr sz="1800" b="1" spc="-65" dirty="0">
                <a:solidFill>
                  <a:srgbClr val="1F4E79"/>
                </a:solidFill>
                <a:latin typeface="Segoe Print"/>
                <a:cs typeface="Segoe Print"/>
              </a:rPr>
              <a:t> </a:t>
            </a:r>
            <a:r>
              <a:rPr sz="1800" b="1" dirty="0">
                <a:solidFill>
                  <a:srgbClr val="1F4E79"/>
                </a:solidFill>
                <a:latin typeface="Segoe Print"/>
                <a:cs typeface="Segoe Print"/>
              </a:rPr>
              <a:t>Pruning</a:t>
            </a:r>
            <a:endParaRPr sz="1800">
              <a:latin typeface="Segoe Print"/>
              <a:cs typeface="Segoe Prin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25555" y="1717548"/>
            <a:ext cx="11628755" cy="4521835"/>
            <a:chOff x="525555" y="1717548"/>
            <a:chExt cx="11628755" cy="452183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5555" y="1717548"/>
              <a:ext cx="7163024" cy="4521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62000" y="1883664"/>
              <a:ext cx="2174875" cy="617220"/>
            </a:xfrm>
            <a:custGeom>
              <a:avLst/>
              <a:gdLst/>
              <a:ahLst/>
              <a:cxnLst/>
              <a:rect l="l" t="t" r="r" b="b"/>
              <a:pathLst>
                <a:path w="2174875" h="617219">
                  <a:moveTo>
                    <a:pt x="1866138" y="0"/>
                  </a:moveTo>
                  <a:lnTo>
                    <a:pt x="1866138" y="154305"/>
                  </a:lnTo>
                  <a:lnTo>
                    <a:pt x="0" y="154305"/>
                  </a:lnTo>
                  <a:lnTo>
                    <a:pt x="0" y="462914"/>
                  </a:lnTo>
                  <a:lnTo>
                    <a:pt x="1866138" y="462914"/>
                  </a:lnTo>
                  <a:lnTo>
                    <a:pt x="1866138" y="617220"/>
                  </a:lnTo>
                  <a:lnTo>
                    <a:pt x="2174748" y="308610"/>
                  </a:lnTo>
                  <a:lnTo>
                    <a:pt x="186613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62000" y="1883664"/>
              <a:ext cx="2174875" cy="617220"/>
            </a:xfrm>
            <a:custGeom>
              <a:avLst/>
              <a:gdLst/>
              <a:ahLst/>
              <a:cxnLst/>
              <a:rect l="l" t="t" r="r" b="b"/>
              <a:pathLst>
                <a:path w="2174875" h="617219">
                  <a:moveTo>
                    <a:pt x="0" y="154305"/>
                  </a:moveTo>
                  <a:lnTo>
                    <a:pt x="1866138" y="154305"/>
                  </a:lnTo>
                  <a:lnTo>
                    <a:pt x="1866138" y="0"/>
                  </a:lnTo>
                  <a:lnTo>
                    <a:pt x="2174748" y="308610"/>
                  </a:lnTo>
                  <a:lnTo>
                    <a:pt x="1866138" y="617220"/>
                  </a:lnTo>
                  <a:lnTo>
                    <a:pt x="1866138" y="462914"/>
                  </a:lnTo>
                  <a:lnTo>
                    <a:pt x="0" y="462914"/>
                  </a:lnTo>
                  <a:lnTo>
                    <a:pt x="0" y="154305"/>
                  </a:lnTo>
                  <a:close/>
                </a:path>
              </a:pathLst>
            </a:custGeom>
            <a:ln w="12191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82093" y="2569533"/>
              <a:ext cx="3772022" cy="2890147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355216" y="2027682"/>
            <a:ext cx="833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Tree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336281" y="1877314"/>
            <a:ext cx="2187575" cy="629920"/>
            <a:chOff x="7336281" y="1877314"/>
            <a:chExt cx="2187575" cy="629920"/>
          </a:xfrm>
        </p:grpSpPr>
        <p:sp>
          <p:nvSpPr>
            <p:cNvPr id="12" name="object 12"/>
            <p:cNvSpPr/>
            <p:nvPr/>
          </p:nvSpPr>
          <p:spPr>
            <a:xfrm>
              <a:off x="7342631" y="1883664"/>
              <a:ext cx="2174875" cy="617220"/>
            </a:xfrm>
            <a:custGeom>
              <a:avLst/>
              <a:gdLst/>
              <a:ahLst/>
              <a:cxnLst/>
              <a:rect l="l" t="t" r="r" b="b"/>
              <a:pathLst>
                <a:path w="2174875" h="617219">
                  <a:moveTo>
                    <a:pt x="1866138" y="0"/>
                  </a:moveTo>
                  <a:lnTo>
                    <a:pt x="1866138" y="154305"/>
                  </a:lnTo>
                  <a:lnTo>
                    <a:pt x="0" y="154305"/>
                  </a:lnTo>
                  <a:lnTo>
                    <a:pt x="0" y="462914"/>
                  </a:lnTo>
                  <a:lnTo>
                    <a:pt x="1866138" y="462914"/>
                  </a:lnTo>
                  <a:lnTo>
                    <a:pt x="1866138" y="617220"/>
                  </a:lnTo>
                  <a:lnTo>
                    <a:pt x="2174748" y="308610"/>
                  </a:lnTo>
                  <a:lnTo>
                    <a:pt x="186613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342631" y="1883664"/>
              <a:ext cx="2174875" cy="617220"/>
            </a:xfrm>
            <a:custGeom>
              <a:avLst/>
              <a:gdLst/>
              <a:ahLst/>
              <a:cxnLst/>
              <a:rect l="l" t="t" r="r" b="b"/>
              <a:pathLst>
                <a:path w="2174875" h="617219">
                  <a:moveTo>
                    <a:pt x="0" y="154305"/>
                  </a:moveTo>
                  <a:lnTo>
                    <a:pt x="1866138" y="154305"/>
                  </a:lnTo>
                  <a:lnTo>
                    <a:pt x="1866138" y="0"/>
                  </a:lnTo>
                  <a:lnTo>
                    <a:pt x="2174748" y="308610"/>
                  </a:lnTo>
                  <a:lnTo>
                    <a:pt x="1866138" y="617220"/>
                  </a:lnTo>
                  <a:lnTo>
                    <a:pt x="1866138" y="462914"/>
                  </a:lnTo>
                  <a:lnTo>
                    <a:pt x="0" y="462914"/>
                  </a:lnTo>
                  <a:lnTo>
                    <a:pt x="0" y="154305"/>
                  </a:lnTo>
                  <a:close/>
                </a:path>
              </a:pathLst>
            </a:custGeom>
            <a:ln w="12191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937118" y="2027682"/>
            <a:ext cx="8331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Tree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02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4383785" y="209169"/>
            <a:ext cx="38023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Pruning</a:t>
            </a:r>
            <a:r>
              <a:rPr spc="-15" dirty="0"/>
              <a:t> </a:t>
            </a:r>
            <a:r>
              <a:rPr spc="-5" dirty="0"/>
              <a:t>in</a:t>
            </a:r>
            <a:r>
              <a:rPr spc="-15" dirty="0"/>
              <a:t> </a:t>
            </a:r>
            <a:r>
              <a:rPr spc="-10" dirty="0"/>
              <a:t>Decision</a:t>
            </a:r>
            <a:r>
              <a:rPr spc="-15" dirty="0"/>
              <a:t> </a:t>
            </a:r>
            <a:r>
              <a:rPr dirty="0"/>
              <a:t>Tree</a:t>
            </a:r>
          </a:p>
        </p:txBody>
      </p:sp>
      <p:sp>
        <p:nvSpPr>
          <p:cNvPr id="16" name="object 16"/>
          <p:cNvSpPr/>
          <p:nvPr/>
        </p:nvSpPr>
        <p:spPr>
          <a:xfrm>
            <a:off x="9517380" y="2528316"/>
            <a:ext cx="1316990" cy="533400"/>
          </a:xfrm>
          <a:custGeom>
            <a:avLst/>
            <a:gdLst/>
            <a:ahLst/>
            <a:cxnLst/>
            <a:rect l="l" t="t" r="r" b="b"/>
            <a:pathLst>
              <a:path w="1316990" h="533400">
                <a:moveTo>
                  <a:pt x="1316735" y="0"/>
                </a:moveTo>
                <a:lnTo>
                  <a:pt x="0" y="0"/>
                </a:lnTo>
                <a:lnTo>
                  <a:pt x="0" y="533400"/>
                </a:lnTo>
                <a:lnTo>
                  <a:pt x="1316735" y="533400"/>
                </a:lnTo>
                <a:lnTo>
                  <a:pt x="131673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517380" y="2528316"/>
            <a:ext cx="1316990" cy="533400"/>
          </a:xfrm>
          <a:prstGeom prst="rect">
            <a:avLst/>
          </a:prstGeom>
          <a:ln w="12192">
            <a:solidFill>
              <a:srgbClr val="2E528F"/>
            </a:solidFill>
          </a:ln>
        </p:spPr>
        <p:txBody>
          <a:bodyPr vert="horz" wrap="square" lIns="0" tIns="132080" rIns="0" bIns="0" rtlCol="0">
            <a:spAutoFit/>
          </a:bodyPr>
          <a:lstStyle/>
          <a:p>
            <a:pPr marL="132715">
              <a:lnSpc>
                <a:spcPct val="100000"/>
              </a:lnSpc>
              <a:spcBef>
                <a:spcPts val="1040"/>
              </a:spcBef>
            </a:pPr>
            <a:r>
              <a:rPr sz="1600" spc="-25" dirty="0">
                <a:latin typeface="Calibri"/>
                <a:cs typeface="Calibri"/>
              </a:rPr>
              <a:t>Temperature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61831" y="4003547"/>
            <a:ext cx="955675" cy="535305"/>
          </a:xfrm>
          <a:prstGeom prst="rect">
            <a:avLst/>
          </a:prstGeom>
          <a:solidFill>
            <a:srgbClr val="FFFFFF"/>
          </a:solidFill>
          <a:ln w="12192">
            <a:solidFill>
              <a:srgbClr val="2E528F"/>
            </a:solidFill>
          </a:ln>
        </p:spPr>
        <p:txBody>
          <a:bodyPr vert="horz" wrap="square" lIns="0" tIns="115570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910"/>
              </a:spcBef>
            </a:pPr>
            <a:r>
              <a:rPr sz="1800" spc="-10" dirty="0">
                <a:latin typeface="Calibri"/>
                <a:cs typeface="Calibri"/>
              </a:rPr>
              <a:t>Outlook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834116" y="4017264"/>
            <a:ext cx="957580" cy="576580"/>
          </a:xfrm>
          <a:prstGeom prst="rect">
            <a:avLst/>
          </a:prstGeom>
          <a:solidFill>
            <a:srgbClr val="FFFFFF"/>
          </a:solidFill>
          <a:ln w="12192">
            <a:solidFill>
              <a:srgbClr val="2E528F"/>
            </a:solidFill>
          </a:ln>
        </p:spPr>
        <p:txBody>
          <a:bodyPr vert="horz" wrap="square" lIns="0" tIns="154305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1215"/>
              </a:spcBef>
            </a:pPr>
            <a:r>
              <a:rPr sz="1600" spc="-5" dirty="0">
                <a:latin typeface="Calibri"/>
                <a:cs typeface="Calibri"/>
              </a:rPr>
              <a:t>Humidity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91458" y="293603"/>
            <a:ext cx="6495542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Pre-Pruning</a:t>
            </a:r>
            <a:r>
              <a:rPr spc="-10" dirty="0"/>
              <a:t> </a:t>
            </a:r>
            <a:r>
              <a:rPr dirty="0"/>
              <a:t>vs</a:t>
            </a:r>
            <a:r>
              <a:rPr spc="-25" dirty="0"/>
              <a:t> </a:t>
            </a:r>
            <a:r>
              <a:rPr spc="-5" dirty="0"/>
              <a:t>Post-Pruning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81808" y="2221229"/>
            <a:ext cx="8995792" cy="3090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alibri"/>
                <a:cs typeface="Calibri"/>
              </a:rPr>
              <a:t>Pruning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two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types: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00" dirty="0">
              <a:latin typeface="Calibri"/>
              <a:cs typeface="Calibri"/>
            </a:endParaRPr>
          </a:p>
          <a:p>
            <a:pPr marL="355600" marR="76835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2000" spc="-20" dirty="0">
                <a:latin typeface="Calibri"/>
                <a:cs typeface="Calibri"/>
              </a:rPr>
              <a:t>Post</a:t>
            </a:r>
            <a:r>
              <a:rPr sz="2000" spc="-5" dirty="0">
                <a:latin typeface="Calibri"/>
                <a:cs typeface="Calibri"/>
              </a:rPr>
              <a:t> Pruning(Backward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Pruning):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Full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tree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generated</a:t>
            </a:r>
            <a:r>
              <a:rPr sz="2000" dirty="0">
                <a:latin typeface="Calibri"/>
                <a:cs typeface="Calibri"/>
              </a:rPr>
              <a:t> and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then the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non-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significant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branches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pruned/removed.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Cross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validation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performed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 </a:t>
            </a:r>
            <a:r>
              <a:rPr sz="2000" spc="-5" dirty="0">
                <a:latin typeface="Calibri"/>
                <a:cs typeface="Calibri"/>
              </a:rPr>
              <a:t> every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step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</a:t>
            </a:r>
            <a:r>
              <a:rPr sz="2000" dirty="0">
                <a:latin typeface="Calibri"/>
                <a:cs typeface="Calibri"/>
              </a:rPr>
              <a:t> check </a:t>
            </a:r>
            <a:r>
              <a:rPr sz="2000" spc="-5" dirty="0">
                <a:latin typeface="Calibri"/>
                <a:cs typeface="Calibri"/>
              </a:rPr>
              <a:t>whether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addition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new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branch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leads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increase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 </a:t>
            </a:r>
            <a:r>
              <a:rPr sz="2000" spc="-39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accuracy.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branch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 </a:t>
            </a:r>
            <a:r>
              <a:rPr sz="2000" spc="-10" dirty="0">
                <a:latin typeface="Calibri"/>
                <a:cs typeface="Calibri"/>
              </a:rPr>
              <a:t>converted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</a:t>
            </a:r>
            <a:r>
              <a:rPr sz="2000" spc="-5" dirty="0">
                <a:latin typeface="Calibri"/>
                <a:cs typeface="Calibri"/>
              </a:rPr>
              <a:t> leaf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node.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Calibri"/>
              <a:buAutoNum type="arabicPeriod"/>
            </a:pPr>
            <a:endParaRPr sz="2000" dirty="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2000" spc="-15" dirty="0">
                <a:latin typeface="Calibri"/>
                <a:cs typeface="Calibri"/>
              </a:rPr>
              <a:t>Pre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Pruning(Forward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Pruning):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This </a:t>
            </a:r>
            <a:r>
              <a:rPr sz="2000" spc="-10" dirty="0">
                <a:latin typeface="Calibri"/>
                <a:cs typeface="Calibri"/>
              </a:rPr>
              <a:t>approach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stops</a:t>
            </a:r>
            <a:r>
              <a:rPr sz="2000" dirty="0">
                <a:latin typeface="Calibri"/>
                <a:cs typeface="Calibri"/>
              </a:rPr>
              <a:t> the </a:t>
            </a:r>
            <a:r>
              <a:rPr sz="2000" spc="-5" dirty="0">
                <a:latin typeface="Calibri"/>
                <a:cs typeface="Calibri"/>
              </a:rPr>
              <a:t>non-significant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branches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from generating.</a:t>
            </a:r>
            <a:r>
              <a:rPr sz="2000" dirty="0">
                <a:latin typeface="Calibri"/>
                <a:cs typeface="Calibri"/>
              </a:rPr>
              <a:t> It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terminates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generation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new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branch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based </a:t>
            </a:r>
            <a:r>
              <a:rPr sz="2000" spc="-39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given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condition.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1947" y="603250"/>
            <a:ext cx="6101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Ensemble</a:t>
            </a:r>
            <a:r>
              <a:rPr spc="-25" dirty="0"/>
              <a:t> </a:t>
            </a:r>
            <a:r>
              <a:rPr spc="-5" dirty="0"/>
              <a:t>Methods</a:t>
            </a:r>
            <a:r>
              <a:rPr spc="-15" dirty="0"/>
              <a:t> </a:t>
            </a:r>
            <a:r>
              <a:rPr spc="-5" dirty="0"/>
              <a:t>in</a:t>
            </a:r>
            <a:r>
              <a:rPr spc="-10" dirty="0"/>
              <a:t> </a:t>
            </a:r>
            <a:r>
              <a:rPr spc="-5" dirty="0"/>
              <a:t>Machine</a:t>
            </a:r>
            <a:r>
              <a:rPr spc="-25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9138" y="2243073"/>
            <a:ext cx="4272915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dirty="0">
                <a:latin typeface="Calibri"/>
                <a:cs typeface="Calibri"/>
              </a:rPr>
              <a:t>Bagging </a:t>
            </a:r>
            <a:r>
              <a:rPr sz="1800" spc="-5" dirty="0">
                <a:latin typeface="Calibri"/>
                <a:cs typeface="Calibri"/>
              </a:rPr>
              <a:t>or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Bootstrap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Aggregation</a:t>
            </a:r>
            <a:endParaRPr sz="1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1800" dirty="0">
                <a:latin typeface="Calibri"/>
                <a:cs typeface="Calibri"/>
              </a:rPr>
              <a:t>Bagged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Decision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Trees</a:t>
            </a:r>
            <a:endParaRPr sz="1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1800" dirty="0">
                <a:latin typeface="Calibri"/>
                <a:cs typeface="Calibri"/>
              </a:rPr>
              <a:t>Random </a:t>
            </a:r>
            <a:r>
              <a:rPr sz="1800" spc="-15" dirty="0">
                <a:latin typeface="Calibri"/>
                <a:cs typeface="Calibri"/>
              </a:rPr>
              <a:t>Forest </a:t>
            </a:r>
            <a:r>
              <a:rPr sz="1800" spc="-5" dirty="0">
                <a:latin typeface="Calibri"/>
                <a:cs typeface="Calibri"/>
              </a:rPr>
              <a:t>Classifier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or</a:t>
            </a:r>
            <a:r>
              <a:rPr sz="1800" spc="-10" dirty="0">
                <a:latin typeface="Calibri"/>
                <a:cs typeface="Calibri"/>
              </a:rPr>
              <a:t> Regressor</a:t>
            </a:r>
            <a:endParaRPr sz="1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1800" spc="-15" dirty="0">
                <a:latin typeface="Calibri"/>
                <a:cs typeface="Calibri"/>
              </a:rPr>
              <a:t>Extra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Trees</a:t>
            </a:r>
            <a:endParaRPr sz="1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Wingdings"/>
              <a:buChar char=""/>
            </a:pPr>
            <a:endParaRPr sz="17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spc="-5" dirty="0">
                <a:latin typeface="Calibri"/>
                <a:cs typeface="Calibri"/>
              </a:rPr>
              <a:t>Boosting</a:t>
            </a:r>
            <a:endParaRPr sz="1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1800" spc="-5" dirty="0">
                <a:latin typeface="Calibri"/>
                <a:cs typeface="Calibri"/>
              </a:rPr>
              <a:t>AdaBoost</a:t>
            </a:r>
            <a:endParaRPr sz="1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1800" spc="-10" dirty="0">
                <a:latin typeface="Calibri"/>
                <a:cs typeface="Calibri"/>
              </a:rPr>
              <a:t>Gradient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Boosting</a:t>
            </a:r>
            <a:endParaRPr sz="1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1800" spc="-15" dirty="0">
                <a:latin typeface="Calibri"/>
                <a:cs typeface="Calibri"/>
              </a:rPr>
              <a:t>XGBoost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9333" y="580771"/>
            <a:ext cx="6101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Ensemble</a:t>
            </a:r>
            <a:r>
              <a:rPr spc="-25" dirty="0"/>
              <a:t> </a:t>
            </a:r>
            <a:r>
              <a:rPr spc="-5" dirty="0"/>
              <a:t>Methods</a:t>
            </a:r>
            <a:r>
              <a:rPr spc="-15" dirty="0"/>
              <a:t> </a:t>
            </a:r>
            <a:r>
              <a:rPr spc="-5" dirty="0"/>
              <a:t>in</a:t>
            </a:r>
            <a:r>
              <a:rPr spc="-10" dirty="0"/>
              <a:t> </a:t>
            </a:r>
            <a:r>
              <a:rPr spc="-5" dirty="0"/>
              <a:t>Machine</a:t>
            </a:r>
            <a:r>
              <a:rPr spc="-25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89707" y="2604261"/>
            <a:ext cx="746950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b="1" dirty="0">
                <a:latin typeface="Calibri"/>
                <a:cs typeface="Calibri"/>
              </a:rPr>
              <a:t>Bagging</a:t>
            </a:r>
            <a:r>
              <a:rPr sz="1800" dirty="0">
                <a:latin typeface="Calibri"/>
                <a:cs typeface="Calibri"/>
              </a:rPr>
              <a:t>.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Building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multiple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(typically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same </a:t>
            </a:r>
            <a:r>
              <a:rPr sz="1800" dirty="0">
                <a:latin typeface="Calibri"/>
                <a:cs typeface="Calibri"/>
              </a:rPr>
              <a:t>type)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from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different</a:t>
            </a:r>
            <a:endParaRPr sz="18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subsamples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training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dataset.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b="1" spc="-5" dirty="0">
                <a:latin typeface="Calibri"/>
                <a:cs typeface="Calibri"/>
              </a:rPr>
              <a:t>Boosting</a:t>
            </a:r>
            <a:r>
              <a:rPr sz="1800" spc="-5" dirty="0">
                <a:latin typeface="Calibri"/>
                <a:cs typeface="Calibri"/>
              </a:rPr>
              <a:t>.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Building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multiple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models</a:t>
            </a:r>
            <a:r>
              <a:rPr sz="1800" spc="-5" dirty="0">
                <a:latin typeface="Calibri"/>
                <a:cs typeface="Calibri"/>
              </a:rPr>
              <a:t> (typically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same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type)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which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learns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5" dirty="0">
                <a:latin typeface="Calibri"/>
                <a:cs typeface="Calibri"/>
              </a:rPr>
              <a:t> fix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prediction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errors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prior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chain.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99333" y="636854"/>
            <a:ext cx="63715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Segoe Print"/>
                <a:cs typeface="Segoe Print"/>
              </a:rPr>
              <a:t>Ensemble</a:t>
            </a:r>
            <a:r>
              <a:rPr sz="2400" b="1" spc="-15" dirty="0">
                <a:latin typeface="Segoe Print"/>
                <a:cs typeface="Segoe Print"/>
              </a:rPr>
              <a:t> </a:t>
            </a:r>
            <a:r>
              <a:rPr sz="2400" b="1" spc="-10" dirty="0">
                <a:latin typeface="Segoe Print"/>
                <a:cs typeface="Segoe Print"/>
              </a:rPr>
              <a:t>Algorithm</a:t>
            </a:r>
            <a:r>
              <a:rPr sz="2400" b="1" spc="20" dirty="0">
                <a:latin typeface="Segoe Print"/>
                <a:cs typeface="Segoe Print"/>
              </a:rPr>
              <a:t> </a:t>
            </a:r>
            <a:r>
              <a:rPr sz="2400" b="1" spc="-5" dirty="0">
                <a:latin typeface="Segoe Print"/>
                <a:cs typeface="Segoe Print"/>
              </a:rPr>
              <a:t>in</a:t>
            </a:r>
            <a:r>
              <a:rPr sz="2400" b="1" dirty="0">
                <a:latin typeface="Segoe Print"/>
                <a:cs typeface="Segoe Print"/>
              </a:rPr>
              <a:t> </a:t>
            </a:r>
            <a:r>
              <a:rPr sz="2400" b="1" spc="-5" dirty="0">
                <a:latin typeface="Segoe Print"/>
                <a:cs typeface="Segoe Print"/>
              </a:rPr>
              <a:t>Machine</a:t>
            </a:r>
            <a:r>
              <a:rPr sz="2400" b="1" spc="-10" dirty="0">
                <a:latin typeface="Segoe Print"/>
                <a:cs typeface="Segoe Print"/>
              </a:rPr>
              <a:t> Learning</a:t>
            </a:r>
            <a:endParaRPr sz="2400">
              <a:latin typeface="Segoe Print"/>
              <a:cs typeface="Segoe Prin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5844" y="1830781"/>
            <a:ext cx="998601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Ensemble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learning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refers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algorithms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combine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predictions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from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two</a:t>
            </a:r>
            <a:r>
              <a:rPr sz="1800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r>
              <a:rPr sz="18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more</a:t>
            </a:r>
            <a:r>
              <a:rPr sz="18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models</a:t>
            </a:r>
            <a:r>
              <a:rPr sz="1800" dirty="0">
                <a:latin typeface="Calibri"/>
                <a:cs typeface="Calibri"/>
              </a:rPr>
              <a:t>. </a:t>
            </a:r>
            <a:r>
              <a:rPr sz="1800" spc="-5" dirty="0">
                <a:latin typeface="Calibri"/>
                <a:cs typeface="Calibri"/>
              </a:rPr>
              <a:t>Although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there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nearly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unlimited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spc="-20" dirty="0">
                <a:latin typeface="Calibri"/>
                <a:cs typeface="Calibri"/>
              </a:rPr>
              <a:t>ways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this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achieved,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there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perhaps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two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classes of </a:t>
            </a:r>
            <a:r>
              <a:rPr sz="1800" dirty="0">
                <a:latin typeface="Calibri"/>
                <a:cs typeface="Calibri"/>
              </a:rPr>
              <a:t> ensemble learning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techniques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most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commonly</a:t>
            </a:r>
            <a:r>
              <a:rPr sz="1800" spc="-5" dirty="0">
                <a:latin typeface="Calibri"/>
                <a:cs typeface="Calibri"/>
              </a:rPr>
              <a:t> discussed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used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practice.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Bagging</a:t>
            </a:r>
            <a:r>
              <a:rPr sz="18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&amp;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Boosting</a:t>
            </a:r>
            <a:r>
              <a:rPr sz="1800" spc="-5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9236" y="3066836"/>
            <a:ext cx="3446190" cy="356839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65584" y="3072601"/>
            <a:ext cx="2738634" cy="35060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9333" y="580771"/>
            <a:ext cx="6101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Ensemble</a:t>
            </a:r>
            <a:r>
              <a:rPr spc="-25" dirty="0"/>
              <a:t> </a:t>
            </a:r>
            <a:r>
              <a:rPr spc="-5" dirty="0"/>
              <a:t>Methods</a:t>
            </a:r>
            <a:r>
              <a:rPr spc="-15" dirty="0"/>
              <a:t> </a:t>
            </a:r>
            <a:r>
              <a:rPr spc="-5" dirty="0"/>
              <a:t>in</a:t>
            </a:r>
            <a:r>
              <a:rPr spc="-10" dirty="0"/>
              <a:t> </a:t>
            </a:r>
            <a:r>
              <a:rPr spc="-5" dirty="0"/>
              <a:t>Machine</a:t>
            </a:r>
            <a:r>
              <a:rPr spc="-25" dirty="0"/>
              <a:t> </a:t>
            </a:r>
            <a:r>
              <a:rPr spc="-10" dirty="0"/>
              <a:t>Learning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1879" y="2502336"/>
            <a:ext cx="6263291" cy="301429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973323" y="5757671"/>
            <a:ext cx="2339340" cy="344805"/>
            <a:chOff x="2973323" y="5757671"/>
            <a:chExt cx="2339340" cy="344805"/>
          </a:xfrm>
        </p:grpSpPr>
        <p:sp>
          <p:nvSpPr>
            <p:cNvPr id="5" name="object 5"/>
            <p:cNvSpPr/>
            <p:nvPr/>
          </p:nvSpPr>
          <p:spPr>
            <a:xfrm>
              <a:off x="2979419" y="5763767"/>
              <a:ext cx="2327275" cy="332740"/>
            </a:xfrm>
            <a:custGeom>
              <a:avLst/>
              <a:gdLst/>
              <a:ahLst/>
              <a:cxnLst/>
              <a:rect l="l" t="t" r="r" b="b"/>
              <a:pathLst>
                <a:path w="2327275" h="332739">
                  <a:moveTo>
                    <a:pt x="2271776" y="0"/>
                  </a:moveTo>
                  <a:lnTo>
                    <a:pt x="55372" y="0"/>
                  </a:lnTo>
                  <a:lnTo>
                    <a:pt x="33807" y="4351"/>
                  </a:lnTo>
                  <a:lnTo>
                    <a:pt x="16208" y="16217"/>
                  </a:lnTo>
                  <a:lnTo>
                    <a:pt x="4347" y="33818"/>
                  </a:lnTo>
                  <a:lnTo>
                    <a:pt x="0" y="55371"/>
                  </a:lnTo>
                  <a:lnTo>
                    <a:pt x="0" y="276859"/>
                  </a:lnTo>
                  <a:lnTo>
                    <a:pt x="4347" y="298413"/>
                  </a:lnTo>
                  <a:lnTo>
                    <a:pt x="16208" y="316014"/>
                  </a:lnTo>
                  <a:lnTo>
                    <a:pt x="33807" y="327880"/>
                  </a:lnTo>
                  <a:lnTo>
                    <a:pt x="55372" y="332231"/>
                  </a:lnTo>
                  <a:lnTo>
                    <a:pt x="2271776" y="332231"/>
                  </a:lnTo>
                  <a:lnTo>
                    <a:pt x="2293340" y="327880"/>
                  </a:lnTo>
                  <a:lnTo>
                    <a:pt x="2310939" y="316014"/>
                  </a:lnTo>
                  <a:lnTo>
                    <a:pt x="2322800" y="298413"/>
                  </a:lnTo>
                  <a:lnTo>
                    <a:pt x="2327147" y="276859"/>
                  </a:lnTo>
                  <a:lnTo>
                    <a:pt x="2327147" y="55371"/>
                  </a:lnTo>
                  <a:lnTo>
                    <a:pt x="2322800" y="33818"/>
                  </a:lnTo>
                  <a:lnTo>
                    <a:pt x="2310939" y="16217"/>
                  </a:lnTo>
                  <a:lnTo>
                    <a:pt x="2293340" y="4351"/>
                  </a:lnTo>
                  <a:lnTo>
                    <a:pt x="2271776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79419" y="5763767"/>
              <a:ext cx="2327275" cy="332740"/>
            </a:xfrm>
            <a:custGeom>
              <a:avLst/>
              <a:gdLst/>
              <a:ahLst/>
              <a:cxnLst/>
              <a:rect l="l" t="t" r="r" b="b"/>
              <a:pathLst>
                <a:path w="2327275" h="332739">
                  <a:moveTo>
                    <a:pt x="0" y="55371"/>
                  </a:moveTo>
                  <a:lnTo>
                    <a:pt x="4347" y="33818"/>
                  </a:lnTo>
                  <a:lnTo>
                    <a:pt x="16208" y="16217"/>
                  </a:lnTo>
                  <a:lnTo>
                    <a:pt x="33807" y="4351"/>
                  </a:lnTo>
                  <a:lnTo>
                    <a:pt x="55372" y="0"/>
                  </a:lnTo>
                  <a:lnTo>
                    <a:pt x="2271776" y="0"/>
                  </a:lnTo>
                  <a:lnTo>
                    <a:pt x="2293340" y="4351"/>
                  </a:lnTo>
                  <a:lnTo>
                    <a:pt x="2310939" y="16217"/>
                  </a:lnTo>
                  <a:lnTo>
                    <a:pt x="2322800" y="33818"/>
                  </a:lnTo>
                  <a:lnTo>
                    <a:pt x="2327147" y="55371"/>
                  </a:lnTo>
                  <a:lnTo>
                    <a:pt x="2327147" y="276859"/>
                  </a:lnTo>
                  <a:lnTo>
                    <a:pt x="2322800" y="298413"/>
                  </a:lnTo>
                  <a:lnTo>
                    <a:pt x="2310939" y="316014"/>
                  </a:lnTo>
                  <a:lnTo>
                    <a:pt x="2293340" y="327880"/>
                  </a:lnTo>
                  <a:lnTo>
                    <a:pt x="2271776" y="332231"/>
                  </a:lnTo>
                  <a:lnTo>
                    <a:pt x="55372" y="332231"/>
                  </a:lnTo>
                  <a:lnTo>
                    <a:pt x="33807" y="327880"/>
                  </a:lnTo>
                  <a:lnTo>
                    <a:pt x="16208" y="316014"/>
                  </a:lnTo>
                  <a:lnTo>
                    <a:pt x="4347" y="298413"/>
                  </a:lnTo>
                  <a:lnTo>
                    <a:pt x="0" y="276859"/>
                  </a:lnTo>
                  <a:lnTo>
                    <a:pt x="0" y="55371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993620" y="5765393"/>
            <a:ext cx="22993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Bagging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Parallel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768083" y="5757671"/>
            <a:ext cx="2270760" cy="344805"/>
            <a:chOff x="6768083" y="5757671"/>
            <a:chExt cx="2270760" cy="344805"/>
          </a:xfrm>
        </p:grpSpPr>
        <p:sp>
          <p:nvSpPr>
            <p:cNvPr id="9" name="object 9"/>
            <p:cNvSpPr/>
            <p:nvPr/>
          </p:nvSpPr>
          <p:spPr>
            <a:xfrm>
              <a:off x="6774179" y="5763767"/>
              <a:ext cx="2258695" cy="332740"/>
            </a:xfrm>
            <a:custGeom>
              <a:avLst/>
              <a:gdLst/>
              <a:ahLst/>
              <a:cxnLst/>
              <a:rect l="l" t="t" r="r" b="b"/>
              <a:pathLst>
                <a:path w="2258695" h="332739">
                  <a:moveTo>
                    <a:pt x="2203196" y="0"/>
                  </a:moveTo>
                  <a:lnTo>
                    <a:pt x="55372" y="0"/>
                  </a:lnTo>
                  <a:lnTo>
                    <a:pt x="33807" y="4351"/>
                  </a:lnTo>
                  <a:lnTo>
                    <a:pt x="16208" y="16217"/>
                  </a:lnTo>
                  <a:lnTo>
                    <a:pt x="4347" y="33818"/>
                  </a:lnTo>
                  <a:lnTo>
                    <a:pt x="0" y="55371"/>
                  </a:lnTo>
                  <a:lnTo>
                    <a:pt x="0" y="276859"/>
                  </a:lnTo>
                  <a:lnTo>
                    <a:pt x="4347" y="298413"/>
                  </a:lnTo>
                  <a:lnTo>
                    <a:pt x="16208" y="316014"/>
                  </a:lnTo>
                  <a:lnTo>
                    <a:pt x="33807" y="327880"/>
                  </a:lnTo>
                  <a:lnTo>
                    <a:pt x="55372" y="332231"/>
                  </a:lnTo>
                  <a:lnTo>
                    <a:pt x="2203196" y="332231"/>
                  </a:lnTo>
                  <a:lnTo>
                    <a:pt x="2224760" y="327880"/>
                  </a:lnTo>
                  <a:lnTo>
                    <a:pt x="2242359" y="316014"/>
                  </a:lnTo>
                  <a:lnTo>
                    <a:pt x="2254220" y="298413"/>
                  </a:lnTo>
                  <a:lnTo>
                    <a:pt x="2258568" y="276859"/>
                  </a:lnTo>
                  <a:lnTo>
                    <a:pt x="2258568" y="55371"/>
                  </a:lnTo>
                  <a:lnTo>
                    <a:pt x="2254220" y="33818"/>
                  </a:lnTo>
                  <a:lnTo>
                    <a:pt x="2242359" y="16217"/>
                  </a:lnTo>
                  <a:lnTo>
                    <a:pt x="2224760" y="4351"/>
                  </a:lnTo>
                  <a:lnTo>
                    <a:pt x="22031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74179" y="5763767"/>
              <a:ext cx="2258695" cy="332740"/>
            </a:xfrm>
            <a:custGeom>
              <a:avLst/>
              <a:gdLst/>
              <a:ahLst/>
              <a:cxnLst/>
              <a:rect l="l" t="t" r="r" b="b"/>
              <a:pathLst>
                <a:path w="2258695" h="332739">
                  <a:moveTo>
                    <a:pt x="0" y="55371"/>
                  </a:moveTo>
                  <a:lnTo>
                    <a:pt x="4347" y="33818"/>
                  </a:lnTo>
                  <a:lnTo>
                    <a:pt x="16208" y="16217"/>
                  </a:lnTo>
                  <a:lnTo>
                    <a:pt x="33807" y="4351"/>
                  </a:lnTo>
                  <a:lnTo>
                    <a:pt x="55372" y="0"/>
                  </a:lnTo>
                  <a:lnTo>
                    <a:pt x="2203196" y="0"/>
                  </a:lnTo>
                  <a:lnTo>
                    <a:pt x="2224760" y="4351"/>
                  </a:lnTo>
                  <a:lnTo>
                    <a:pt x="2242359" y="16217"/>
                  </a:lnTo>
                  <a:lnTo>
                    <a:pt x="2254220" y="33818"/>
                  </a:lnTo>
                  <a:lnTo>
                    <a:pt x="2258568" y="55371"/>
                  </a:lnTo>
                  <a:lnTo>
                    <a:pt x="2258568" y="276859"/>
                  </a:lnTo>
                  <a:lnTo>
                    <a:pt x="2254220" y="298413"/>
                  </a:lnTo>
                  <a:lnTo>
                    <a:pt x="2242359" y="316014"/>
                  </a:lnTo>
                  <a:lnTo>
                    <a:pt x="2224760" y="327880"/>
                  </a:lnTo>
                  <a:lnTo>
                    <a:pt x="2203196" y="332231"/>
                  </a:lnTo>
                  <a:lnTo>
                    <a:pt x="55372" y="332231"/>
                  </a:lnTo>
                  <a:lnTo>
                    <a:pt x="33807" y="327880"/>
                  </a:lnTo>
                  <a:lnTo>
                    <a:pt x="16208" y="316014"/>
                  </a:lnTo>
                  <a:lnTo>
                    <a:pt x="4347" y="298413"/>
                  </a:lnTo>
                  <a:lnTo>
                    <a:pt x="0" y="276859"/>
                  </a:lnTo>
                  <a:lnTo>
                    <a:pt x="0" y="55371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788380" y="5765393"/>
            <a:ext cx="22307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Boosting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Sequential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75050" y="1526285"/>
            <a:ext cx="10020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EC7C30"/>
                </a:solidFill>
                <a:latin typeface="Calibri"/>
                <a:cs typeface="Calibri"/>
              </a:rPr>
              <a:t>Ba</a:t>
            </a:r>
            <a:r>
              <a:rPr sz="2400" spc="15" dirty="0">
                <a:solidFill>
                  <a:srgbClr val="EC7C30"/>
                </a:solidFill>
                <a:latin typeface="Calibri"/>
                <a:cs typeface="Calibri"/>
              </a:rPr>
              <a:t>g</a:t>
            </a:r>
            <a:r>
              <a:rPr sz="2400" dirty="0">
                <a:solidFill>
                  <a:srgbClr val="EC7C30"/>
                </a:solidFill>
                <a:latin typeface="Calibri"/>
                <a:cs typeface="Calibri"/>
              </a:rPr>
              <a:t>ging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13246" y="1526285"/>
            <a:ext cx="3346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FF0000"/>
                </a:solidFill>
                <a:latin typeface="Calibri"/>
                <a:cs typeface="Calibri"/>
              </a:rPr>
              <a:t>VS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17105" y="1526285"/>
            <a:ext cx="11036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Bo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ting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9440" y="3999874"/>
            <a:ext cx="4186679" cy="27835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85291" y="1311986"/>
            <a:ext cx="11087100" cy="2613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2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Random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forests</a:t>
            </a:r>
            <a:r>
              <a:rPr sz="1800" spc="-5" dirty="0">
                <a:latin typeface="Calibri"/>
                <a:cs typeface="Calibri"/>
              </a:rPr>
              <a:t> or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random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decision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forests</a:t>
            </a:r>
            <a:r>
              <a:rPr sz="1800" spc="-5" dirty="0">
                <a:latin typeface="Calibri"/>
                <a:cs typeface="Calibri"/>
              </a:rPr>
              <a:t> is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ensemble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learning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method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classification,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regression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other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tasks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operates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by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constructing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multitude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decision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trees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training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time.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For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classification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tasks,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output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random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forest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dirty="0">
                <a:latin typeface="Calibri"/>
                <a:cs typeface="Calibri"/>
              </a:rPr>
              <a:t> 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class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selected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by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most </a:t>
            </a:r>
            <a:r>
              <a:rPr sz="1800" b="1" spc="-5" dirty="0">
                <a:latin typeface="Calibri"/>
                <a:cs typeface="Calibri"/>
              </a:rPr>
              <a:t>trees.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Random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Forest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 classifier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contains</a:t>
            </a:r>
            <a:r>
              <a:rPr sz="1800" dirty="0">
                <a:latin typeface="Calibri"/>
                <a:cs typeface="Calibri"/>
              </a:rPr>
              <a:t> 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decision </a:t>
            </a:r>
            <a:r>
              <a:rPr sz="1800" b="1" spc="-10" dirty="0">
                <a:latin typeface="Calibri"/>
                <a:cs typeface="Calibri"/>
              </a:rPr>
              <a:t>trees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</a:t>
            </a:r>
            <a:r>
              <a:rPr sz="1800" spc="-10" dirty="0">
                <a:latin typeface="Calibri"/>
                <a:cs typeface="Calibri"/>
              </a:rPr>
              <a:t> various</a:t>
            </a:r>
            <a:r>
              <a:rPr sz="1800" spc="-5" dirty="0">
                <a:latin typeface="Calibri"/>
                <a:cs typeface="Calibri"/>
              </a:rPr>
              <a:t> subsets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the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given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dataset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takes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average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improve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predictive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accuracy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dataset.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Instead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relying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one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decision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tree</a:t>
            </a:r>
            <a:r>
              <a:rPr sz="1800" spc="-5" dirty="0">
                <a:latin typeface="Calibri"/>
                <a:cs typeface="Calibri"/>
              </a:rPr>
              <a:t>,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random 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forest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takes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prediction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from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tree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based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majority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votes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predictions</a:t>
            </a:r>
            <a:r>
              <a:rPr sz="1800" spc="-5" dirty="0">
                <a:latin typeface="Calibri"/>
                <a:cs typeface="Calibri"/>
              </a:rPr>
              <a:t>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predicts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final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output.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greater</a:t>
            </a:r>
            <a:r>
              <a:rPr sz="1800" dirty="0">
                <a:latin typeface="Calibri"/>
                <a:cs typeface="Calibri"/>
              </a:rPr>
              <a:t> number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 trees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forest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leads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higher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accuracy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prevents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the </a:t>
            </a:r>
            <a:r>
              <a:rPr sz="1800" b="1" spc="-5" dirty="0">
                <a:latin typeface="Calibri"/>
                <a:cs typeface="Calibri"/>
              </a:rPr>
              <a:t>problem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overfitting</a:t>
            </a:r>
            <a:r>
              <a:rPr sz="1800" spc="-5" dirty="0">
                <a:latin typeface="Calibri"/>
                <a:cs typeface="Calibri"/>
              </a:rPr>
              <a:t>.</a:t>
            </a:r>
            <a:endParaRPr sz="1800" dirty="0">
              <a:latin typeface="Calibri"/>
              <a:cs typeface="Calibri"/>
            </a:endParaRPr>
          </a:p>
          <a:p>
            <a:pPr marL="265430" algn="ctr">
              <a:lnSpc>
                <a:spcPct val="100000"/>
              </a:lnSpc>
              <a:spcBef>
                <a:spcPts val="1410"/>
              </a:spcBef>
            </a:pPr>
            <a:r>
              <a:rPr sz="1400" spc="-10" dirty="0">
                <a:latin typeface="Calibri"/>
                <a:cs typeface="Calibri"/>
              </a:rPr>
              <a:t>Creating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base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learners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models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124200" y="228600"/>
            <a:ext cx="6705600" cy="762000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 smtClean="0">
                <a:solidFill>
                  <a:schemeClr val="tx1"/>
                </a:solidFill>
              </a:rPr>
              <a:t>Random Forest</a:t>
            </a:r>
            <a:endParaRPr lang="en-GB" sz="4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5547" y="1345691"/>
            <a:ext cx="4776470" cy="467995"/>
          </a:xfrm>
          <a:prstGeom prst="rect">
            <a:avLst/>
          </a:prstGeom>
          <a:solidFill>
            <a:srgbClr val="EC7C30"/>
          </a:solidFill>
        </p:spPr>
        <p:txBody>
          <a:bodyPr vert="horz" wrap="square" lIns="0" tIns="65405" rIns="0" bIns="0" rtlCol="0">
            <a:spAutoFit/>
          </a:bodyPr>
          <a:lstStyle/>
          <a:p>
            <a:pPr marL="196850">
              <a:lnSpc>
                <a:spcPct val="100000"/>
              </a:lnSpc>
              <a:spcBef>
                <a:spcPts val="515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Steps</a:t>
            </a:r>
            <a:r>
              <a:rPr sz="20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involved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in</a:t>
            </a:r>
            <a:r>
              <a:rPr sz="2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random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forest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algorithm: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19200" y="427158"/>
            <a:ext cx="960119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4975">
              <a:lnSpc>
                <a:spcPct val="100000"/>
              </a:lnSpc>
              <a:spcBef>
                <a:spcPts val="100"/>
              </a:spcBef>
            </a:pPr>
            <a:r>
              <a:rPr spc="-5" dirty="0" smtClean="0"/>
              <a:t>Random</a:t>
            </a:r>
            <a:r>
              <a:rPr spc="-80" dirty="0" smtClean="0"/>
              <a:t> </a:t>
            </a:r>
            <a:r>
              <a:rPr dirty="0"/>
              <a:t>Forest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34402" y="3311557"/>
            <a:ext cx="4338447" cy="346944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34288" y="2057527"/>
            <a:ext cx="10979150" cy="3923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Step </a:t>
            </a:r>
            <a:r>
              <a:rPr sz="1800" b="1" dirty="0">
                <a:latin typeface="Calibri"/>
                <a:cs typeface="Calibri"/>
              </a:rPr>
              <a:t>1: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Random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forest</a:t>
            </a:r>
            <a:r>
              <a:rPr sz="1800" dirty="0">
                <a:latin typeface="Calibri"/>
                <a:cs typeface="Calibri"/>
              </a:rPr>
              <a:t> n </a:t>
            </a:r>
            <a:r>
              <a:rPr sz="1800" spc="-5" dirty="0">
                <a:latin typeface="Calibri"/>
                <a:cs typeface="Calibri"/>
              </a:rPr>
              <a:t>number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spc="-10" dirty="0">
                <a:latin typeface="Calibri"/>
                <a:cs typeface="Calibri"/>
              </a:rPr>
              <a:t>random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records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taken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from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data</a:t>
            </a:r>
            <a:r>
              <a:rPr sz="1800" spc="-5" dirty="0">
                <a:latin typeface="Calibri"/>
                <a:cs typeface="Calibri"/>
              </a:rPr>
              <a:t> set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having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k</a:t>
            </a:r>
            <a:r>
              <a:rPr sz="1800" b="1" spc="-5" dirty="0">
                <a:latin typeface="Calibri"/>
                <a:cs typeface="Calibri"/>
              </a:rPr>
              <a:t> number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spc="-10" dirty="0">
                <a:latin typeface="Calibri"/>
                <a:cs typeface="Calibri"/>
              </a:rPr>
              <a:t>records.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Step </a:t>
            </a:r>
            <a:r>
              <a:rPr sz="1800" b="1" dirty="0">
                <a:latin typeface="Calibri"/>
                <a:cs typeface="Calibri"/>
              </a:rPr>
              <a:t>2: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Individual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decision</a:t>
            </a:r>
            <a:r>
              <a:rPr sz="1800" b="1" spc="-10" dirty="0">
                <a:latin typeface="Calibri"/>
                <a:cs typeface="Calibri"/>
              </a:rPr>
              <a:t> trees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constructed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sample.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Step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3: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Each</a:t>
            </a:r>
            <a:r>
              <a:rPr sz="1800" spc="-5" dirty="0">
                <a:latin typeface="Calibri"/>
                <a:cs typeface="Calibri"/>
              </a:rPr>
              <a:t> decision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tree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will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generate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an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output</a:t>
            </a:r>
            <a:r>
              <a:rPr sz="1800" dirty="0">
                <a:latin typeface="Calibri"/>
                <a:cs typeface="Calibri"/>
              </a:rPr>
              <a:t>.</a:t>
            </a: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Step</a:t>
            </a:r>
            <a:r>
              <a:rPr sz="1800" b="1" dirty="0">
                <a:latin typeface="Calibri"/>
                <a:cs typeface="Calibri"/>
              </a:rPr>
              <a:t> 4:</a:t>
            </a:r>
            <a:r>
              <a:rPr sz="1800" b="1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Final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output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considered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based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Majority</a:t>
            </a:r>
            <a:r>
              <a:rPr sz="1800" b="1" dirty="0">
                <a:latin typeface="Calibri"/>
                <a:cs typeface="Calibri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Voting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or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Averaging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Classification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regression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respectively.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100" dirty="0">
              <a:latin typeface="Calibri"/>
              <a:cs typeface="Calibri"/>
            </a:endParaRPr>
          </a:p>
          <a:p>
            <a:pPr marL="12700" marR="5062855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For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example:  </a:t>
            </a:r>
            <a:r>
              <a:rPr sz="1800" spc="-5" dirty="0">
                <a:latin typeface="Calibri"/>
                <a:cs typeface="Calibri"/>
              </a:rPr>
              <a:t>consider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" dirty="0">
                <a:latin typeface="Calibri"/>
                <a:cs typeface="Calibri"/>
              </a:rPr>
              <a:t> fruit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basket</a:t>
            </a:r>
            <a:r>
              <a:rPr sz="1800" dirty="0">
                <a:latin typeface="Calibri"/>
                <a:cs typeface="Calibri"/>
              </a:rPr>
              <a:t> as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data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shown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 </a:t>
            </a:r>
            <a:r>
              <a:rPr sz="1800" dirty="0">
                <a:latin typeface="Calibri"/>
                <a:cs typeface="Calibri"/>
              </a:rPr>
              <a:t> 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figure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below.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Now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samples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taken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from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fruit </a:t>
            </a:r>
            <a:r>
              <a:rPr sz="1800" spc="-15" dirty="0">
                <a:latin typeface="Calibri"/>
                <a:cs typeface="Calibri"/>
              </a:rPr>
              <a:t>basket</a:t>
            </a:r>
            <a:r>
              <a:rPr sz="1800" dirty="0">
                <a:latin typeface="Calibri"/>
                <a:cs typeface="Calibri"/>
              </a:rPr>
              <a:t> and an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individual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decision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tree</a:t>
            </a:r>
            <a:r>
              <a:rPr sz="1800" b="1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 </a:t>
            </a:r>
            <a:r>
              <a:rPr sz="1800" spc="-10" dirty="0">
                <a:latin typeface="Calibri"/>
                <a:cs typeface="Calibri"/>
              </a:rPr>
              <a:t>constructed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 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sample. </a:t>
            </a:r>
            <a:r>
              <a:rPr sz="1800" spc="-10" dirty="0">
                <a:latin typeface="Calibri"/>
                <a:cs typeface="Calibri"/>
              </a:rPr>
              <a:t>Each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decision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tree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will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generate</a:t>
            </a:r>
            <a:r>
              <a:rPr sz="1800" dirty="0">
                <a:latin typeface="Calibri"/>
                <a:cs typeface="Calibri"/>
              </a:rPr>
              <a:t> an</a:t>
            </a:r>
            <a:r>
              <a:rPr sz="1800" spc="-5" dirty="0">
                <a:latin typeface="Calibri"/>
                <a:cs typeface="Calibri"/>
              </a:rPr>
              <a:t> output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shown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figure.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final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output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considered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based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majority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voting</a:t>
            </a:r>
            <a:r>
              <a:rPr sz="1800" dirty="0">
                <a:latin typeface="Calibri"/>
                <a:cs typeface="Calibri"/>
              </a:rPr>
              <a:t>.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 the</a:t>
            </a:r>
            <a:r>
              <a:rPr sz="1800" spc="-5" dirty="0">
                <a:latin typeface="Calibri"/>
                <a:cs typeface="Calibri"/>
              </a:rPr>
              <a:t> below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figure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you </a:t>
            </a:r>
            <a:r>
              <a:rPr sz="1800" spc="-5" dirty="0">
                <a:latin typeface="Calibri"/>
                <a:cs typeface="Calibri"/>
              </a:rPr>
              <a:t>can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see</a:t>
            </a:r>
            <a:r>
              <a:rPr sz="1800" spc="-5" dirty="0">
                <a:latin typeface="Calibri"/>
                <a:cs typeface="Calibri"/>
              </a:rPr>
              <a:t> that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majority decision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tree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gives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output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 </a:t>
            </a:r>
            <a:r>
              <a:rPr sz="1800" spc="-5" dirty="0">
                <a:latin typeface="Calibri"/>
                <a:cs typeface="Calibri"/>
              </a:rPr>
              <a:t>apple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when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compared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5" dirty="0">
                <a:latin typeface="Calibri"/>
                <a:cs typeface="Calibri"/>
              </a:rPr>
              <a:t>banana,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so</a:t>
            </a:r>
            <a:r>
              <a:rPr sz="1800" dirty="0">
                <a:latin typeface="Calibri"/>
                <a:cs typeface="Calibri"/>
              </a:rPr>
              <a:t> 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final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output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taken</a:t>
            </a:r>
            <a:r>
              <a:rPr sz="1800" dirty="0">
                <a:latin typeface="Calibri"/>
                <a:cs typeface="Calibri"/>
              </a:rPr>
              <a:t> as an apple.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9494" y="2371344"/>
            <a:ext cx="3770161" cy="398983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07950" y="3922521"/>
            <a:ext cx="1398270" cy="927100"/>
            <a:chOff x="107950" y="3922521"/>
            <a:chExt cx="1398270" cy="927100"/>
          </a:xfrm>
        </p:grpSpPr>
        <p:sp>
          <p:nvSpPr>
            <p:cNvPr id="4" name="object 4"/>
            <p:cNvSpPr/>
            <p:nvPr/>
          </p:nvSpPr>
          <p:spPr>
            <a:xfrm>
              <a:off x="114300" y="3928871"/>
              <a:ext cx="1385570" cy="914400"/>
            </a:xfrm>
            <a:custGeom>
              <a:avLst/>
              <a:gdLst/>
              <a:ahLst/>
              <a:cxnLst/>
              <a:rect l="l" t="t" r="r" b="b"/>
              <a:pathLst>
                <a:path w="1385570" h="914400">
                  <a:moveTo>
                    <a:pt x="692658" y="0"/>
                  </a:moveTo>
                  <a:lnTo>
                    <a:pt x="635848" y="1515"/>
                  </a:lnTo>
                  <a:lnTo>
                    <a:pt x="580304" y="5984"/>
                  </a:lnTo>
                  <a:lnTo>
                    <a:pt x="526202" y="13289"/>
                  </a:lnTo>
                  <a:lnTo>
                    <a:pt x="473722" y="23311"/>
                  </a:lnTo>
                  <a:lnTo>
                    <a:pt x="423042" y="35933"/>
                  </a:lnTo>
                  <a:lnTo>
                    <a:pt x="374339" y="51037"/>
                  </a:lnTo>
                  <a:lnTo>
                    <a:pt x="327793" y="68505"/>
                  </a:lnTo>
                  <a:lnTo>
                    <a:pt x="283581" y="88221"/>
                  </a:lnTo>
                  <a:lnTo>
                    <a:pt x="241881" y="110065"/>
                  </a:lnTo>
                  <a:lnTo>
                    <a:pt x="202872" y="133921"/>
                  </a:lnTo>
                  <a:lnTo>
                    <a:pt x="166733" y="159670"/>
                  </a:lnTo>
                  <a:lnTo>
                    <a:pt x="133641" y="187195"/>
                  </a:lnTo>
                  <a:lnTo>
                    <a:pt x="103774" y="216379"/>
                  </a:lnTo>
                  <a:lnTo>
                    <a:pt x="77312" y="247102"/>
                  </a:lnTo>
                  <a:lnTo>
                    <a:pt x="54431" y="279249"/>
                  </a:lnTo>
                  <a:lnTo>
                    <a:pt x="35311" y="312700"/>
                  </a:lnTo>
                  <a:lnTo>
                    <a:pt x="9065" y="383046"/>
                  </a:lnTo>
                  <a:lnTo>
                    <a:pt x="0" y="457200"/>
                  </a:lnTo>
                  <a:lnTo>
                    <a:pt x="2296" y="494693"/>
                  </a:lnTo>
                  <a:lnTo>
                    <a:pt x="20130" y="567061"/>
                  </a:lnTo>
                  <a:lnTo>
                    <a:pt x="54431" y="635150"/>
                  </a:lnTo>
                  <a:lnTo>
                    <a:pt x="77312" y="667297"/>
                  </a:lnTo>
                  <a:lnTo>
                    <a:pt x="103774" y="698020"/>
                  </a:lnTo>
                  <a:lnTo>
                    <a:pt x="133641" y="727204"/>
                  </a:lnTo>
                  <a:lnTo>
                    <a:pt x="166733" y="754729"/>
                  </a:lnTo>
                  <a:lnTo>
                    <a:pt x="202872" y="780478"/>
                  </a:lnTo>
                  <a:lnTo>
                    <a:pt x="241881" y="804334"/>
                  </a:lnTo>
                  <a:lnTo>
                    <a:pt x="283581" y="826178"/>
                  </a:lnTo>
                  <a:lnTo>
                    <a:pt x="327793" y="845894"/>
                  </a:lnTo>
                  <a:lnTo>
                    <a:pt x="374339" y="863362"/>
                  </a:lnTo>
                  <a:lnTo>
                    <a:pt x="423042" y="878466"/>
                  </a:lnTo>
                  <a:lnTo>
                    <a:pt x="473722" y="891088"/>
                  </a:lnTo>
                  <a:lnTo>
                    <a:pt x="526202" y="901110"/>
                  </a:lnTo>
                  <a:lnTo>
                    <a:pt x="580304" y="908415"/>
                  </a:lnTo>
                  <a:lnTo>
                    <a:pt x="635848" y="912884"/>
                  </a:lnTo>
                  <a:lnTo>
                    <a:pt x="692658" y="914400"/>
                  </a:lnTo>
                  <a:lnTo>
                    <a:pt x="749467" y="912884"/>
                  </a:lnTo>
                  <a:lnTo>
                    <a:pt x="805011" y="908415"/>
                  </a:lnTo>
                  <a:lnTo>
                    <a:pt x="859113" y="901110"/>
                  </a:lnTo>
                  <a:lnTo>
                    <a:pt x="911593" y="891088"/>
                  </a:lnTo>
                  <a:lnTo>
                    <a:pt x="962273" y="878466"/>
                  </a:lnTo>
                  <a:lnTo>
                    <a:pt x="1010976" y="863362"/>
                  </a:lnTo>
                  <a:lnTo>
                    <a:pt x="1057522" y="845894"/>
                  </a:lnTo>
                  <a:lnTo>
                    <a:pt x="1101734" y="826178"/>
                  </a:lnTo>
                  <a:lnTo>
                    <a:pt x="1143434" y="804334"/>
                  </a:lnTo>
                  <a:lnTo>
                    <a:pt x="1182443" y="780478"/>
                  </a:lnTo>
                  <a:lnTo>
                    <a:pt x="1218582" y="754729"/>
                  </a:lnTo>
                  <a:lnTo>
                    <a:pt x="1251674" y="727204"/>
                  </a:lnTo>
                  <a:lnTo>
                    <a:pt x="1281541" y="698020"/>
                  </a:lnTo>
                  <a:lnTo>
                    <a:pt x="1308003" y="667297"/>
                  </a:lnTo>
                  <a:lnTo>
                    <a:pt x="1330884" y="635150"/>
                  </a:lnTo>
                  <a:lnTo>
                    <a:pt x="1350004" y="601699"/>
                  </a:lnTo>
                  <a:lnTo>
                    <a:pt x="1376250" y="531353"/>
                  </a:lnTo>
                  <a:lnTo>
                    <a:pt x="1385316" y="457200"/>
                  </a:lnTo>
                  <a:lnTo>
                    <a:pt x="1383019" y="419706"/>
                  </a:lnTo>
                  <a:lnTo>
                    <a:pt x="1365185" y="347338"/>
                  </a:lnTo>
                  <a:lnTo>
                    <a:pt x="1330884" y="279249"/>
                  </a:lnTo>
                  <a:lnTo>
                    <a:pt x="1308003" y="247102"/>
                  </a:lnTo>
                  <a:lnTo>
                    <a:pt x="1281541" y="216379"/>
                  </a:lnTo>
                  <a:lnTo>
                    <a:pt x="1251674" y="187195"/>
                  </a:lnTo>
                  <a:lnTo>
                    <a:pt x="1218582" y="159670"/>
                  </a:lnTo>
                  <a:lnTo>
                    <a:pt x="1182443" y="133921"/>
                  </a:lnTo>
                  <a:lnTo>
                    <a:pt x="1143434" y="110065"/>
                  </a:lnTo>
                  <a:lnTo>
                    <a:pt x="1101734" y="88221"/>
                  </a:lnTo>
                  <a:lnTo>
                    <a:pt x="1057522" y="68505"/>
                  </a:lnTo>
                  <a:lnTo>
                    <a:pt x="1010976" y="51037"/>
                  </a:lnTo>
                  <a:lnTo>
                    <a:pt x="962273" y="35933"/>
                  </a:lnTo>
                  <a:lnTo>
                    <a:pt x="911593" y="23311"/>
                  </a:lnTo>
                  <a:lnTo>
                    <a:pt x="859113" y="13289"/>
                  </a:lnTo>
                  <a:lnTo>
                    <a:pt x="805011" y="5984"/>
                  </a:lnTo>
                  <a:lnTo>
                    <a:pt x="749467" y="1515"/>
                  </a:lnTo>
                  <a:lnTo>
                    <a:pt x="6926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4300" y="3928871"/>
              <a:ext cx="1385570" cy="914400"/>
            </a:xfrm>
            <a:custGeom>
              <a:avLst/>
              <a:gdLst/>
              <a:ahLst/>
              <a:cxnLst/>
              <a:rect l="l" t="t" r="r" b="b"/>
              <a:pathLst>
                <a:path w="1385570" h="914400">
                  <a:moveTo>
                    <a:pt x="0" y="457200"/>
                  </a:moveTo>
                  <a:lnTo>
                    <a:pt x="9065" y="383046"/>
                  </a:lnTo>
                  <a:lnTo>
                    <a:pt x="35311" y="312700"/>
                  </a:lnTo>
                  <a:lnTo>
                    <a:pt x="54431" y="279249"/>
                  </a:lnTo>
                  <a:lnTo>
                    <a:pt x="77312" y="247102"/>
                  </a:lnTo>
                  <a:lnTo>
                    <a:pt x="103774" y="216379"/>
                  </a:lnTo>
                  <a:lnTo>
                    <a:pt x="133641" y="187195"/>
                  </a:lnTo>
                  <a:lnTo>
                    <a:pt x="166733" y="159670"/>
                  </a:lnTo>
                  <a:lnTo>
                    <a:pt x="202872" y="133921"/>
                  </a:lnTo>
                  <a:lnTo>
                    <a:pt x="241881" y="110065"/>
                  </a:lnTo>
                  <a:lnTo>
                    <a:pt x="283581" y="88221"/>
                  </a:lnTo>
                  <a:lnTo>
                    <a:pt x="327793" y="68505"/>
                  </a:lnTo>
                  <a:lnTo>
                    <a:pt x="374339" y="51037"/>
                  </a:lnTo>
                  <a:lnTo>
                    <a:pt x="423042" y="35933"/>
                  </a:lnTo>
                  <a:lnTo>
                    <a:pt x="473722" y="23311"/>
                  </a:lnTo>
                  <a:lnTo>
                    <a:pt x="526202" y="13289"/>
                  </a:lnTo>
                  <a:lnTo>
                    <a:pt x="580304" y="5984"/>
                  </a:lnTo>
                  <a:lnTo>
                    <a:pt x="635848" y="1515"/>
                  </a:lnTo>
                  <a:lnTo>
                    <a:pt x="692658" y="0"/>
                  </a:lnTo>
                  <a:lnTo>
                    <a:pt x="749467" y="1515"/>
                  </a:lnTo>
                  <a:lnTo>
                    <a:pt x="805011" y="5984"/>
                  </a:lnTo>
                  <a:lnTo>
                    <a:pt x="859113" y="13289"/>
                  </a:lnTo>
                  <a:lnTo>
                    <a:pt x="911593" y="23311"/>
                  </a:lnTo>
                  <a:lnTo>
                    <a:pt x="962273" y="35933"/>
                  </a:lnTo>
                  <a:lnTo>
                    <a:pt x="1010976" y="51037"/>
                  </a:lnTo>
                  <a:lnTo>
                    <a:pt x="1057522" y="68505"/>
                  </a:lnTo>
                  <a:lnTo>
                    <a:pt x="1101734" y="88221"/>
                  </a:lnTo>
                  <a:lnTo>
                    <a:pt x="1143434" y="110065"/>
                  </a:lnTo>
                  <a:lnTo>
                    <a:pt x="1182443" y="133921"/>
                  </a:lnTo>
                  <a:lnTo>
                    <a:pt x="1218582" y="159670"/>
                  </a:lnTo>
                  <a:lnTo>
                    <a:pt x="1251674" y="187195"/>
                  </a:lnTo>
                  <a:lnTo>
                    <a:pt x="1281541" y="216379"/>
                  </a:lnTo>
                  <a:lnTo>
                    <a:pt x="1308003" y="247102"/>
                  </a:lnTo>
                  <a:lnTo>
                    <a:pt x="1330884" y="279249"/>
                  </a:lnTo>
                  <a:lnTo>
                    <a:pt x="1350004" y="312700"/>
                  </a:lnTo>
                  <a:lnTo>
                    <a:pt x="1376250" y="383046"/>
                  </a:lnTo>
                  <a:lnTo>
                    <a:pt x="1385316" y="457200"/>
                  </a:lnTo>
                  <a:lnTo>
                    <a:pt x="1383019" y="494693"/>
                  </a:lnTo>
                  <a:lnTo>
                    <a:pt x="1365185" y="567061"/>
                  </a:lnTo>
                  <a:lnTo>
                    <a:pt x="1330884" y="635150"/>
                  </a:lnTo>
                  <a:lnTo>
                    <a:pt x="1308003" y="667297"/>
                  </a:lnTo>
                  <a:lnTo>
                    <a:pt x="1281541" y="698020"/>
                  </a:lnTo>
                  <a:lnTo>
                    <a:pt x="1251674" y="727204"/>
                  </a:lnTo>
                  <a:lnTo>
                    <a:pt x="1218582" y="754729"/>
                  </a:lnTo>
                  <a:lnTo>
                    <a:pt x="1182443" y="780478"/>
                  </a:lnTo>
                  <a:lnTo>
                    <a:pt x="1143434" y="804334"/>
                  </a:lnTo>
                  <a:lnTo>
                    <a:pt x="1101734" y="826178"/>
                  </a:lnTo>
                  <a:lnTo>
                    <a:pt x="1057522" y="845894"/>
                  </a:lnTo>
                  <a:lnTo>
                    <a:pt x="1010976" y="863362"/>
                  </a:lnTo>
                  <a:lnTo>
                    <a:pt x="962273" y="878466"/>
                  </a:lnTo>
                  <a:lnTo>
                    <a:pt x="911593" y="891088"/>
                  </a:lnTo>
                  <a:lnTo>
                    <a:pt x="859113" y="901110"/>
                  </a:lnTo>
                  <a:lnTo>
                    <a:pt x="805011" y="908415"/>
                  </a:lnTo>
                  <a:lnTo>
                    <a:pt x="749467" y="912884"/>
                  </a:lnTo>
                  <a:lnTo>
                    <a:pt x="692658" y="914400"/>
                  </a:lnTo>
                  <a:lnTo>
                    <a:pt x="635848" y="912884"/>
                  </a:lnTo>
                  <a:lnTo>
                    <a:pt x="580304" y="908415"/>
                  </a:lnTo>
                  <a:lnTo>
                    <a:pt x="526202" y="901110"/>
                  </a:lnTo>
                  <a:lnTo>
                    <a:pt x="473722" y="891088"/>
                  </a:lnTo>
                  <a:lnTo>
                    <a:pt x="423042" y="878466"/>
                  </a:lnTo>
                  <a:lnTo>
                    <a:pt x="374339" y="863362"/>
                  </a:lnTo>
                  <a:lnTo>
                    <a:pt x="327793" y="845894"/>
                  </a:lnTo>
                  <a:lnTo>
                    <a:pt x="283581" y="826178"/>
                  </a:lnTo>
                  <a:lnTo>
                    <a:pt x="241881" y="804334"/>
                  </a:lnTo>
                  <a:lnTo>
                    <a:pt x="202872" y="780478"/>
                  </a:lnTo>
                  <a:lnTo>
                    <a:pt x="166733" y="754729"/>
                  </a:lnTo>
                  <a:lnTo>
                    <a:pt x="133641" y="727204"/>
                  </a:lnTo>
                  <a:lnTo>
                    <a:pt x="103774" y="698020"/>
                  </a:lnTo>
                  <a:lnTo>
                    <a:pt x="77312" y="667297"/>
                  </a:lnTo>
                  <a:lnTo>
                    <a:pt x="54431" y="635150"/>
                  </a:lnTo>
                  <a:lnTo>
                    <a:pt x="35311" y="601699"/>
                  </a:lnTo>
                  <a:lnTo>
                    <a:pt x="9065" y="531353"/>
                  </a:lnTo>
                  <a:lnTo>
                    <a:pt x="0" y="457200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12800" y="4222242"/>
            <a:ext cx="789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10577" y="3014472"/>
            <a:ext cx="804545" cy="776605"/>
            <a:chOff x="1010577" y="3014472"/>
            <a:chExt cx="804545" cy="776605"/>
          </a:xfrm>
        </p:grpSpPr>
        <p:sp>
          <p:nvSpPr>
            <p:cNvPr id="8" name="object 8"/>
            <p:cNvSpPr/>
            <p:nvPr/>
          </p:nvSpPr>
          <p:spPr>
            <a:xfrm>
              <a:off x="1010577" y="3014472"/>
              <a:ext cx="804545" cy="776605"/>
            </a:xfrm>
            <a:custGeom>
              <a:avLst/>
              <a:gdLst/>
              <a:ahLst/>
              <a:cxnLst/>
              <a:rect l="l" t="t" r="r" b="b"/>
              <a:pathLst>
                <a:path w="804544" h="776604">
                  <a:moveTo>
                    <a:pt x="745210" y="48303"/>
                  </a:moveTo>
                  <a:lnTo>
                    <a:pt x="0" y="766952"/>
                  </a:lnTo>
                  <a:lnTo>
                    <a:pt x="8813" y="776096"/>
                  </a:lnTo>
                  <a:lnTo>
                    <a:pt x="754066" y="57478"/>
                  </a:lnTo>
                  <a:lnTo>
                    <a:pt x="745210" y="48303"/>
                  </a:lnTo>
                  <a:close/>
                </a:path>
                <a:path w="804544" h="776604">
                  <a:moveTo>
                    <a:pt x="790507" y="39497"/>
                  </a:moveTo>
                  <a:lnTo>
                    <a:pt x="754341" y="39497"/>
                  </a:lnTo>
                  <a:lnTo>
                    <a:pt x="763231" y="48640"/>
                  </a:lnTo>
                  <a:lnTo>
                    <a:pt x="754066" y="57478"/>
                  </a:lnTo>
                  <a:lnTo>
                    <a:pt x="776058" y="80263"/>
                  </a:lnTo>
                  <a:lnTo>
                    <a:pt x="790507" y="39497"/>
                  </a:lnTo>
                  <a:close/>
                </a:path>
                <a:path w="804544" h="776604">
                  <a:moveTo>
                    <a:pt x="754341" y="39497"/>
                  </a:moveTo>
                  <a:lnTo>
                    <a:pt x="745210" y="48303"/>
                  </a:lnTo>
                  <a:lnTo>
                    <a:pt x="754066" y="57478"/>
                  </a:lnTo>
                  <a:lnTo>
                    <a:pt x="763231" y="48640"/>
                  </a:lnTo>
                  <a:lnTo>
                    <a:pt x="754341" y="39497"/>
                  </a:lnTo>
                  <a:close/>
                </a:path>
                <a:path w="804544" h="776604">
                  <a:moveTo>
                    <a:pt x="804506" y="0"/>
                  </a:moveTo>
                  <a:lnTo>
                    <a:pt x="723226" y="25526"/>
                  </a:lnTo>
                  <a:lnTo>
                    <a:pt x="745210" y="48303"/>
                  </a:lnTo>
                  <a:lnTo>
                    <a:pt x="754341" y="39497"/>
                  </a:lnTo>
                  <a:lnTo>
                    <a:pt x="790507" y="39497"/>
                  </a:lnTo>
                  <a:lnTo>
                    <a:pt x="80450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8867" y="3153537"/>
              <a:ext cx="199072" cy="237871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1499235" y="4437126"/>
            <a:ext cx="286385" cy="76200"/>
          </a:xfrm>
          <a:custGeom>
            <a:avLst/>
            <a:gdLst/>
            <a:ahLst/>
            <a:cxnLst/>
            <a:rect l="l" t="t" r="r" b="b"/>
            <a:pathLst>
              <a:path w="286385" h="76200">
                <a:moveTo>
                  <a:pt x="278910" y="31115"/>
                </a:moveTo>
                <a:lnTo>
                  <a:pt x="222377" y="31115"/>
                </a:lnTo>
                <a:lnTo>
                  <a:pt x="223012" y="43815"/>
                </a:lnTo>
                <a:lnTo>
                  <a:pt x="210375" y="44442"/>
                </a:lnTo>
                <a:lnTo>
                  <a:pt x="211963" y="76200"/>
                </a:lnTo>
                <a:lnTo>
                  <a:pt x="286131" y="34290"/>
                </a:lnTo>
                <a:lnTo>
                  <a:pt x="278910" y="31115"/>
                </a:lnTo>
                <a:close/>
              </a:path>
              <a:path w="286385" h="76200">
                <a:moveTo>
                  <a:pt x="209740" y="31750"/>
                </a:moveTo>
                <a:lnTo>
                  <a:pt x="0" y="42291"/>
                </a:lnTo>
                <a:lnTo>
                  <a:pt x="634" y="54863"/>
                </a:lnTo>
                <a:lnTo>
                  <a:pt x="210375" y="44442"/>
                </a:lnTo>
                <a:lnTo>
                  <a:pt x="209740" y="31750"/>
                </a:lnTo>
                <a:close/>
              </a:path>
              <a:path w="286385" h="76200">
                <a:moveTo>
                  <a:pt x="222377" y="31115"/>
                </a:moveTo>
                <a:lnTo>
                  <a:pt x="209740" y="31750"/>
                </a:lnTo>
                <a:lnTo>
                  <a:pt x="210375" y="44442"/>
                </a:lnTo>
                <a:lnTo>
                  <a:pt x="223012" y="43815"/>
                </a:lnTo>
                <a:lnTo>
                  <a:pt x="222377" y="31115"/>
                </a:lnTo>
                <a:close/>
              </a:path>
              <a:path w="286385" h="76200">
                <a:moveTo>
                  <a:pt x="208153" y="0"/>
                </a:moveTo>
                <a:lnTo>
                  <a:pt x="209740" y="31750"/>
                </a:lnTo>
                <a:lnTo>
                  <a:pt x="222377" y="31115"/>
                </a:lnTo>
                <a:lnTo>
                  <a:pt x="278910" y="31115"/>
                </a:lnTo>
                <a:lnTo>
                  <a:pt x="208153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95794" y="5068951"/>
            <a:ext cx="690880" cy="702945"/>
          </a:xfrm>
          <a:custGeom>
            <a:avLst/>
            <a:gdLst/>
            <a:ahLst/>
            <a:cxnLst/>
            <a:rect l="l" t="t" r="r" b="b"/>
            <a:pathLst>
              <a:path w="690880" h="702945">
                <a:moveTo>
                  <a:pt x="632437" y="652912"/>
                </a:moveTo>
                <a:lnTo>
                  <a:pt x="609815" y="675132"/>
                </a:lnTo>
                <a:lnTo>
                  <a:pt x="690333" y="702805"/>
                </a:lnTo>
                <a:lnTo>
                  <a:pt x="677148" y="661949"/>
                </a:lnTo>
                <a:lnTo>
                  <a:pt x="641311" y="661949"/>
                </a:lnTo>
                <a:lnTo>
                  <a:pt x="632437" y="652912"/>
                </a:lnTo>
                <a:close/>
              </a:path>
              <a:path w="690880" h="702945">
                <a:moveTo>
                  <a:pt x="641477" y="644032"/>
                </a:moveTo>
                <a:lnTo>
                  <a:pt x="632437" y="652912"/>
                </a:lnTo>
                <a:lnTo>
                  <a:pt x="641311" y="661949"/>
                </a:lnTo>
                <a:lnTo>
                  <a:pt x="650328" y="653046"/>
                </a:lnTo>
                <a:lnTo>
                  <a:pt x="641477" y="644032"/>
                </a:lnTo>
                <a:close/>
              </a:path>
              <a:path w="690880" h="702945">
                <a:moveTo>
                  <a:pt x="664171" y="621741"/>
                </a:moveTo>
                <a:lnTo>
                  <a:pt x="641477" y="644032"/>
                </a:lnTo>
                <a:lnTo>
                  <a:pt x="650328" y="653046"/>
                </a:lnTo>
                <a:lnTo>
                  <a:pt x="641311" y="661949"/>
                </a:lnTo>
                <a:lnTo>
                  <a:pt x="677148" y="661949"/>
                </a:lnTo>
                <a:lnTo>
                  <a:pt x="664171" y="621741"/>
                </a:lnTo>
                <a:close/>
              </a:path>
              <a:path w="690880" h="702945">
                <a:moveTo>
                  <a:pt x="9067" y="0"/>
                </a:moveTo>
                <a:lnTo>
                  <a:pt x="0" y="8890"/>
                </a:lnTo>
                <a:lnTo>
                  <a:pt x="632437" y="652912"/>
                </a:lnTo>
                <a:lnTo>
                  <a:pt x="641477" y="644032"/>
                </a:lnTo>
                <a:lnTo>
                  <a:pt x="9067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174735" y="5972555"/>
            <a:ext cx="833755" cy="490855"/>
          </a:xfrm>
          <a:prstGeom prst="rect">
            <a:avLst/>
          </a:prstGeom>
          <a:solidFill>
            <a:srgbClr val="4471C4"/>
          </a:solidFill>
          <a:ln w="12192">
            <a:solidFill>
              <a:srgbClr val="2E528F"/>
            </a:solidFill>
          </a:ln>
        </p:spPr>
        <p:txBody>
          <a:bodyPr vert="horz" wrap="square" lIns="0" tIns="93980" rIns="0" bIns="0" rtlCol="0">
            <a:spAutoFit/>
          </a:bodyPr>
          <a:lstStyle/>
          <a:p>
            <a:pPr marL="199390">
              <a:lnSpc>
                <a:spcPct val="100000"/>
              </a:lnSpc>
              <a:spcBef>
                <a:spcPts val="74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DT-1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89701" y="2643632"/>
            <a:ext cx="4302125" cy="1223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18690" indent="-28765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218690" algn="l"/>
                <a:tab pos="2219325" algn="l"/>
              </a:tabLst>
            </a:pPr>
            <a:r>
              <a:rPr sz="1800" dirty="0">
                <a:latin typeface="Calibri"/>
                <a:cs typeface="Calibri"/>
              </a:rPr>
              <a:t>Base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Learners </a:t>
            </a:r>
            <a:r>
              <a:rPr sz="1800" dirty="0">
                <a:latin typeface="Calibri"/>
                <a:cs typeface="Calibri"/>
              </a:rPr>
              <a:t>Model</a:t>
            </a:r>
            <a:endParaRPr sz="1800">
              <a:latin typeface="Calibri"/>
              <a:cs typeface="Calibri"/>
            </a:endParaRPr>
          </a:p>
          <a:p>
            <a:pPr marL="2675890" lvl="1" indent="-287655">
              <a:lnSpc>
                <a:spcPct val="100000"/>
              </a:lnSpc>
              <a:buFont typeface="Wingdings"/>
              <a:buChar char=""/>
              <a:tabLst>
                <a:tab pos="2675890" algn="l"/>
                <a:tab pos="2676525" algn="l"/>
              </a:tabLst>
            </a:pPr>
            <a:r>
              <a:rPr sz="1800" spc="-20" dirty="0">
                <a:latin typeface="Calibri"/>
                <a:cs typeface="Calibri"/>
              </a:rPr>
              <a:t>Row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Sampling</a:t>
            </a:r>
            <a:endParaRPr sz="1800">
              <a:latin typeface="Calibri"/>
              <a:cs typeface="Calibri"/>
            </a:endParaRPr>
          </a:p>
          <a:p>
            <a:pPr marL="2675890" lvl="1" indent="-287655">
              <a:lnSpc>
                <a:spcPct val="100000"/>
              </a:lnSpc>
              <a:buFont typeface="Wingdings"/>
              <a:buChar char=""/>
              <a:tabLst>
                <a:tab pos="2675890" algn="l"/>
                <a:tab pos="2676525" algn="l"/>
              </a:tabLst>
            </a:pPr>
            <a:r>
              <a:rPr sz="1800" spc="-10" dirty="0">
                <a:latin typeface="Calibri"/>
                <a:cs typeface="Calibri"/>
              </a:rPr>
              <a:t>Feature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Sampling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800" spc="-5" dirty="0">
                <a:latin typeface="Calibri"/>
                <a:cs typeface="Calibri"/>
              </a:rPr>
              <a:t>Majority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Voting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208264" y="4744211"/>
            <a:ext cx="2392680" cy="815340"/>
          </a:xfrm>
          <a:prstGeom prst="rect">
            <a:avLst/>
          </a:prstGeom>
          <a:solidFill>
            <a:srgbClr val="000000"/>
          </a:solidFill>
          <a:ln w="12192">
            <a:solidFill>
              <a:srgbClr val="2E528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75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</a:pP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633716" y="4672584"/>
            <a:ext cx="76200" cy="1791970"/>
          </a:xfrm>
          <a:custGeom>
            <a:avLst/>
            <a:gdLst/>
            <a:ahLst/>
            <a:cxnLst/>
            <a:rect l="l" t="t" r="r" b="b"/>
            <a:pathLst>
              <a:path w="76200" h="1791970">
                <a:moveTo>
                  <a:pt x="31649" y="1715420"/>
                </a:moveTo>
                <a:lnTo>
                  <a:pt x="0" y="1715668"/>
                </a:lnTo>
                <a:lnTo>
                  <a:pt x="38607" y="1791563"/>
                </a:lnTo>
                <a:lnTo>
                  <a:pt x="69783" y="1728127"/>
                </a:lnTo>
                <a:lnTo>
                  <a:pt x="31750" y="1728127"/>
                </a:lnTo>
                <a:lnTo>
                  <a:pt x="31649" y="1715420"/>
                </a:lnTo>
                <a:close/>
              </a:path>
              <a:path w="76200" h="1791970">
                <a:moveTo>
                  <a:pt x="44349" y="1715320"/>
                </a:moveTo>
                <a:lnTo>
                  <a:pt x="31649" y="1715420"/>
                </a:lnTo>
                <a:lnTo>
                  <a:pt x="31750" y="1728127"/>
                </a:lnTo>
                <a:lnTo>
                  <a:pt x="44450" y="1728025"/>
                </a:lnTo>
                <a:lnTo>
                  <a:pt x="44349" y="1715320"/>
                </a:lnTo>
                <a:close/>
              </a:path>
              <a:path w="76200" h="1791970">
                <a:moveTo>
                  <a:pt x="76200" y="1715071"/>
                </a:moveTo>
                <a:lnTo>
                  <a:pt x="44349" y="1715320"/>
                </a:lnTo>
                <a:lnTo>
                  <a:pt x="44450" y="1728025"/>
                </a:lnTo>
                <a:lnTo>
                  <a:pt x="31750" y="1728127"/>
                </a:lnTo>
                <a:lnTo>
                  <a:pt x="69783" y="1728127"/>
                </a:lnTo>
                <a:lnTo>
                  <a:pt x="76200" y="1715071"/>
                </a:lnTo>
                <a:close/>
              </a:path>
              <a:path w="76200" h="1791970">
                <a:moveTo>
                  <a:pt x="30733" y="0"/>
                </a:moveTo>
                <a:lnTo>
                  <a:pt x="18033" y="0"/>
                </a:lnTo>
                <a:lnTo>
                  <a:pt x="31649" y="1715420"/>
                </a:lnTo>
                <a:lnTo>
                  <a:pt x="44349" y="1715320"/>
                </a:lnTo>
                <a:lnTo>
                  <a:pt x="30733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830311" y="4204715"/>
            <a:ext cx="3208020" cy="76200"/>
          </a:xfrm>
          <a:custGeom>
            <a:avLst/>
            <a:gdLst/>
            <a:ahLst/>
            <a:cxnLst/>
            <a:rect l="l" t="t" r="r" b="b"/>
            <a:pathLst>
              <a:path w="3208020" h="76200">
                <a:moveTo>
                  <a:pt x="3131312" y="0"/>
                </a:moveTo>
                <a:lnTo>
                  <a:pt x="3131312" y="76199"/>
                </a:lnTo>
                <a:lnTo>
                  <a:pt x="3194812" y="44449"/>
                </a:lnTo>
                <a:lnTo>
                  <a:pt x="3144012" y="44449"/>
                </a:lnTo>
                <a:lnTo>
                  <a:pt x="3144012" y="31749"/>
                </a:lnTo>
                <a:lnTo>
                  <a:pt x="3194812" y="31749"/>
                </a:lnTo>
                <a:lnTo>
                  <a:pt x="3131312" y="0"/>
                </a:lnTo>
                <a:close/>
              </a:path>
              <a:path w="3208020" h="76200">
                <a:moveTo>
                  <a:pt x="3131312" y="31749"/>
                </a:moveTo>
                <a:lnTo>
                  <a:pt x="0" y="31749"/>
                </a:lnTo>
                <a:lnTo>
                  <a:pt x="0" y="44449"/>
                </a:lnTo>
                <a:lnTo>
                  <a:pt x="3131312" y="44449"/>
                </a:lnTo>
                <a:lnTo>
                  <a:pt x="3131312" y="31749"/>
                </a:lnTo>
                <a:close/>
              </a:path>
              <a:path w="3208020" h="76200">
                <a:moveTo>
                  <a:pt x="3194812" y="31749"/>
                </a:moveTo>
                <a:lnTo>
                  <a:pt x="3144012" y="31749"/>
                </a:lnTo>
                <a:lnTo>
                  <a:pt x="3144012" y="44449"/>
                </a:lnTo>
                <a:lnTo>
                  <a:pt x="3194812" y="44449"/>
                </a:lnTo>
                <a:lnTo>
                  <a:pt x="3207512" y="38099"/>
                </a:lnTo>
                <a:lnTo>
                  <a:pt x="3194812" y="31749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566531" y="4306061"/>
            <a:ext cx="1328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Row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Sampling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14691" y="4747778"/>
            <a:ext cx="254000" cy="16383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10" dirty="0">
                <a:latin typeface="Calibri"/>
                <a:cs typeface="Calibri"/>
              </a:rPr>
              <a:t>Feature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Sampling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108947" y="5555869"/>
            <a:ext cx="301625" cy="417195"/>
          </a:xfrm>
          <a:custGeom>
            <a:avLst/>
            <a:gdLst/>
            <a:ahLst/>
            <a:cxnLst/>
            <a:rect l="l" t="t" r="r" b="b"/>
            <a:pathLst>
              <a:path w="301625" h="417195">
                <a:moveTo>
                  <a:pt x="13461" y="332828"/>
                </a:moveTo>
                <a:lnTo>
                  <a:pt x="0" y="416940"/>
                </a:lnTo>
                <a:lnTo>
                  <a:pt x="75310" y="377240"/>
                </a:lnTo>
                <a:lnTo>
                  <a:pt x="63903" y="369049"/>
                </a:lnTo>
                <a:lnTo>
                  <a:pt x="42163" y="369049"/>
                </a:lnTo>
                <a:lnTo>
                  <a:pt x="31876" y="361645"/>
                </a:lnTo>
                <a:lnTo>
                  <a:pt x="39260" y="351353"/>
                </a:lnTo>
                <a:lnTo>
                  <a:pt x="13461" y="332828"/>
                </a:lnTo>
                <a:close/>
              </a:path>
              <a:path w="301625" h="417195">
                <a:moveTo>
                  <a:pt x="39260" y="351353"/>
                </a:moveTo>
                <a:lnTo>
                  <a:pt x="31876" y="361645"/>
                </a:lnTo>
                <a:lnTo>
                  <a:pt x="42163" y="369049"/>
                </a:lnTo>
                <a:lnTo>
                  <a:pt x="49555" y="358746"/>
                </a:lnTo>
                <a:lnTo>
                  <a:pt x="39260" y="351353"/>
                </a:lnTo>
                <a:close/>
              </a:path>
              <a:path w="301625" h="417195">
                <a:moveTo>
                  <a:pt x="49555" y="358746"/>
                </a:moveTo>
                <a:lnTo>
                  <a:pt x="42163" y="369049"/>
                </a:lnTo>
                <a:lnTo>
                  <a:pt x="63903" y="369049"/>
                </a:lnTo>
                <a:lnTo>
                  <a:pt x="49555" y="358746"/>
                </a:lnTo>
                <a:close/>
              </a:path>
              <a:path w="301625" h="417195">
                <a:moveTo>
                  <a:pt x="291337" y="0"/>
                </a:moveTo>
                <a:lnTo>
                  <a:pt x="39260" y="351353"/>
                </a:lnTo>
                <a:lnTo>
                  <a:pt x="49555" y="358746"/>
                </a:lnTo>
                <a:lnTo>
                  <a:pt x="301625" y="7365"/>
                </a:lnTo>
                <a:lnTo>
                  <a:pt x="291337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284207" y="5972555"/>
            <a:ext cx="833755" cy="490855"/>
          </a:xfrm>
          <a:prstGeom prst="rect">
            <a:avLst/>
          </a:prstGeom>
          <a:solidFill>
            <a:srgbClr val="4471C4"/>
          </a:solidFill>
          <a:ln w="12192">
            <a:solidFill>
              <a:srgbClr val="2E528F"/>
            </a:solidFill>
          </a:ln>
        </p:spPr>
        <p:txBody>
          <a:bodyPr vert="horz" wrap="square" lIns="0" tIns="93980" rIns="0" bIns="0" rtlCol="0">
            <a:spAutoFit/>
          </a:bodyPr>
          <a:lstStyle/>
          <a:p>
            <a:pPr marL="200025">
              <a:lnSpc>
                <a:spcPct val="100000"/>
              </a:lnSpc>
              <a:spcBef>
                <a:spcPts val="74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DT-2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587228" y="5972555"/>
            <a:ext cx="833755" cy="490855"/>
          </a:xfrm>
          <a:prstGeom prst="rect">
            <a:avLst/>
          </a:prstGeom>
          <a:solidFill>
            <a:srgbClr val="00AFEF"/>
          </a:solidFill>
          <a:ln w="12192">
            <a:solidFill>
              <a:srgbClr val="2E528F"/>
            </a:solidFill>
          </a:ln>
        </p:spPr>
        <p:txBody>
          <a:bodyPr vert="horz" wrap="square" lIns="0" tIns="93980" rIns="0" bIns="0" rtlCol="0">
            <a:spAutoFit/>
          </a:bodyPr>
          <a:lstStyle/>
          <a:p>
            <a:pPr marL="184785">
              <a:lnSpc>
                <a:spcPct val="100000"/>
              </a:lnSpc>
              <a:spcBef>
                <a:spcPts val="74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DT-N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538843" y="5557265"/>
            <a:ext cx="172085" cy="415925"/>
          </a:xfrm>
          <a:custGeom>
            <a:avLst/>
            <a:gdLst/>
            <a:ahLst/>
            <a:cxnLst/>
            <a:rect l="l" t="t" r="r" b="b"/>
            <a:pathLst>
              <a:path w="172084" h="415925">
                <a:moveTo>
                  <a:pt x="130109" y="346599"/>
                </a:moveTo>
                <a:lnTo>
                  <a:pt x="100456" y="357873"/>
                </a:lnTo>
                <a:lnTo>
                  <a:pt x="163067" y="415544"/>
                </a:lnTo>
                <a:lnTo>
                  <a:pt x="168884" y="358457"/>
                </a:lnTo>
                <a:lnTo>
                  <a:pt x="134620" y="358457"/>
                </a:lnTo>
                <a:lnTo>
                  <a:pt x="130109" y="346599"/>
                </a:lnTo>
                <a:close/>
              </a:path>
              <a:path w="172084" h="415925">
                <a:moveTo>
                  <a:pt x="141934" y="342103"/>
                </a:moveTo>
                <a:lnTo>
                  <a:pt x="130109" y="346599"/>
                </a:lnTo>
                <a:lnTo>
                  <a:pt x="134620" y="358457"/>
                </a:lnTo>
                <a:lnTo>
                  <a:pt x="146430" y="353936"/>
                </a:lnTo>
                <a:lnTo>
                  <a:pt x="141934" y="342103"/>
                </a:lnTo>
                <a:close/>
              </a:path>
              <a:path w="172084" h="415925">
                <a:moveTo>
                  <a:pt x="171703" y="330784"/>
                </a:moveTo>
                <a:lnTo>
                  <a:pt x="141934" y="342103"/>
                </a:lnTo>
                <a:lnTo>
                  <a:pt x="146430" y="353936"/>
                </a:lnTo>
                <a:lnTo>
                  <a:pt x="134620" y="358457"/>
                </a:lnTo>
                <a:lnTo>
                  <a:pt x="168884" y="358457"/>
                </a:lnTo>
                <a:lnTo>
                  <a:pt x="171703" y="330784"/>
                </a:lnTo>
                <a:close/>
              </a:path>
              <a:path w="172084" h="415925">
                <a:moveTo>
                  <a:pt x="11937" y="0"/>
                </a:moveTo>
                <a:lnTo>
                  <a:pt x="0" y="4572"/>
                </a:lnTo>
                <a:lnTo>
                  <a:pt x="130109" y="346599"/>
                </a:lnTo>
                <a:lnTo>
                  <a:pt x="141934" y="342103"/>
                </a:lnTo>
                <a:lnTo>
                  <a:pt x="11937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113644" y="5554726"/>
            <a:ext cx="487680" cy="418465"/>
          </a:xfrm>
          <a:custGeom>
            <a:avLst/>
            <a:gdLst/>
            <a:ahLst/>
            <a:cxnLst/>
            <a:rect l="l" t="t" r="r" b="b"/>
            <a:pathLst>
              <a:path w="487679" h="418464">
                <a:moveTo>
                  <a:pt x="425411" y="373363"/>
                </a:moveTo>
                <a:lnTo>
                  <a:pt x="404749" y="397522"/>
                </a:lnTo>
                <a:lnTo>
                  <a:pt x="487425" y="418084"/>
                </a:lnTo>
                <a:lnTo>
                  <a:pt x="472035" y="381647"/>
                </a:lnTo>
                <a:lnTo>
                  <a:pt x="435101" y="381647"/>
                </a:lnTo>
                <a:lnTo>
                  <a:pt x="425411" y="373363"/>
                </a:lnTo>
                <a:close/>
              </a:path>
              <a:path w="487679" h="418464">
                <a:moveTo>
                  <a:pt x="433666" y="363711"/>
                </a:moveTo>
                <a:lnTo>
                  <a:pt x="425411" y="373363"/>
                </a:lnTo>
                <a:lnTo>
                  <a:pt x="435101" y="381647"/>
                </a:lnTo>
                <a:lnTo>
                  <a:pt x="443356" y="371995"/>
                </a:lnTo>
                <a:lnTo>
                  <a:pt x="433666" y="363711"/>
                </a:lnTo>
                <a:close/>
              </a:path>
              <a:path w="487679" h="418464">
                <a:moveTo>
                  <a:pt x="454278" y="339610"/>
                </a:moveTo>
                <a:lnTo>
                  <a:pt x="433666" y="363711"/>
                </a:lnTo>
                <a:lnTo>
                  <a:pt x="443356" y="371995"/>
                </a:lnTo>
                <a:lnTo>
                  <a:pt x="435101" y="381647"/>
                </a:lnTo>
                <a:lnTo>
                  <a:pt x="472035" y="381647"/>
                </a:lnTo>
                <a:lnTo>
                  <a:pt x="454278" y="339610"/>
                </a:lnTo>
                <a:close/>
              </a:path>
              <a:path w="487679" h="418464">
                <a:moveTo>
                  <a:pt x="8254" y="0"/>
                </a:moveTo>
                <a:lnTo>
                  <a:pt x="0" y="9652"/>
                </a:lnTo>
                <a:lnTo>
                  <a:pt x="425411" y="373363"/>
                </a:lnTo>
                <a:lnTo>
                  <a:pt x="433666" y="363711"/>
                </a:lnTo>
                <a:lnTo>
                  <a:pt x="8254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0184130" y="6078423"/>
            <a:ext cx="3568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…</a:t>
            </a:r>
            <a:r>
              <a:rPr sz="1800" dirty="0">
                <a:latin typeface="Calibri"/>
                <a:cs typeface="Calibri"/>
              </a:rPr>
              <a:t>.</a:t>
            </a:r>
            <a:r>
              <a:rPr sz="1800" spc="-5" dirty="0">
                <a:latin typeface="Calibri"/>
                <a:cs typeface="Calibri"/>
              </a:rPr>
              <a:t>..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1242569" y="333692"/>
            <a:ext cx="9601196" cy="13038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497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Random</a:t>
            </a:r>
            <a:r>
              <a:rPr spc="-80" dirty="0"/>
              <a:t> </a:t>
            </a:r>
            <a:r>
              <a:rPr dirty="0"/>
              <a:t>Forest</a:t>
            </a:r>
          </a:p>
        </p:txBody>
      </p:sp>
      <p:pic>
        <p:nvPicPr>
          <p:cNvPr id="26" name="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02307" y="3921252"/>
            <a:ext cx="1027768" cy="1032986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4768596" y="1405127"/>
            <a:ext cx="3339465" cy="771525"/>
          </a:xfrm>
          <a:prstGeom prst="rect">
            <a:avLst/>
          </a:prstGeom>
          <a:solidFill>
            <a:srgbClr val="EC7C30"/>
          </a:solidFill>
        </p:spPr>
        <p:txBody>
          <a:bodyPr vert="horz" wrap="square" lIns="0" tIns="64769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509"/>
              </a:spcBef>
            </a:pP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Random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Forest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Works</a:t>
            </a:r>
            <a:endParaRPr sz="2000" dirty="0">
              <a:latin typeface="Calibri"/>
              <a:cs typeface="Calibri"/>
            </a:endParaRPr>
          </a:p>
          <a:p>
            <a:pPr marL="29464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Simple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Visualization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207378" y="5044821"/>
            <a:ext cx="9232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Final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Output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497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Random</a:t>
            </a:r>
            <a:r>
              <a:rPr spc="-80" dirty="0"/>
              <a:t> </a:t>
            </a:r>
            <a:r>
              <a:rPr dirty="0"/>
              <a:t>Forest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42060" y="1723644"/>
            <a:ext cx="2620010" cy="467995"/>
          </a:xfrm>
          <a:prstGeom prst="rect">
            <a:avLst/>
          </a:prstGeom>
          <a:solidFill>
            <a:srgbClr val="EC7C30"/>
          </a:solidFill>
        </p:spPr>
        <p:txBody>
          <a:bodyPr vert="horz" wrap="square" lIns="0" tIns="66040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520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Real-Time</a:t>
            </a:r>
            <a:r>
              <a:rPr sz="2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cases: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8580" y="2498216"/>
            <a:ext cx="11040110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459740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dirty="0">
                <a:latin typeface="Calibri"/>
                <a:cs typeface="Calibri"/>
              </a:rPr>
              <a:t>Random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Forest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been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go-to</a:t>
            </a:r>
            <a:r>
              <a:rPr sz="1800" dirty="0">
                <a:latin typeface="Calibri"/>
                <a:cs typeface="Calibri"/>
              </a:rPr>
              <a:t> Model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Price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Prediction,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Fraud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Detection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Financial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statements,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Various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Research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papers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published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 </a:t>
            </a:r>
            <a:r>
              <a:rPr sz="1800" dirty="0">
                <a:latin typeface="Calibri"/>
                <a:cs typeface="Calibri"/>
              </a:rPr>
              <a:t>these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areas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recommend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Random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Forest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best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accuracy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producing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Wingdings"/>
              <a:buChar char=""/>
            </a:pPr>
            <a:endParaRPr sz="17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dirty="0">
                <a:latin typeface="Calibri"/>
                <a:cs typeface="Calibri"/>
              </a:rPr>
              <a:t>Random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Forest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proved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provide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good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accuracy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predicting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disease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based on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features.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Wingdings"/>
              <a:buChar char=""/>
            </a:pPr>
            <a:endParaRPr sz="175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spc="-25" dirty="0">
                <a:latin typeface="Calibri"/>
                <a:cs typeface="Calibri"/>
              </a:rPr>
              <a:t>Moreover,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random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forest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technique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has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capability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focus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both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observations</a:t>
            </a:r>
            <a:r>
              <a:rPr sz="1800" dirty="0">
                <a:latin typeface="Calibri"/>
                <a:cs typeface="Calibri"/>
              </a:rPr>
              <a:t> and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variables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training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data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spc="-5" dirty="0">
                <a:latin typeface="Calibri"/>
                <a:cs typeface="Calibri"/>
              </a:rPr>
              <a:t> developing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individual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decision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trees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take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maximum </a:t>
            </a:r>
            <a:r>
              <a:rPr sz="1800" spc="-10" dirty="0">
                <a:latin typeface="Calibri"/>
                <a:cs typeface="Calibri"/>
              </a:rPr>
              <a:t>voting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classification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total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average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 </a:t>
            </a:r>
            <a:r>
              <a:rPr sz="1800" spc="-10" dirty="0">
                <a:latin typeface="Calibri"/>
                <a:cs typeface="Calibri"/>
              </a:rPr>
              <a:t> regression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problems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respectively.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also</a:t>
            </a:r>
            <a:r>
              <a:rPr sz="1800" dirty="0">
                <a:latin typeface="Calibri"/>
                <a:cs typeface="Calibri"/>
              </a:rPr>
              <a:t> uses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bagging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technique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takes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observations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10" dirty="0">
                <a:latin typeface="Calibri"/>
                <a:cs typeface="Calibri"/>
              </a:rPr>
              <a:t>random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manner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selects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columns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which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incapable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representing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significant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variables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root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all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decision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trees.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manner,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random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forest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makes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trees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only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which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dependent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other by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penalizing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accuracy.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We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have</a:t>
            </a:r>
            <a:r>
              <a:rPr sz="1800" dirty="0">
                <a:latin typeface="Calibri"/>
                <a:cs typeface="Calibri"/>
              </a:rPr>
              <a:t> a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thumb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rule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which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implemented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selecting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sub-samples</a:t>
            </a:r>
            <a:r>
              <a:rPr sz="1800" spc="-10" dirty="0">
                <a:latin typeface="Calibri"/>
                <a:cs typeface="Calibri"/>
              </a:rPr>
              <a:t> from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observations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using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random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forest.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If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we 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consider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2/3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observations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spc="-10" dirty="0">
                <a:latin typeface="Calibri"/>
                <a:cs typeface="Calibri"/>
              </a:rPr>
              <a:t> training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data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number of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columns</a:t>
            </a:r>
            <a:r>
              <a:rPr sz="1800" dirty="0">
                <a:latin typeface="Calibri"/>
                <a:cs typeface="Calibri"/>
              </a:rPr>
              <a:t> then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497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Random</a:t>
            </a:r>
            <a:r>
              <a:rPr spc="-80" dirty="0"/>
              <a:t> </a:t>
            </a:r>
            <a:r>
              <a:rPr dirty="0"/>
              <a:t>Forest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0639" y="1969007"/>
            <a:ext cx="2810510" cy="467995"/>
          </a:xfrm>
          <a:prstGeom prst="rect">
            <a:avLst/>
          </a:prstGeom>
          <a:solidFill>
            <a:srgbClr val="EC7C30"/>
          </a:solidFill>
        </p:spPr>
        <p:txBody>
          <a:bodyPr vert="horz" wrap="square" lIns="0" tIns="66040" rIns="0" bIns="0" rtlCol="0">
            <a:spAutoFit/>
          </a:bodyPr>
          <a:lstStyle/>
          <a:p>
            <a:pPr marL="260350">
              <a:lnSpc>
                <a:spcPct val="100000"/>
              </a:lnSpc>
              <a:spcBef>
                <a:spcPts val="520"/>
              </a:spcBef>
            </a:pP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Classifier</a:t>
            </a:r>
            <a:r>
              <a:rPr sz="20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Regressor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4288" y="2962147"/>
            <a:ext cx="1082040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215900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dirty="0">
                <a:latin typeface="Calibri"/>
                <a:cs typeface="Calibri"/>
              </a:rPr>
              <a:t>A </a:t>
            </a:r>
            <a:r>
              <a:rPr sz="1800" spc="-10" dirty="0">
                <a:latin typeface="Calibri"/>
                <a:cs typeface="Calibri"/>
              </a:rPr>
              <a:t>random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forest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classifier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works </a:t>
            </a:r>
            <a:r>
              <a:rPr sz="1800" spc="-5" dirty="0">
                <a:latin typeface="Calibri"/>
                <a:cs typeface="Calibri"/>
              </a:rPr>
              <a:t>with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data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having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discrete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labels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better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known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class. </a:t>
            </a:r>
            <a:r>
              <a:rPr sz="1800" dirty="0">
                <a:latin typeface="Calibri"/>
                <a:cs typeface="Calibri"/>
              </a:rPr>
              <a:t>Example-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patient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suffering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from</a:t>
            </a:r>
            <a:r>
              <a:rPr sz="1800" spc="-5" dirty="0">
                <a:latin typeface="Calibri"/>
                <a:cs typeface="Calibri"/>
              </a:rPr>
              <a:t> cancer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not,</a:t>
            </a:r>
            <a:r>
              <a:rPr sz="1800" dirty="0">
                <a:latin typeface="Calibri"/>
                <a:cs typeface="Calibri"/>
              </a:rPr>
              <a:t> 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person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eligible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 loan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not,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etc.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Wingdings"/>
              <a:buChar char=""/>
            </a:pPr>
            <a:endParaRPr sz="175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random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forest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regressor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works</a:t>
            </a:r>
            <a:r>
              <a:rPr sz="1800" spc="-5" dirty="0">
                <a:latin typeface="Calibri"/>
                <a:cs typeface="Calibri"/>
              </a:rPr>
              <a:t> with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data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having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numeric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continuous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output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they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cannot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defined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by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classes.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Example-</a:t>
            </a:r>
            <a:r>
              <a:rPr sz="1800" dirty="0">
                <a:latin typeface="Calibri"/>
                <a:cs typeface="Calibri"/>
              </a:rPr>
              <a:t> the </a:t>
            </a:r>
            <a:r>
              <a:rPr sz="1800" spc="-5" dirty="0">
                <a:latin typeface="Calibri"/>
                <a:cs typeface="Calibri"/>
              </a:rPr>
              <a:t>price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houses, milk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production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cows,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gross income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 companies,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etc.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5401" y="553389"/>
            <a:ext cx="9601196" cy="13038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497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Random</a:t>
            </a:r>
            <a:r>
              <a:rPr spc="-80" dirty="0"/>
              <a:t> </a:t>
            </a:r>
            <a:r>
              <a:rPr dirty="0"/>
              <a:t>Forest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0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927100" algn="l"/>
                <a:tab pos="927735" algn="l"/>
              </a:tabLst>
            </a:pPr>
            <a:r>
              <a:rPr dirty="0"/>
              <a:t>It </a:t>
            </a:r>
            <a:r>
              <a:rPr spc="-10" dirty="0"/>
              <a:t>reduces</a:t>
            </a:r>
            <a:r>
              <a:rPr spc="15" dirty="0"/>
              <a:t> </a:t>
            </a:r>
            <a:r>
              <a:rPr spc="-10" dirty="0"/>
              <a:t>overfitting</a:t>
            </a:r>
            <a:r>
              <a:rPr spc="5" dirty="0"/>
              <a:t> </a:t>
            </a:r>
            <a:r>
              <a:rPr dirty="0"/>
              <a:t>in</a:t>
            </a:r>
            <a:r>
              <a:rPr spc="10" dirty="0"/>
              <a:t> </a:t>
            </a:r>
            <a:r>
              <a:rPr spc="-5" dirty="0"/>
              <a:t>decision</a:t>
            </a:r>
            <a:r>
              <a:rPr spc="25" dirty="0"/>
              <a:t> </a:t>
            </a:r>
            <a:r>
              <a:rPr spc="-10" dirty="0"/>
              <a:t>trees</a:t>
            </a:r>
            <a:r>
              <a:rPr spc="5" dirty="0"/>
              <a:t> </a:t>
            </a:r>
            <a:r>
              <a:rPr dirty="0"/>
              <a:t>and</a:t>
            </a:r>
            <a:r>
              <a:rPr spc="10" dirty="0"/>
              <a:t> </a:t>
            </a:r>
            <a:r>
              <a:rPr spc="-5" dirty="0"/>
              <a:t>helps</a:t>
            </a:r>
            <a:r>
              <a:rPr spc="15" dirty="0"/>
              <a:t> </a:t>
            </a:r>
            <a:r>
              <a:rPr spc="-10" dirty="0"/>
              <a:t>to</a:t>
            </a:r>
            <a:r>
              <a:rPr dirty="0"/>
              <a:t> </a:t>
            </a:r>
            <a:r>
              <a:rPr spc="-10" dirty="0"/>
              <a:t>improve</a:t>
            </a:r>
            <a:r>
              <a:rPr spc="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spc="-10" dirty="0"/>
              <a:t>accuracy</a:t>
            </a:r>
          </a:p>
          <a:p>
            <a:pPr marL="927100" indent="-287020">
              <a:lnSpc>
                <a:spcPct val="100000"/>
              </a:lnSpc>
              <a:buFont typeface="Wingdings"/>
              <a:buChar char=""/>
              <a:tabLst>
                <a:tab pos="927100" algn="l"/>
                <a:tab pos="927735" algn="l"/>
              </a:tabLst>
            </a:pPr>
            <a:r>
              <a:rPr dirty="0"/>
              <a:t>It</a:t>
            </a:r>
            <a:r>
              <a:rPr spc="5" dirty="0"/>
              <a:t> </a:t>
            </a:r>
            <a:r>
              <a:rPr dirty="0"/>
              <a:t>is</a:t>
            </a:r>
            <a:r>
              <a:rPr spc="5" dirty="0"/>
              <a:t> </a:t>
            </a:r>
            <a:r>
              <a:rPr spc="-10" dirty="0"/>
              <a:t>flexible</a:t>
            </a:r>
            <a:r>
              <a:rPr spc="15" dirty="0"/>
              <a:t> </a:t>
            </a:r>
            <a:r>
              <a:rPr spc="-10" dirty="0"/>
              <a:t>to</a:t>
            </a:r>
            <a:r>
              <a:rPr dirty="0"/>
              <a:t> </a:t>
            </a:r>
            <a:r>
              <a:rPr spc="-5" dirty="0"/>
              <a:t>both</a:t>
            </a:r>
            <a:r>
              <a:rPr spc="15" dirty="0"/>
              <a:t> </a:t>
            </a:r>
            <a:r>
              <a:rPr spc="-10" dirty="0"/>
              <a:t>classification</a:t>
            </a:r>
            <a:r>
              <a:rPr spc="20" dirty="0"/>
              <a:t> </a:t>
            </a:r>
            <a:r>
              <a:rPr dirty="0"/>
              <a:t>and</a:t>
            </a:r>
            <a:r>
              <a:rPr spc="10" dirty="0"/>
              <a:t> </a:t>
            </a:r>
            <a:r>
              <a:rPr spc="-10" dirty="0"/>
              <a:t>regression</a:t>
            </a:r>
            <a:r>
              <a:rPr dirty="0"/>
              <a:t> </a:t>
            </a:r>
            <a:r>
              <a:rPr spc="-10" dirty="0"/>
              <a:t>problems.</a:t>
            </a:r>
          </a:p>
          <a:p>
            <a:pPr marL="927100" indent="-287020">
              <a:lnSpc>
                <a:spcPct val="100000"/>
              </a:lnSpc>
              <a:buFont typeface="Wingdings"/>
              <a:buChar char=""/>
              <a:tabLst>
                <a:tab pos="927100" algn="l"/>
                <a:tab pos="927735" algn="l"/>
              </a:tabLst>
            </a:pPr>
            <a:r>
              <a:rPr dirty="0"/>
              <a:t>It</a:t>
            </a:r>
            <a:r>
              <a:rPr spc="-5" dirty="0"/>
              <a:t> </a:t>
            </a:r>
            <a:r>
              <a:rPr spc="-10" dirty="0"/>
              <a:t>works </a:t>
            </a:r>
            <a:r>
              <a:rPr spc="-5" dirty="0"/>
              <a:t>well</a:t>
            </a:r>
            <a:r>
              <a:rPr dirty="0"/>
              <a:t> </a:t>
            </a:r>
            <a:r>
              <a:rPr spc="-5" dirty="0"/>
              <a:t>with</a:t>
            </a:r>
            <a:r>
              <a:rPr spc="5" dirty="0"/>
              <a:t> </a:t>
            </a:r>
            <a:r>
              <a:rPr spc="-5" dirty="0"/>
              <a:t>both</a:t>
            </a:r>
            <a:r>
              <a:rPr spc="5" dirty="0"/>
              <a:t> </a:t>
            </a:r>
            <a:r>
              <a:rPr spc="-10" dirty="0"/>
              <a:t>categorical</a:t>
            </a:r>
            <a:r>
              <a:rPr spc="15" dirty="0"/>
              <a:t> </a:t>
            </a:r>
            <a:r>
              <a:rPr dirty="0"/>
              <a:t>and </a:t>
            </a:r>
            <a:r>
              <a:rPr spc="-10" dirty="0"/>
              <a:t>continuous</a:t>
            </a:r>
            <a:r>
              <a:rPr spc="15" dirty="0"/>
              <a:t> </a:t>
            </a:r>
            <a:r>
              <a:rPr spc="-10" dirty="0"/>
              <a:t>values</a:t>
            </a:r>
          </a:p>
          <a:p>
            <a:pPr marL="927100" indent="-287020">
              <a:lnSpc>
                <a:spcPct val="100000"/>
              </a:lnSpc>
              <a:buFont typeface="Wingdings"/>
              <a:buChar char=""/>
              <a:tabLst>
                <a:tab pos="927100" algn="l"/>
                <a:tab pos="927735" algn="l"/>
              </a:tabLst>
            </a:pPr>
            <a:r>
              <a:rPr dirty="0"/>
              <a:t>It</a:t>
            </a:r>
            <a:r>
              <a:rPr spc="-5" dirty="0"/>
              <a:t> </a:t>
            </a:r>
            <a:r>
              <a:rPr spc="-10" dirty="0"/>
              <a:t>automates</a:t>
            </a:r>
            <a:r>
              <a:rPr spc="-5" dirty="0"/>
              <a:t> missing values</a:t>
            </a:r>
            <a:r>
              <a:rPr spc="-10" dirty="0"/>
              <a:t> </a:t>
            </a:r>
            <a:r>
              <a:rPr spc="-5" dirty="0"/>
              <a:t>present</a:t>
            </a:r>
            <a:r>
              <a:rPr dirty="0"/>
              <a:t> </a:t>
            </a:r>
            <a:r>
              <a:rPr spc="-5" dirty="0"/>
              <a:t>in</a:t>
            </a:r>
            <a:r>
              <a:rPr spc="5" dirty="0"/>
              <a:t> </a:t>
            </a:r>
            <a:r>
              <a:rPr dirty="0"/>
              <a:t>the </a:t>
            </a:r>
            <a:r>
              <a:rPr spc="-15" dirty="0"/>
              <a:t>data</a:t>
            </a:r>
          </a:p>
          <a:p>
            <a:pPr marL="927100" indent="-287020">
              <a:lnSpc>
                <a:spcPct val="100000"/>
              </a:lnSpc>
              <a:buFont typeface="Wingdings"/>
              <a:buChar char=""/>
              <a:tabLst>
                <a:tab pos="927100" algn="l"/>
                <a:tab pos="927735" algn="l"/>
              </a:tabLst>
            </a:pPr>
            <a:r>
              <a:rPr spc="-5" dirty="0"/>
              <a:t>Normalizing</a:t>
            </a:r>
            <a:r>
              <a:rPr spc="25" dirty="0"/>
              <a:t> </a:t>
            </a:r>
            <a:r>
              <a:rPr spc="-5" dirty="0"/>
              <a:t>of</a:t>
            </a:r>
            <a:r>
              <a:rPr dirty="0"/>
              <a:t> </a:t>
            </a:r>
            <a:r>
              <a:rPr spc="-15" dirty="0"/>
              <a:t>data</a:t>
            </a:r>
            <a:r>
              <a:rPr spc="-5" dirty="0"/>
              <a:t> </a:t>
            </a:r>
            <a:r>
              <a:rPr dirty="0"/>
              <a:t>is</a:t>
            </a:r>
            <a:r>
              <a:rPr spc="5" dirty="0"/>
              <a:t> </a:t>
            </a:r>
            <a:r>
              <a:rPr spc="-5" dirty="0"/>
              <a:t>not</a:t>
            </a:r>
            <a:r>
              <a:rPr spc="10" dirty="0"/>
              <a:t> </a:t>
            </a:r>
            <a:r>
              <a:rPr spc="-10" dirty="0"/>
              <a:t>required</a:t>
            </a:r>
            <a:r>
              <a:rPr spc="15" dirty="0"/>
              <a:t> </a:t>
            </a:r>
            <a:r>
              <a:rPr dirty="0"/>
              <a:t>as</a:t>
            </a:r>
            <a:r>
              <a:rPr spc="5" dirty="0"/>
              <a:t> </a:t>
            </a:r>
            <a:r>
              <a:rPr dirty="0"/>
              <a:t>it</a:t>
            </a:r>
            <a:r>
              <a:rPr spc="5" dirty="0"/>
              <a:t> </a:t>
            </a:r>
            <a:r>
              <a:rPr spc="-5" dirty="0"/>
              <a:t>uses </a:t>
            </a:r>
            <a:r>
              <a:rPr dirty="0"/>
              <a:t>a rule-based</a:t>
            </a:r>
            <a:r>
              <a:rPr spc="20" dirty="0"/>
              <a:t> </a:t>
            </a:r>
            <a:r>
              <a:rPr spc="-10" dirty="0"/>
              <a:t>approach.</a:t>
            </a:r>
          </a:p>
          <a:p>
            <a:pPr marL="628015">
              <a:lnSpc>
                <a:spcPct val="100000"/>
              </a:lnSpc>
              <a:spcBef>
                <a:spcPts val="25"/>
              </a:spcBef>
              <a:buFont typeface="Wingdings"/>
              <a:buChar char=""/>
            </a:pPr>
            <a:endParaRPr sz="1750"/>
          </a:p>
          <a:p>
            <a:pPr marL="902335">
              <a:lnSpc>
                <a:spcPct val="100000"/>
              </a:lnSpc>
            </a:pPr>
            <a:r>
              <a:rPr b="1" spc="-25" dirty="0">
                <a:latin typeface="Calibri"/>
                <a:cs typeface="Calibri"/>
              </a:rPr>
              <a:t>However,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spc="-10" dirty="0"/>
              <a:t>despite</a:t>
            </a:r>
            <a:r>
              <a:rPr spc="-15" dirty="0"/>
              <a:t> </a:t>
            </a:r>
            <a:r>
              <a:rPr dirty="0"/>
              <a:t>these</a:t>
            </a:r>
            <a:r>
              <a:rPr spc="5" dirty="0"/>
              <a:t> </a:t>
            </a:r>
            <a:r>
              <a:rPr spc="-10" dirty="0"/>
              <a:t>advantages,</a:t>
            </a:r>
            <a:r>
              <a:rPr spc="-15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spc="-10" dirty="0"/>
              <a:t>random</a:t>
            </a:r>
            <a:r>
              <a:rPr dirty="0"/>
              <a:t> </a:t>
            </a:r>
            <a:r>
              <a:rPr spc="-15" dirty="0"/>
              <a:t>forest</a:t>
            </a:r>
            <a:r>
              <a:rPr spc="5" dirty="0"/>
              <a:t> </a:t>
            </a:r>
            <a:r>
              <a:rPr spc="-5" dirty="0"/>
              <a:t>algorithm</a:t>
            </a:r>
            <a:r>
              <a:rPr spc="10" dirty="0"/>
              <a:t> </a:t>
            </a:r>
            <a:r>
              <a:rPr dirty="0"/>
              <a:t>also </a:t>
            </a:r>
            <a:r>
              <a:rPr spc="-5" dirty="0"/>
              <a:t>has</a:t>
            </a:r>
            <a:r>
              <a:rPr spc="10" dirty="0"/>
              <a:t> </a:t>
            </a:r>
            <a:r>
              <a:rPr spc="-5" dirty="0"/>
              <a:t>some</a:t>
            </a:r>
            <a:r>
              <a:rPr spc="40" dirty="0"/>
              <a:t> </a:t>
            </a:r>
            <a:r>
              <a:rPr b="1" spc="-10" dirty="0">
                <a:latin typeface="Calibri"/>
                <a:cs typeface="Calibri"/>
              </a:rPr>
              <a:t>disadvantages</a:t>
            </a:r>
            <a:r>
              <a:rPr spc="-10" dirty="0"/>
              <a:t>:</a:t>
            </a:r>
          </a:p>
          <a:p>
            <a:pPr marL="927100" indent="-287020">
              <a:lnSpc>
                <a:spcPct val="100000"/>
              </a:lnSpc>
              <a:buFont typeface="Wingdings"/>
              <a:buChar char=""/>
              <a:tabLst>
                <a:tab pos="927100" algn="l"/>
                <a:tab pos="927735" algn="l"/>
              </a:tabLst>
            </a:pPr>
            <a:r>
              <a:rPr dirty="0"/>
              <a:t>It </a:t>
            </a:r>
            <a:r>
              <a:rPr spc="-10" dirty="0"/>
              <a:t>requires</a:t>
            </a:r>
            <a:r>
              <a:rPr spc="20" dirty="0"/>
              <a:t> </a:t>
            </a:r>
            <a:r>
              <a:rPr spc="-5" dirty="0"/>
              <a:t>much</a:t>
            </a:r>
            <a:r>
              <a:rPr spc="15" dirty="0"/>
              <a:t> </a:t>
            </a:r>
            <a:r>
              <a:rPr spc="-10" dirty="0"/>
              <a:t>computational</a:t>
            </a:r>
            <a:r>
              <a:rPr spc="10" dirty="0"/>
              <a:t> </a:t>
            </a:r>
            <a:r>
              <a:rPr spc="-10" dirty="0"/>
              <a:t>power</a:t>
            </a:r>
            <a:r>
              <a:rPr spc="15" dirty="0"/>
              <a:t> </a:t>
            </a:r>
            <a:r>
              <a:rPr dirty="0"/>
              <a:t>as</a:t>
            </a:r>
            <a:r>
              <a:rPr spc="5" dirty="0"/>
              <a:t> </a:t>
            </a:r>
            <a:r>
              <a:rPr spc="-5" dirty="0"/>
              <a:t>well</a:t>
            </a:r>
            <a:r>
              <a:rPr spc="5" dirty="0"/>
              <a:t> </a:t>
            </a:r>
            <a:r>
              <a:rPr dirty="0"/>
              <a:t>as</a:t>
            </a:r>
            <a:r>
              <a:rPr spc="5" dirty="0"/>
              <a:t> </a:t>
            </a:r>
            <a:r>
              <a:rPr spc="-10" dirty="0"/>
              <a:t>resources</a:t>
            </a:r>
            <a:r>
              <a:rPr spc="10" dirty="0"/>
              <a:t> </a:t>
            </a:r>
            <a:r>
              <a:rPr dirty="0"/>
              <a:t>as</a:t>
            </a:r>
            <a:r>
              <a:rPr spc="-5" dirty="0"/>
              <a:t> it</a:t>
            </a:r>
            <a:r>
              <a:rPr spc="10" dirty="0"/>
              <a:t> </a:t>
            </a:r>
            <a:r>
              <a:rPr spc="-5" dirty="0"/>
              <a:t>builds</a:t>
            </a:r>
            <a:r>
              <a:rPr spc="20" dirty="0"/>
              <a:t> </a:t>
            </a:r>
            <a:r>
              <a:rPr spc="-5" dirty="0"/>
              <a:t>numerous</a:t>
            </a:r>
            <a:r>
              <a:rPr dirty="0"/>
              <a:t> </a:t>
            </a:r>
            <a:r>
              <a:rPr spc="-10" dirty="0"/>
              <a:t>trees</a:t>
            </a:r>
            <a:r>
              <a:rPr spc="-5" dirty="0"/>
              <a:t> </a:t>
            </a:r>
            <a:r>
              <a:rPr spc="-10" dirty="0"/>
              <a:t>to</a:t>
            </a:r>
            <a:r>
              <a:rPr spc="10" dirty="0"/>
              <a:t> </a:t>
            </a:r>
            <a:r>
              <a:rPr spc="-10" dirty="0"/>
              <a:t>combine</a:t>
            </a:r>
            <a:r>
              <a:rPr spc="20" dirty="0"/>
              <a:t> </a:t>
            </a:r>
            <a:r>
              <a:rPr dirty="0"/>
              <a:t>their</a:t>
            </a:r>
            <a:r>
              <a:rPr spc="5" dirty="0"/>
              <a:t> </a:t>
            </a:r>
            <a:r>
              <a:rPr spc="-5" dirty="0"/>
              <a:t>outputs.</a:t>
            </a:r>
          </a:p>
          <a:p>
            <a:pPr marL="927100" indent="-287020">
              <a:lnSpc>
                <a:spcPct val="100000"/>
              </a:lnSpc>
              <a:buFont typeface="Wingdings"/>
              <a:buChar char=""/>
              <a:tabLst>
                <a:tab pos="927100" algn="l"/>
                <a:tab pos="927735" algn="l"/>
              </a:tabLst>
            </a:pPr>
            <a:r>
              <a:rPr dirty="0"/>
              <a:t>It</a:t>
            </a:r>
            <a:r>
              <a:rPr spc="5" dirty="0"/>
              <a:t> </a:t>
            </a:r>
            <a:r>
              <a:rPr spc="-5" dirty="0"/>
              <a:t>also</a:t>
            </a:r>
            <a:r>
              <a:rPr spc="5" dirty="0"/>
              <a:t> </a:t>
            </a:r>
            <a:r>
              <a:rPr spc="-10" dirty="0"/>
              <a:t>requires</a:t>
            </a:r>
            <a:r>
              <a:rPr spc="25" dirty="0"/>
              <a:t> </a:t>
            </a:r>
            <a:r>
              <a:rPr dirty="0"/>
              <a:t>much</a:t>
            </a:r>
            <a:r>
              <a:rPr spc="15" dirty="0"/>
              <a:t> </a:t>
            </a:r>
            <a:r>
              <a:rPr spc="-5" dirty="0"/>
              <a:t>time</a:t>
            </a:r>
            <a:r>
              <a:rPr spc="5" dirty="0"/>
              <a:t> </a:t>
            </a:r>
            <a:r>
              <a:rPr spc="-15" dirty="0"/>
              <a:t>for</a:t>
            </a:r>
            <a:r>
              <a:rPr spc="10" dirty="0"/>
              <a:t> </a:t>
            </a:r>
            <a:r>
              <a:rPr spc="-10" dirty="0"/>
              <a:t>training</a:t>
            </a:r>
            <a:r>
              <a:rPr spc="10" dirty="0"/>
              <a:t> </a:t>
            </a:r>
            <a:r>
              <a:rPr dirty="0"/>
              <a:t>as</a:t>
            </a:r>
            <a:r>
              <a:rPr spc="-5" dirty="0"/>
              <a:t> it</a:t>
            </a:r>
            <a:r>
              <a:rPr spc="15" dirty="0"/>
              <a:t> </a:t>
            </a:r>
            <a:r>
              <a:rPr spc="-10" dirty="0"/>
              <a:t>combines</a:t>
            </a:r>
            <a:r>
              <a:rPr spc="15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spc="-5" dirty="0"/>
              <a:t>lot</a:t>
            </a:r>
            <a:r>
              <a:rPr spc="15" dirty="0"/>
              <a:t> </a:t>
            </a:r>
            <a:r>
              <a:rPr spc="-5" dirty="0"/>
              <a:t>of</a:t>
            </a:r>
            <a:r>
              <a:rPr dirty="0"/>
              <a:t> </a:t>
            </a:r>
            <a:r>
              <a:rPr spc="-5" dirty="0"/>
              <a:t>decision</a:t>
            </a:r>
            <a:r>
              <a:rPr spc="20" dirty="0"/>
              <a:t> </a:t>
            </a:r>
            <a:r>
              <a:rPr spc="-10" dirty="0"/>
              <a:t>trees</a:t>
            </a:r>
            <a:r>
              <a:rPr spc="15" dirty="0"/>
              <a:t> </a:t>
            </a:r>
            <a:r>
              <a:rPr spc="-10" dirty="0"/>
              <a:t>to</a:t>
            </a:r>
            <a:r>
              <a:rPr dirty="0"/>
              <a:t> </a:t>
            </a:r>
            <a:r>
              <a:rPr spc="-10" dirty="0"/>
              <a:t>determine</a:t>
            </a:r>
            <a:r>
              <a:rPr spc="15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spc="-5" dirty="0"/>
              <a:t>class.</a:t>
            </a:r>
          </a:p>
          <a:p>
            <a:pPr marL="927100" marR="5080" indent="-287020">
              <a:lnSpc>
                <a:spcPct val="100000"/>
              </a:lnSpc>
              <a:buFont typeface="Wingdings"/>
              <a:buChar char=""/>
              <a:tabLst>
                <a:tab pos="927100" algn="l"/>
                <a:tab pos="927735" algn="l"/>
              </a:tabLst>
            </a:pPr>
            <a:r>
              <a:rPr spc="-5" dirty="0"/>
              <a:t>Due</a:t>
            </a:r>
            <a:r>
              <a:rPr spc="10" dirty="0"/>
              <a:t> </a:t>
            </a:r>
            <a:r>
              <a:rPr spc="-10" dirty="0"/>
              <a:t>to</a:t>
            </a:r>
            <a:r>
              <a:rPr spc="-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ensemble </a:t>
            </a:r>
            <a:r>
              <a:rPr spc="-5" dirty="0"/>
              <a:t>of</a:t>
            </a:r>
            <a:r>
              <a:rPr dirty="0"/>
              <a:t> </a:t>
            </a:r>
            <a:r>
              <a:rPr spc="-5" dirty="0"/>
              <a:t>decision</a:t>
            </a:r>
            <a:r>
              <a:rPr spc="20" dirty="0"/>
              <a:t> </a:t>
            </a:r>
            <a:r>
              <a:rPr spc="-10" dirty="0"/>
              <a:t>trees,</a:t>
            </a:r>
            <a:r>
              <a:rPr spc="-5" dirty="0"/>
              <a:t> it</a:t>
            </a:r>
            <a:r>
              <a:rPr spc="5" dirty="0"/>
              <a:t> </a:t>
            </a:r>
            <a:r>
              <a:rPr dirty="0"/>
              <a:t>also</a:t>
            </a:r>
            <a:r>
              <a:rPr spc="-5" dirty="0"/>
              <a:t> </a:t>
            </a:r>
            <a:r>
              <a:rPr spc="-15" dirty="0"/>
              <a:t>suffers</a:t>
            </a:r>
            <a:r>
              <a:rPr spc="-10" dirty="0"/>
              <a:t> interpretability</a:t>
            </a:r>
            <a:r>
              <a:rPr spc="30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10" dirty="0"/>
              <a:t>fails</a:t>
            </a:r>
            <a:r>
              <a:rPr spc="15" dirty="0"/>
              <a:t> </a:t>
            </a:r>
            <a:r>
              <a:rPr spc="-10" dirty="0"/>
              <a:t>to</a:t>
            </a:r>
            <a:r>
              <a:rPr spc="-5" dirty="0"/>
              <a:t> determine</a:t>
            </a:r>
            <a:r>
              <a:rPr spc="1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5" dirty="0"/>
              <a:t>significance</a:t>
            </a:r>
            <a:r>
              <a:rPr spc="10" dirty="0"/>
              <a:t> </a:t>
            </a:r>
            <a:r>
              <a:rPr spc="-5" dirty="0"/>
              <a:t>of</a:t>
            </a:r>
            <a:r>
              <a:rPr spc="10" dirty="0"/>
              <a:t> </a:t>
            </a:r>
            <a:r>
              <a:rPr dirty="0"/>
              <a:t>each </a:t>
            </a:r>
            <a:r>
              <a:rPr spc="-395" dirty="0"/>
              <a:t> </a:t>
            </a:r>
            <a:r>
              <a:rPr spc="-5" dirty="0"/>
              <a:t>variable.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8344" y="1655064"/>
            <a:ext cx="5417820" cy="467995"/>
          </a:xfrm>
          <a:prstGeom prst="rect">
            <a:avLst/>
          </a:prstGeom>
          <a:solidFill>
            <a:srgbClr val="EC7C30"/>
          </a:solidFill>
        </p:spPr>
        <p:txBody>
          <a:bodyPr vert="horz" wrap="square" lIns="0" tIns="66040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520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Advantages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Disadvantages</a:t>
            </a:r>
            <a:r>
              <a:rPr sz="2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Random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Forest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497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Random</a:t>
            </a:r>
            <a:r>
              <a:rPr spc="-80" dirty="0"/>
              <a:t> </a:t>
            </a:r>
            <a:r>
              <a:rPr dirty="0"/>
              <a:t>Forest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65503" y="1955292"/>
            <a:ext cx="3644265" cy="467995"/>
          </a:xfrm>
          <a:prstGeom prst="rect">
            <a:avLst/>
          </a:prstGeom>
          <a:solidFill>
            <a:srgbClr val="EC7C30"/>
          </a:solidFill>
        </p:spPr>
        <p:txBody>
          <a:bodyPr vert="horz" wrap="square" lIns="0" tIns="66040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520"/>
              </a:spcBef>
            </a:pP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Applications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Random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Forest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0559" y="2635072"/>
            <a:ext cx="9974580" cy="2495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spc="-10" dirty="0">
                <a:latin typeface="Calibri"/>
                <a:cs typeface="Calibri"/>
              </a:rPr>
              <a:t>Detect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Predict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Drug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Sensitivity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 Medicine</a:t>
            </a:r>
            <a:endParaRPr sz="18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spc="-5" dirty="0">
                <a:latin typeface="Calibri"/>
                <a:cs typeface="Calibri"/>
              </a:rPr>
              <a:t>Identify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Patient’s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Disease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by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Analyzing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their </a:t>
            </a:r>
            <a:r>
              <a:rPr sz="1800" spc="-5" dirty="0">
                <a:latin typeface="Calibri"/>
                <a:cs typeface="Calibri"/>
              </a:rPr>
              <a:t>Medical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Records</a:t>
            </a:r>
            <a:endParaRPr sz="18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spc="-10" dirty="0">
                <a:latin typeface="Calibri"/>
                <a:cs typeface="Calibri"/>
              </a:rPr>
              <a:t>Predict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Estimated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Loss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or </a:t>
            </a:r>
            <a:r>
              <a:rPr sz="1800" spc="-10" dirty="0">
                <a:latin typeface="Calibri"/>
                <a:cs typeface="Calibri"/>
              </a:rPr>
              <a:t>Profit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while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Purchasing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10" dirty="0">
                <a:latin typeface="Calibri"/>
                <a:cs typeface="Calibri"/>
              </a:rPr>
              <a:t>Particular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Stock</a:t>
            </a:r>
            <a:endParaRPr sz="18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spc="-5" dirty="0">
                <a:latin typeface="Calibri"/>
                <a:cs typeface="Calibri"/>
              </a:rPr>
              <a:t>Banking </a:t>
            </a:r>
            <a:r>
              <a:rPr sz="1800" spc="-20" dirty="0">
                <a:latin typeface="Calibri"/>
                <a:cs typeface="Calibri"/>
              </a:rPr>
              <a:t>Industry,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Credit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Card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Fraud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Detection</a:t>
            </a:r>
            <a:endParaRPr sz="18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spc="-10" dirty="0">
                <a:latin typeface="Calibri"/>
                <a:cs typeface="Calibri"/>
              </a:rPr>
              <a:t>Customer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Segmentation,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Predicting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Loan</a:t>
            </a:r>
            <a:endParaRPr sz="18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spc="-10" dirty="0">
                <a:latin typeface="Calibri"/>
                <a:cs typeface="Calibri"/>
              </a:rPr>
              <a:t>Healthcare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Medicine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Cardiovascular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Disease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Prediction</a:t>
            </a:r>
            <a:endParaRPr sz="18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spc="-10" dirty="0">
                <a:latin typeface="Calibri"/>
                <a:cs typeface="Calibri"/>
              </a:rPr>
              <a:t>Diabetes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Prediction,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Breast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Cancer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Prediction</a:t>
            </a:r>
            <a:endParaRPr sz="18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spc="-10" dirty="0">
                <a:latin typeface="Calibri"/>
                <a:cs typeface="Calibri"/>
              </a:rPr>
              <a:t>Stock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Market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Prediction,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Stock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Market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Sentiment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Analysis,</a:t>
            </a:r>
            <a:r>
              <a:rPr sz="1800" spc="-10" dirty="0">
                <a:latin typeface="Calibri"/>
                <a:cs typeface="Calibri"/>
              </a:rPr>
              <a:t> Bitcoin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Price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Detection,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E-Commerce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Product</a:t>
            </a:r>
            <a:endParaRPr sz="18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spc="-10" dirty="0">
                <a:latin typeface="Calibri"/>
                <a:cs typeface="Calibri"/>
              </a:rPr>
              <a:t>Recommendation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Price,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Optimization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Search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Ranking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53083" y="2547620"/>
            <a:ext cx="979805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random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forest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Collection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Decision </a:t>
            </a:r>
            <a:r>
              <a:rPr sz="1800" b="1" spc="-25" dirty="0">
                <a:latin typeface="Calibri"/>
                <a:cs typeface="Calibri"/>
              </a:rPr>
              <a:t>Trees</a:t>
            </a:r>
            <a:r>
              <a:rPr sz="1800" spc="-25" dirty="0">
                <a:latin typeface="Calibri"/>
                <a:cs typeface="Calibri"/>
              </a:rPr>
              <a:t>, </a:t>
            </a:r>
            <a:r>
              <a:rPr sz="1800" spc="-10" dirty="0">
                <a:latin typeface="Calibri"/>
                <a:cs typeface="Calibri"/>
              </a:rPr>
              <a:t>Each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Tree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independently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makes</a:t>
            </a:r>
            <a:r>
              <a:rPr sz="1800" dirty="0">
                <a:latin typeface="Calibri"/>
                <a:cs typeface="Calibri"/>
              </a:rPr>
              <a:t> a </a:t>
            </a:r>
            <a:r>
              <a:rPr sz="1800" spc="-10" dirty="0">
                <a:latin typeface="Calibri"/>
                <a:cs typeface="Calibri"/>
              </a:rPr>
              <a:t>prediction,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values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dirty="0">
                <a:latin typeface="Calibri"/>
                <a:cs typeface="Calibri"/>
              </a:rPr>
              <a:t> then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averaged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(Regression)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/</a:t>
            </a:r>
            <a:r>
              <a:rPr sz="1800" spc="-5" dirty="0">
                <a:latin typeface="Calibri"/>
                <a:cs typeface="Calibri"/>
              </a:rPr>
              <a:t> Max </a:t>
            </a:r>
            <a:r>
              <a:rPr sz="1800" spc="-10" dirty="0">
                <a:latin typeface="Calibri"/>
                <a:cs typeface="Calibri"/>
              </a:rPr>
              <a:t>voted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(Classification)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5" dirty="0">
                <a:latin typeface="Calibri"/>
                <a:cs typeface="Calibri"/>
              </a:rPr>
              <a:t> arrive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final</a:t>
            </a:r>
            <a:r>
              <a:rPr sz="1800" b="1" dirty="0">
                <a:latin typeface="Calibri"/>
                <a:cs typeface="Calibri"/>
              </a:rPr>
              <a:t> output</a:t>
            </a:r>
            <a:r>
              <a:rPr sz="180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So,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we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have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to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learn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decision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tree</a:t>
            </a:r>
            <a:r>
              <a:rPr sz="1800" b="1" spc="-15" dirty="0">
                <a:latin typeface="Calibri"/>
                <a:cs typeface="Calibri"/>
              </a:rPr>
              <a:t> first.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497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Random</a:t>
            </a:r>
            <a:r>
              <a:rPr spc="-80" dirty="0"/>
              <a:t> </a:t>
            </a:r>
            <a:r>
              <a:rPr dirty="0"/>
              <a:t>Forest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36567" y="751459"/>
            <a:ext cx="3559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All</a:t>
            </a:r>
            <a:r>
              <a:rPr spc="-10" dirty="0"/>
              <a:t> </a:t>
            </a:r>
            <a:r>
              <a:rPr dirty="0"/>
              <a:t>about</a:t>
            </a:r>
            <a:r>
              <a:rPr spc="-20" dirty="0"/>
              <a:t> </a:t>
            </a:r>
            <a:r>
              <a:rPr spc="-10" dirty="0"/>
              <a:t>Decision</a:t>
            </a:r>
            <a:r>
              <a:rPr spc="-25" dirty="0"/>
              <a:t> </a:t>
            </a:r>
            <a:r>
              <a:rPr dirty="0"/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2596" y="2212975"/>
            <a:ext cx="9777730" cy="2903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 </a:t>
            </a:r>
            <a:r>
              <a:rPr sz="1800" spc="-5" dirty="0">
                <a:latin typeface="Calibri"/>
                <a:cs typeface="Calibri"/>
              </a:rPr>
              <a:t>decision </a:t>
            </a:r>
            <a:r>
              <a:rPr sz="1800" spc="-10" dirty="0">
                <a:latin typeface="Calibri"/>
                <a:cs typeface="Calibri"/>
              </a:rPr>
              <a:t>tree </a:t>
            </a:r>
            <a:r>
              <a:rPr sz="1800" spc="-5" dirty="0">
                <a:latin typeface="Calibri"/>
                <a:cs typeface="Calibri"/>
              </a:rPr>
              <a:t>is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5" dirty="0">
                <a:latin typeface="Calibri"/>
                <a:cs typeface="Calibri"/>
              </a:rPr>
              <a:t>very specific </a:t>
            </a:r>
            <a:r>
              <a:rPr sz="1800" dirty="0">
                <a:latin typeface="Calibri"/>
                <a:cs typeface="Calibri"/>
              </a:rPr>
              <a:t>type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b="1" spc="-5" dirty="0">
                <a:latin typeface="Calibri"/>
                <a:cs typeface="Calibri"/>
              </a:rPr>
              <a:t>probability </a:t>
            </a:r>
            <a:r>
              <a:rPr sz="1800" b="1" spc="-10" dirty="0">
                <a:latin typeface="Calibri"/>
                <a:cs typeface="Calibri"/>
              </a:rPr>
              <a:t>tree </a:t>
            </a:r>
            <a:r>
              <a:rPr sz="1800" spc="-5" dirty="0">
                <a:latin typeface="Calibri"/>
                <a:cs typeface="Calibri"/>
              </a:rPr>
              <a:t>that enables </a:t>
            </a:r>
            <a:r>
              <a:rPr sz="1800" spc="-10" dirty="0">
                <a:latin typeface="Calibri"/>
                <a:cs typeface="Calibri"/>
              </a:rPr>
              <a:t>you to </a:t>
            </a:r>
            <a:r>
              <a:rPr sz="1800" spc="-15" dirty="0">
                <a:latin typeface="Calibri"/>
                <a:cs typeface="Calibri"/>
              </a:rPr>
              <a:t>make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5" dirty="0">
                <a:latin typeface="Calibri"/>
                <a:cs typeface="Calibri"/>
              </a:rPr>
              <a:t>decision </a:t>
            </a:r>
            <a:r>
              <a:rPr sz="1800" dirty="0">
                <a:latin typeface="Calibri"/>
                <a:cs typeface="Calibri"/>
              </a:rPr>
              <a:t>about </a:t>
            </a:r>
            <a:r>
              <a:rPr sz="1800" spc="-5" dirty="0">
                <a:latin typeface="Calibri"/>
                <a:cs typeface="Calibri"/>
              </a:rPr>
              <a:t>some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kind of </a:t>
            </a:r>
            <a:r>
              <a:rPr sz="1800" spc="-10" dirty="0">
                <a:latin typeface="Calibri"/>
                <a:cs typeface="Calibri"/>
              </a:rPr>
              <a:t>process. </a:t>
            </a:r>
            <a:r>
              <a:rPr sz="1800" dirty="0">
                <a:latin typeface="Calibri"/>
                <a:cs typeface="Calibri"/>
              </a:rPr>
              <a:t>It is </a:t>
            </a:r>
            <a:r>
              <a:rPr sz="1800" spc="-5" dirty="0">
                <a:latin typeface="Calibri"/>
                <a:cs typeface="Calibri"/>
              </a:rPr>
              <a:t>used </a:t>
            </a:r>
            <a:r>
              <a:rPr sz="1800" spc="-10" dirty="0">
                <a:latin typeface="Calibri"/>
                <a:cs typeface="Calibri"/>
              </a:rPr>
              <a:t>to break </a:t>
            </a:r>
            <a:r>
              <a:rPr sz="1800" spc="-5" dirty="0">
                <a:latin typeface="Calibri"/>
                <a:cs typeface="Calibri"/>
              </a:rPr>
              <a:t>down </a:t>
            </a:r>
            <a:r>
              <a:rPr sz="1800" spc="-10" dirty="0">
                <a:latin typeface="Calibri"/>
                <a:cs typeface="Calibri"/>
              </a:rPr>
              <a:t>complex problems </a:t>
            </a:r>
            <a:r>
              <a:rPr sz="1800" spc="-5" dirty="0">
                <a:latin typeface="Calibri"/>
                <a:cs typeface="Calibri"/>
              </a:rPr>
              <a:t>or </a:t>
            </a:r>
            <a:r>
              <a:rPr sz="1800" spc="-10" dirty="0">
                <a:latin typeface="Calibri"/>
                <a:cs typeface="Calibri"/>
              </a:rPr>
              <a:t>branches. </a:t>
            </a:r>
            <a:r>
              <a:rPr sz="1800" b="1" spc="-10" dirty="0">
                <a:latin typeface="Calibri"/>
                <a:cs typeface="Calibri"/>
              </a:rPr>
              <a:t>Each branch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decision </a:t>
            </a:r>
            <a:r>
              <a:rPr sz="1800" spc="-10" dirty="0">
                <a:latin typeface="Calibri"/>
                <a:cs typeface="Calibri"/>
              </a:rPr>
              <a:t>tree 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could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</a:t>
            </a:r>
            <a:r>
              <a:rPr sz="1800" dirty="0">
                <a:latin typeface="Calibri"/>
                <a:cs typeface="Calibri"/>
              </a:rPr>
              <a:t> a</a:t>
            </a:r>
            <a:r>
              <a:rPr sz="1800" spc="-5" dirty="0">
                <a:latin typeface="Calibri"/>
                <a:cs typeface="Calibri"/>
              </a:rPr>
              <a:t> possible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outcome.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600">
              <a:latin typeface="Calibri"/>
              <a:cs typeface="Calibri"/>
            </a:endParaRPr>
          </a:p>
          <a:p>
            <a:pPr marL="3773804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Features:</a:t>
            </a:r>
            <a:endParaRPr sz="1800">
              <a:latin typeface="Calibri"/>
              <a:cs typeface="Calibri"/>
            </a:endParaRPr>
          </a:p>
          <a:p>
            <a:pPr marL="4060190" indent="-287020">
              <a:lnSpc>
                <a:spcPct val="100000"/>
              </a:lnSpc>
              <a:buFont typeface="Wingdings"/>
              <a:buChar char=""/>
              <a:tabLst>
                <a:tab pos="4060190" algn="l"/>
                <a:tab pos="4060825" algn="l"/>
              </a:tabLst>
            </a:pPr>
            <a:r>
              <a:rPr sz="1800" spc="-5" dirty="0">
                <a:latin typeface="Calibri"/>
                <a:cs typeface="Calibri"/>
              </a:rPr>
              <a:t>Supervised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Algorithm</a:t>
            </a:r>
            <a:endParaRPr sz="1800">
              <a:latin typeface="Calibri"/>
              <a:cs typeface="Calibri"/>
            </a:endParaRPr>
          </a:p>
          <a:p>
            <a:pPr marL="4060190" marR="1848485" indent="-287020">
              <a:lnSpc>
                <a:spcPct val="100000"/>
              </a:lnSpc>
              <a:buFont typeface="Wingdings"/>
              <a:buChar char=""/>
              <a:tabLst>
                <a:tab pos="4060190" algn="l"/>
                <a:tab pos="4060825" algn="l"/>
              </a:tabLst>
            </a:pPr>
            <a:r>
              <a:rPr sz="1800" dirty="0">
                <a:latin typeface="Calibri"/>
                <a:cs typeface="Calibri"/>
              </a:rPr>
              <a:t>Use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Solve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Classification</a:t>
            </a:r>
            <a:r>
              <a:rPr sz="1800" spc="-5" dirty="0">
                <a:latin typeface="Calibri"/>
                <a:cs typeface="Calibri"/>
              </a:rPr>
              <a:t> and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Regression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Problems</a:t>
            </a:r>
            <a:endParaRPr sz="1800">
              <a:latin typeface="Calibri"/>
              <a:cs typeface="Calibri"/>
            </a:endParaRPr>
          </a:p>
          <a:p>
            <a:pPr marL="4060190" indent="-28702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4060190" algn="l"/>
                <a:tab pos="4060825" algn="l"/>
              </a:tabLst>
            </a:pPr>
            <a:r>
              <a:rPr sz="1800" spc="-10" dirty="0">
                <a:latin typeface="Calibri"/>
                <a:cs typeface="Calibri"/>
              </a:rPr>
              <a:t>Probability </a:t>
            </a:r>
            <a:r>
              <a:rPr sz="1800" dirty="0">
                <a:latin typeface="Calibri"/>
                <a:cs typeface="Calibri"/>
              </a:rPr>
              <a:t>Based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Algorithm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36567" y="751459"/>
            <a:ext cx="3559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Segoe Print"/>
                <a:cs typeface="Segoe Print"/>
              </a:rPr>
              <a:t>All</a:t>
            </a:r>
            <a:r>
              <a:rPr sz="2400" b="1" spc="-10" dirty="0">
                <a:latin typeface="Segoe Print"/>
                <a:cs typeface="Segoe Print"/>
              </a:rPr>
              <a:t> </a:t>
            </a:r>
            <a:r>
              <a:rPr sz="2400" b="1" dirty="0">
                <a:latin typeface="Segoe Print"/>
                <a:cs typeface="Segoe Print"/>
              </a:rPr>
              <a:t>about</a:t>
            </a:r>
            <a:r>
              <a:rPr sz="2400" b="1" spc="-20" dirty="0">
                <a:latin typeface="Segoe Print"/>
                <a:cs typeface="Segoe Print"/>
              </a:rPr>
              <a:t> </a:t>
            </a:r>
            <a:r>
              <a:rPr sz="2400" b="1" spc="-10" dirty="0">
                <a:latin typeface="Segoe Print"/>
                <a:cs typeface="Segoe Print"/>
              </a:rPr>
              <a:t>Decision</a:t>
            </a:r>
            <a:r>
              <a:rPr sz="2400" b="1" spc="-25" dirty="0">
                <a:latin typeface="Segoe Print"/>
                <a:cs typeface="Segoe Print"/>
              </a:rPr>
              <a:t> </a:t>
            </a:r>
            <a:r>
              <a:rPr sz="2400" b="1" dirty="0">
                <a:latin typeface="Segoe Print"/>
                <a:cs typeface="Segoe Print"/>
              </a:rPr>
              <a:t>Tree</a:t>
            </a:r>
            <a:endParaRPr sz="2400">
              <a:latin typeface="Segoe Print"/>
              <a:cs typeface="Segoe Prin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10547" y="2036000"/>
            <a:ext cx="9761855" cy="4294505"/>
            <a:chOff x="1310547" y="2036000"/>
            <a:chExt cx="9761855" cy="42945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0547" y="2036000"/>
              <a:ext cx="9761450" cy="41728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200387" y="2177796"/>
              <a:ext cx="1755139" cy="76200"/>
            </a:xfrm>
            <a:custGeom>
              <a:avLst/>
              <a:gdLst/>
              <a:ahLst/>
              <a:cxnLst/>
              <a:rect l="l" t="t" r="r" b="b"/>
              <a:pathLst>
                <a:path w="175514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1755140" h="76200">
                  <a:moveTo>
                    <a:pt x="1678939" y="0"/>
                  </a:moveTo>
                  <a:lnTo>
                    <a:pt x="1678939" y="76200"/>
                  </a:lnTo>
                  <a:lnTo>
                    <a:pt x="1742439" y="44450"/>
                  </a:lnTo>
                  <a:lnTo>
                    <a:pt x="1691639" y="44450"/>
                  </a:lnTo>
                  <a:lnTo>
                    <a:pt x="1691639" y="31750"/>
                  </a:lnTo>
                  <a:lnTo>
                    <a:pt x="1742439" y="31750"/>
                  </a:lnTo>
                  <a:lnTo>
                    <a:pt x="1678939" y="0"/>
                  </a:lnTo>
                  <a:close/>
                </a:path>
                <a:path w="1755140" h="7620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1755140" h="76200">
                  <a:moveTo>
                    <a:pt x="1678939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1678939" y="44450"/>
                  </a:lnTo>
                  <a:lnTo>
                    <a:pt x="1678939" y="31750"/>
                  </a:lnTo>
                  <a:close/>
                </a:path>
                <a:path w="1755140" h="76200">
                  <a:moveTo>
                    <a:pt x="1742439" y="31750"/>
                  </a:moveTo>
                  <a:lnTo>
                    <a:pt x="1691639" y="31750"/>
                  </a:lnTo>
                  <a:lnTo>
                    <a:pt x="1691639" y="44450"/>
                  </a:lnTo>
                  <a:lnTo>
                    <a:pt x="1742439" y="44450"/>
                  </a:lnTo>
                  <a:lnTo>
                    <a:pt x="1755139" y="38100"/>
                  </a:lnTo>
                  <a:lnTo>
                    <a:pt x="1742439" y="3175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084563" y="2363724"/>
              <a:ext cx="1969135" cy="3966845"/>
            </a:xfrm>
            <a:custGeom>
              <a:avLst/>
              <a:gdLst/>
              <a:ahLst/>
              <a:cxnLst/>
              <a:rect l="l" t="t" r="r" b="b"/>
              <a:pathLst>
                <a:path w="1969134" h="3966845">
                  <a:moveTo>
                    <a:pt x="0" y="97536"/>
                  </a:moveTo>
                  <a:lnTo>
                    <a:pt x="0" y="3839540"/>
                  </a:lnTo>
                </a:path>
                <a:path w="1969134" h="3966845">
                  <a:moveTo>
                    <a:pt x="1969007" y="0"/>
                  </a:moveTo>
                  <a:lnTo>
                    <a:pt x="1969007" y="3966679"/>
                  </a:lnTo>
                </a:path>
              </a:pathLst>
            </a:custGeom>
            <a:ln w="6096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811639" y="1878838"/>
            <a:ext cx="4883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C</a:t>
            </a:r>
            <a:r>
              <a:rPr sz="1800" spc="-10" dirty="0">
                <a:latin typeface="Calibri"/>
                <a:cs typeface="Calibri"/>
              </a:rPr>
              <a:t>l</a:t>
            </a:r>
            <a:r>
              <a:rPr sz="1800" dirty="0">
                <a:latin typeface="Calibri"/>
                <a:cs typeface="Calibri"/>
              </a:rPr>
              <a:t>ass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93064" y="4846771"/>
            <a:ext cx="2799350" cy="45990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5235" y="4262628"/>
            <a:ext cx="2951914" cy="25908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60002" y="3286658"/>
            <a:ext cx="2218926" cy="56967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036567" y="751459"/>
            <a:ext cx="3559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All</a:t>
            </a:r>
            <a:r>
              <a:rPr spc="-10" dirty="0"/>
              <a:t> </a:t>
            </a:r>
            <a:r>
              <a:rPr dirty="0"/>
              <a:t>about</a:t>
            </a:r>
            <a:r>
              <a:rPr spc="-20" dirty="0"/>
              <a:t> </a:t>
            </a:r>
            <a:r>
              <a:rPr spc="-10" dirty="0"/>
              <a:t>Decision</a:t>
            </a:r>
            <a:r>
              <a:rPr spc="-25" dirty="0"/>
              <a:t> </a:t>
            </a:r>
            <a:r>
              <a:rPr dirty="0"/>
              <a:t>Tree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555235" y="2535935"/>
            <a:ext cx="2284730" cy="396240"/>
          </a:xfrm>
          <a:prstGeom prst="rect">
            <a:avLst/>
          </a:prstGeom>
          <a:solidFill>
            <a:srgbClr val="4471C4"/>
          </a:solidFill>
          <a:ln w="12192">
            <a:solidFill>
              <a:srgbClr val="2E528F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 marL="238760">
              <a:lnSpc>
                <a:spcPct val="100000"/>
              </a:lnSpc>
              <a:spcBef>
                <a:spcPts val="365"/>
              </a:spcBef>
            </a:pP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Required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Equations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6209" y="540765"/>
            <a:ext cx="3559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All</a:t>
            </a:r>
            <a:r>
              <a:rPr spc="-10" dirty="0"/>
              <a:t> </a:t>
            </a:r>
            <a:r>
              <a:rPr dirty="0"/>
              <a:t>about</a:t>
            </a:r>
            <a:r>
              <a:rPr spc="-20" dirty="0"/>
              <a:t> </a:t>
            </a:r>
            <a:r>
              <a:rPr spc="-10" dirty="0"/>
              <a:t>Decision</a:t>
            </a:r>
            <a:r>
              <a:rPr spc="-25" dirty="0"/>
              <a:t> </a:t>
            </a:r>
            <a:r>
              <a:rPr dirty="0"/>
              <a:t>Tree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5266" y="2075151"/>
            <a:ext cx="3345709" cy="124332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25924" y="3585560"/>
            <a:ext cx="4155342" cy="217880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757161" y="3045409"/>
            <a:ext cx="258381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Entropy</a:t>
            </a:r>
            <a:r>
              <a:rPr sz="20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0000"/>
                </a:solidFill>
                <a:latin typeface="Calibri"/>
                <a:cs typeface="Calibri"/>
              </a:rPr>
              <a:t>Before</a:t>
            </a:r>
            <a:r>
              <a:rPr sz="20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Partition: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04983" y="4376318"/>
            <a:ext cx="2219723" cy="56967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777745" y="5392623"/>
            <a:ext cx="2287270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/>
                <a:cs typeface="Calibri"/>
              </a:rPr>
              <a:t>E(Y) </a:t>
            </a:r>
            <a:r>
              <a:rPr sz="1400" dirty="0">
                <a:latin typeface="Calibri"/>
                <a:cs typeface="Calibri"/>
              </a:rPr>
              <a:t>= </a:t>
            </a:r>
            <a:r>
              <a:rPr sz="1400" spc="-10" dirty="0">
                <a:latin typeface="Calibri"/>
                <a:cs typeface="Calibri"/>
              </a:rPr>
              <a:t>Entropy Before </a:t>
            </a:r>
            <a:r>
              <a:rPr sz="1400" spc="-5" dirty="0">
                <a:latin typeface="Calibri"/>
                <a:cs typeface="Calibri"/>
              </a:rPr>
              <a:t>Partition 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E(Y|X) </a:t>
            </a:r>
            <a:r>
              <a:rPr sz="1400" dirty="0">
                <a:latin typeface="Calibri"/>
                <a:cs typeface="Calibri"/>
              </a:rPr>
              <a:t>= </a:t>
            </a:r>
            <a:r>
              <a:rPr sz="1400" spc="-10" dirty="0">
                <a:latin typeface="Calibri"/>
                <a:cs typeface="Calibri"/>
              </a:rPr>
              <a:t>Entropy </a:t>
            </a:r>
            <a:r>
              <a:rPr sz="1400" spc="-5" dirty="0">
                <a:latin typeface="Calibri"/>
                <a:cs typeface="Calibri"/>
              </a:rPr>
              <a:t>After Partition </a:t>
            </a:r>
            <a:r>
              <a:rPr sz="1400" spc="-30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Target,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Calibri"/>
                <a:cs typeface="Calibri"/>
              </a:rPr>
              <a:t>E(Y)</a:t>
            </a:r>
            <a:r>
              <a:rPr sz="14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Calibri"/>
                <a:cs typeface="Calibri"/>
              </a:rPr>
              <a:t>&gt;&gt;</a:t>
            </a:r>
            <a:r>
              <a:rPr sz="14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Calibri"/>
                <a:cs typeface="Calibri"/>
              </a:rPr>
              <a:t>E(Y|X)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6209" y="540765"/>
            <a:ext cx="3559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All</a:t>
            </a:r>
            <a:r>
              <a:rPr spc="-10" dirty="0"/>
              <a:t> </a:t>
            </a:r>
            <a:r>
              <a:rPr dirty="0"/>
              <a:t>about</a:t>
            </a:r>
            <a:r>
              <a:rPr spc="-20" dirty="0"/>
              <a:t> </a:t>
            </a:r>
            <a:r>
              <a:rPr spc="-10" dirty="0"/>
              <a:t>Decision</a:t>
            </a:r>
            <a:r>
              <a:rPr spc="-25" dirty="0"/>
              <a:t> </a:t>
            </a:r>
            <a:r>
              <a:rPr dirty="0"/>
              <a:t>Tree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638" y="1637690"/>
            <a:ext cx="2222015" cy="56967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7976" y="2353254"/>
            <a:ext cx="3690411" cy="392767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927018" y="2013140"/>
            <a:ext cx="6832600" cy="4177665"/>
            <a:chOff x="4927018" y="2013140"/>
            <a:chExt cx="6832600" cy="417766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27018" y="2013140"/>
              <a:ext cx="6832276" cy="417286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288786" y="2286761"/>
              <a:ext cx="1393190" cy="0"/>
            </a:xfrm>
            <a:custGeom>
              <a:avLst/>
              <a:gdLst/>
              <a:ahLst/>
              <a:cxnLst/>
              <a:rect l="l" t="t" r="r" b="b"/>
              <a:pathLst>
                <a:path w="1393190">
                  <a:moveTo>
                    <a:pt x="0" y="0"/>
                  </a:moveTo>
                  <a:lnTo>
                    <a:pt x="1392682" y="0"/>
                  </a:lnTo>
                </a:path>
              </a:pathLst>
            </a:custGeom>
            <a:ln w="19812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288786" y="2286761"/>
              <a:ext cx="0" cy="3903979"/>
            </a:xfrm>
            <a:custGeom>
              <a:avLst/>
              <a:gdLst/>
              <a:ahLst/>
              <a:cxnLst/>
              <a:rect l="l" t="t" r="r" b="b"/>
              <a:pathLst>
                <a:path h="3903979">
                  <a:moveTo>
                    <a:pt x="0" y="3903624"/>
                  </a:moveTo>
                  <a:lnTo>
                    <a:pt x="0" y="0"/>
                  </a:lnTo>
                </a:path>
              </a:pathLst>
            </a:custGeom>
            <a:ln w="19812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664958" y="2286761"/>
              <a:ext cx="0" cy="3903979"/>
            </a:xfrm>
            <a:custGeom>
              <a:avLst/>
              <a:gdLst/>
              <a:ahLst/>
              <a:cxnLst/>
              <a:rect l="l" t="t" r="r" b="b"/>
              <a:pathLst>
                <a:path h="3903979">
                  <a:moveTo>
                    <a:pt x="0" y="3903624"/>
                  </a:moveTo>
                  <a:lnTo>
                    <a:pt x="0" y="0"/>
                  </a:lnTo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288024" y="2247900"/>
              <a:ext cx="1376680" cy="76200"/>
            </a:xfrm>
            <a:custGeom>
              <a:avLst/>
              <a:gdLst/>
              <a:ahLst/>
              <a:cxnLst/>
              <a:rect l="l" t="t" r="r" b="b"/>
              <a:pathLst>
                <a:path w="1376679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1376679" h="76200">
                  <a:moveTo>
                    <a:pt x="1300099" y="0"/>
                  </a:moveTo>
                  <a:lnTo>
                    <a:pt x="1300099" y="76200"/>
                  </a:lnTo>
                  <a:lnTo>
                    <a:pt x="1363599" y="44450"/>
                  </a:lnTo>
                  <a:lnTo>
                    <a:pt x="1312799" y="44450"/>
                  </a:lnTo>
                  <a:lnTo>
                    <a:pt x="1312799" y="31750"/>
                  </a:lnTo>
                  <a:lnTo>
                    <a:pt x="1363599" y="31750"/>
                  </a:lnTo>
                  <a:lnTo>
                    <a:pt x="1300099" y="0"/>
                  </a:lnTo>
                  <a:close/>
                </a:path>
                <a:path w="1376679" h="7620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1376679" h="76200">
                  <a:moveTo>
                    <a:pt x="1300099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1300099" y="44450"/>
                  </a:lnTo>
                  <a:lnTo>
                    <a:pt x="1300099" y="31750"/>
                  </a:lnTo>
                  <a:close/>
                </a:path>
                <a:path w="1376679" h="76200">
                  <a:moveTo>
                    <a:pt x="1363599" y="31750"/>
                  </a:moveTo>
                  <a:lnTo>
                    <a:pt x="1312799" y="31750"/>
                  </a:lnTo>
                  <a:lnTo>
                    <a:pt x="1312799" y="44450"/>
                  </a:lnTo>
                  <a:lnTo>
                    <a:pt x="1363599" y="44450"/>
                  </a:lnTo>
                  <a:lnTo>
                    <a:pt x="1376299" y="38100"/>
                  </a:lnTo>
                  <a:lnTo>
                    <a:pt x="1363599" y="3175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638" y="1637690"/>
            <a:ext cx="2222015" cy="56967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27018" y="2013140"/>
            <a:ext cx="6832276" cy="41728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0036" y="2511507"/>
            <a:ext cx="3381755" cy="370694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7636764" y="2247900"/>
            <a:ext cx="1376680" cy="76200"/>
          </a:xfrm>
          <a:custGeom>
            <a:avLst/>
            <a:gdLst/>
            <a:ahLst/>
            <a:cxnLst/>
            <a:rect l="l" t="t" r="r" b="b"/>
            <a:pathLst>
              <a:path w="1376679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376679" h="76200">
                <a:moveTo>
                  <a:pt x="1300099" y="0"/>
                </a:moveTo>
                <a:lnTo>
                  <a:pt x="1300099" y="76200"/>
                </a:lnTo>
                <a:lnTo>
                  <a:pt x="1363599" y="44450"/>
                </a:lnTo>
                <a:lnTo>
                  <a:pt x="1312799" y="44450"/>
                </a:lnTo>
                <a:lnTo>
                  <a:pt x="1312799" y="31750"/>
                </a:lnTo>
                <a:lnTo>
                  <a:pt x="1363599" y="31750"/>
                </a:lnTo>
                <a:lnTo>
                  <a:pt x="1300099" y="0"/>
                </a:lnTo>
                <a:close/>
              </a:path>
              <a:path w="1376679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376679" h="76200">
                <a:moveTo>
                  <a:pt x="1300099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300099" y="44450"/>
                </a:lnTo>
                <a:lnTo>
                  <a:pt x="1300099" y="31750"/>
                </a:lnTo>
                <a:close/>
              </a:path>
              <a:path w="1376679" h="76200">
                <a:moveTo>
                  <a:pt x="1363599" y="31750"/>
                </a:moveTo>
                <a:lnTo>
                  <a:pt x="1312799" y="31750"/>
                </a:lnTo>
                <a:lnTo>
                  <a:pt x="1312799" y="44450"/>
                </a:lnTo>
                <a:lnTo>
                  <a:pt x="1363599" y="44450"/>
                </a:lnTo>
                <a:lnTo>
                  <a:pt x="1376299" y="38100"/>
                </a:lnTo>
                <a:lnTo>
                  <a:pt x="1363599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66209" y="540765"/>
            <a:ext cx="3559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All</a:t>
            </a:r>
            <a:r>
              <a:rPr spc="-10" dirty="0"/>
              <a:t> </a:t>
            </a:r>
            <a:r>
              <a:rPr dirty="0"/>
              <a:t>about</a:t>
            </a:r>
            <a:r>
              <a:rPr spc="-20" dirty="0"/>
              <a:t> </a:t>
            </a:r>
            <a:r>
              <a:rPr spc="-10" dirty="0"/>
              <a:t>Decision</a:t>
            </a:r>
            <a:r>
              <a:rPr spc="-25" dirty="0"/>
              <a:t> </a:t>
            </a:r>
            <a:r>
              <a:rPr dirty="0"/>
              <a:t>Tree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638" y="1637690"/>
            <a:ext cx="2222015" cy="56967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27018" y="2013140"/>
            <a:ext cx="6832276" cy="41728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1623" y="2471736"/>
            <a:ext cx="3475718" cy="36249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014459" y="2220467"/>
            <a:ext cx="1376680" cy="76200"/>
          </a:xfrm>
          <a:custGeom>
            <a:avLst/>
            <a:gdLst/>
            <a:ahLst/>
            <a:cxnLst/>
            <a:rect l="l" t="t" r="r" b="b"/>
            <a:pathLst>
              <a:path w="1376679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376679" h="76200">
                <a:moveTo>
                  <a:pt x="1300099" y="0"/>
                </a:moveTo>
                <a:lnTo>
                  <a:pt x="1300099" y="76200"/>
                </a:lnTo>
                <a:lnTo>
                  <a:pt x="1363599" y="44450"/>
                </a:lnTo>
                <a:lnTo>
                  <a:pt x="1312799" y="44450"/>
                </a:lnTo>
                <a:lnTo>
                  <a:pt x="1312799" y="31750"/>
                </a:lnTo>
                <a:lnTo>
                  <a:pt x="1363599" y="31750"/>
                </a:lnTo>
                <a:lnTo>
                  <a:pt x="1300099" y="0"/>
                </a:lnTo>
                <a:close/>
              </a:path>
              <a:path w="1376679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376679" h="76200">
                <a:moveTo>
                  <a:pt x="1300099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300099" y="44450"/>
                </a:lnTo>
                <a:lnTo>
                  <a:pt x="1300099" y="31750"/>
                </a:lnTo>
                <a:close/>
              </a:path>
              <a:path w="1376679" h="76200">
                <a:moveTo>
                  <a:pt x="1363599" y="31750"/>
                </a:moveTo>
                <a:lnTo>
                  <a:pt x="1312799" y="31750"/>
                </a:lnTo>
                <a:lnTo>
                  <a:pt x="1312799" y="44450"/>
                </a:lnTo>
                <a:lnTo>
                  <a:pt x="1363599" y="44450"/>
                </a:lnTo>
                <a:lnTo>
                  <a:pt x="1376299" y="38100"/>
                </a:lnTo>
                <a:lnTo>
                  <a:pt x="1363599" y="317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66209" y="540765"/>
            <a:ext cx="3559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All</a:t>
            </a:r>
            <a:r>
              <a:rPr spc="-10" dirty="0"/>
              <a:t> </a:t>
            </a:r>
            <a:r>
              <a:rPr dirty="0"/>
              <a:t>about</a:t>
            </a:r>
            <a:r>
              <a:rPr spc="-20" dirty="0"/>
              <a:t> </a:t>
            </a:r>
            <a:r>
              <a:rPr spc="-10" dirty="0"/>
              <a:t>Decision</a:t>
            </a:r>
            <a:r>
              <a:rPr spc="-25" dirty="0"/>
              <a:t> </a:t>
            </a:r>
            <a:r>
              <a:rPr dirty="0"/>
              <a:t>Tree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6833" y="1178052"/>
            <a:ext cx="10793095" cy="5466715"/>
            <a:chOff x="696833" y="1178052"/>
            <a:chExt cx="10793095" cy="5466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6833" y="1606268"/>
              <a:ext cx="10793037" cy="50383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7363" y="1178052"/>
              <a:ext cx="2185416" cy="82448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66209" y="540765"/>
            <a:ext cx="3559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All</a:t>
            </a:r>
            <a:r>
              <a:rPr spc="-10" dirty="0"/>
              <a:t> </a:t>
            </a:r>
            <a:r>
              <a:rPr dirty="0"/>
              <a:t>about</a:t>
            </a:r>
            <a:r>
              <a:rPr spc="-20" dirty="0"/>
              <a:t> </a:t>
            </a:r>
            <a:r>
              <a:rPr spc="-10" dirty="0"/>
              <a:t>Decision</a:t>
            </a:r>
            <a:r>
              <a:rPr spc="-25" dirty="0"/>
              <a:t> </a:t>
            </a:r>
            <a:r>
              <a:rPr dirty="0"/>
              <a:t>Tree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55750" y="2343657"/>
            <a:ext cx="2166620" cy="922655"/>
            <a:chOff x="1555750" y="2343657"/>
            <a:chExt cx="2166620" cy="922655"/>
          </a:xfrm>
        </p:grpSpPr>
        <p:sp>
          <p:nvSpPr>
            <p:cNvPr id="3" name="object 3"/>
            <p:cNvSpPr/>
            <p:nvPr/>
          </p:nvSpPr>
          <p:spPr>
            <a:xfrm>
              <a:off x="1562100" y="2350007"/>
              <a:ext cx="2153920" cy="909955"/>
            </a:xfrm>
            <a:custGeom>
              <a:avLst/>
              <a:gdLst/>
              <a:ahLst/>
              <a:cxnLst/>
              <a:rect l="l" t="t" r="r" b="b"/>
              <a:pathLst>
                <a:path w="2153920" h="909954">
                  <a:moveTo>
                    <a:pt x="1076706" y="0"/>
                  </a:moveTo>
                  <a:lnTo>
                    <a:pt x="1011119" y="830"/>
                  </a:lnTo>
                  <a:lnTo>
                    <a:pt x="946571" y="3289"/>
                  </a:lnTo>
                  <a:lnTo>
                    <a:pt x="883175" y="7330"/>
                  </a:lnTo>
                  <a:lnTo>
                    <a:pt x="821043" y="12904"/>
                  </a:lnTo>
                  <a:lnTo>
                    <a:pt x="760288" y="19965"/>
                  </a:lnTo>
                  <a:lnTo>
                    <a:pt x="701022" y="28464"/>
                  </a:lnTo>
                  <a:lnTo>
                    <a:pt x="643358" y="38354"/>
                  </a:lnTo>
                  <a:lnTo>
                    <a:pt x="587409" y="49588"/>
                  </a:lnTo>
                  <a:lnTo>
                    <a:pt x="533287" y="62117"/>
                  </a:lnTo>
                  <a:lnTo>
                    <a:pt x="481105" y="75894"/>
                  </a:lnTo>
                  <a:lnTo>
                    <a:pt x="430976" y="90871"/>
                  </a:lnTo>
                  <a:lnTo>
                    <a:pt x="383012" y="107001"/>
                  </a:lnTo>
                  <a:lnTo>
                    <a:pt x="337326" y="124237"/>
                  </a:lnTo>
                  <a:lnTo>
                    <a:pt x="294030" y="142530"/>
                  </a:lnTo>
                  <a:lnTo>
                    <a:pt x="253239" y="161833"/>
                  </a:lnTo>
                  <a:lnTo>
                    <a:pt x="215063" y="182098"/>
                  </a:lnTo>
                  <a:lnTo>
                    <a:pt x="179615" y="203279"/>
                  </a:lnTo>
                  <a:lnTo>
                    <a:pt x="147009" y="225326"/>
                  </a:lnTo>
                  <a:lnTo>
                    <a:pt x="90771" y="271831"/>
                  </a:lnTo>
                  <a:lnTo>
                    <a:pt x="47250" y="321233"/>
                  </a:lnTo>
                  <a:lnTo>
                    <a:pt x="17348" y="373152"/>
                  </a:lnTo>
                  <a:lnTo>
                    <a:pt x="1965" y="427205"/>
                  </a:lnTo>
                  <a:lnTo>
                    <a:pt x="0" y="454913"/>
                  </a:lnTo>
                  <a:lnTo>
                    <a:pt x="1965" y="482622"/>
                  </a:lnTo>
                  <a:lnTo>
                    <a:pt x="17348" y="536675"/>
                  </a:lnTo>
                  <a:lnTo>
                    <a:pt x="47250" y="588594"/>
                  </a:lnTo>
                  <a:lnTo>
                    <a:pt x="90771" y="637996"/>
                  </a:lnTo>
                  <a:lnTo>
                    <a:pt x="147009" y="684501"/>
                  </a:lnTo>
                  <a:lnTo>
                    <a:pt x="179615" y="706548"/>
                  </a:lnTo>
                  <a:lnTo>
                    <a:pt x="215063" y="727729"/>
                  </a:lnTo>
                  <a:lnTo>
                    <a:pt x="253239" y="747994"/>
                  </a:lnTo>
                  <a:lnTo>
                    <a:pt x="294030" y="767297"/>
                  </a:lnTo>
                  <a:lnTo>
                    <a:pt x="337326" y="785590"/>
                  </a:lnTo>
                  <a:lnTo>
                    <a:pt x="383012" y="802826"/>
                  </a:lnTo>
                  <a:lnTo>
                    <a:pt x="430976" y="818956"/>
                  </a:lnTo>
                  <a:lnTo>
                    <a:pt x="481105" y="833933"/>
                  </a:lnTo>
                  <a:lnTo>
                    <a:pt x="533287" y="847710"/>
                  </a:lnTo>
                  <a:lnTo>
                    <a:pt x="587409" y="860239"/>
                  </a:lnTo>
                  <a:lnTo>
                    <a:pt x="643358" y="871473"/>
                  </a:lnTo>
                  <a:lnTo>
                    <a:pt x="701022" y="881363"/>
                  </a:lnTo>
                  <a:lnTo>
                    <a:pt x="760288" y="889862"/>
                  </a:lnTo>
                  <a:lnTo>
                    <a:pt x="821043" y="896923"/>
                  </a:lnTo>
                  <a:lnTo>
                    <a:pt x="883175" y="902497"/>
                  </a:lnTo>
                  <a:lnTo>
                    <a:pt x="946571" y="906538"/>
                  </a:lnTo>
                  <a:lnTo>
                    <a:pt x="1011119" y="908997"/>
                  </a:lnTo>
                  <a:lnTo>
                    <a:pt x="1076706" y="909827"/>
                  </a:lnTo>
                  <a:lnTo>
                    <a:pt x="1142292" y="908997"/>
                  </a:lnTo>
                  <a:lnTo>
                    <a:pt x="1206840" y="906538"/>
                  </a:lnTo>
                  <a:lnTo>
                    <a:pt x="1270236" y="902497"/>
                  </a:lnTo>
                  <a:lnTo>
                    <a:pt x="1332368" y="896923"/>
                  </a:lnTo>
                  <a:lnTo>
                    <a:pt x="1393123" y="889862"/>
                  </a:lnTo>
                  <a:lnTo>
                    <a:pt x="1452389" y="881363"/>
                  </a:lnTo>
                  <a:lnTo>
                    <a:pt x="1510053" y="871473"/>
                  </a:lnTo>
                  <a:lnTo>
                    <a:pt x="1566002" y="860239"/>
                  </a:lnTo>
                  <a:lnTo>
                    <a:pt x="1620124" y="847710"/>
                  </a:lnTo>
                  <a:lnTo>
                    <a:pt x="1672306" y="833933"/>
                  </a:lnTo>
                  <a:lnTo>
                    <a:pt x="1722435" y="818956"/>
                  </a:lnTo>
                  <a:lnTo>
                    <a:pt x="1770399" y="802826"/>
                  </a:lnTo>
                  <a:lnTo>
                    <a:pt x="1816085" y="785590"/>
                  </a:lnTo>
                  <a:lnTo>
                    <a:pt x="1859381" y="767297"/>
                  </a:lnTo>
                  <a:lnTo>
                    <a:pt x="1900172" y="747994"/>
                  </a:lnTo>
                  <a:lnTo>
                    <a:pt x="1938348" y="727729"/>
                  </a:lnTo>
                  <a:lnTo>
                    <a:pt x="1973796" y="706548"/>
                  </a:lnTo>
                  <a:lnTo>
                    <a:pt x="2006402" y="684501"/>
                  </a:lnTo>
                  <a:lnTo>
                    <a:pt x="2062640" y="637996"/>
                  </a:lnTo>
                  <a:lnTo>
                    <a:pt x="2106161" y="588594"/>
                  </a:lnTo>
                  <a:lnTo>
                    <a:pt x="2136063" y="536675"/>
                  </a:lnTo>
                  <a:lnTo>
                    <a:pt x="2151446" y="482622"/>
                  </a:lnTo>
                  <a:lnTo>
                    <a:pt x="2153412" y="454913"/>
                  </a:lnTo>
                  <a:lnTo>
                    <a:pt x="2151446" y="427205"/>
                  </a:lnTo>
                  <a:lnTo>
                    <a:pt x="2136063" y="373152"/>
                  </a:lnTo>
                  <a:lnTo>
                    <a:pt x="2106161" y="321233"/>
                  </a:lnTo>
                  <a:lnTo>
                    <a:pt x="2062640" y="271831"/>
                  </a:lnTo>
                  <a:lnTo>
                    <a:pt x="2006402" y="225326"/>
                  </a:lnTo>
                  <a:lnTo>
                    <a:pt x="1973796" y="203279"/>
                  </a:lnTo>
                  <a:lnTo>
                    <a:pt x="1938348" y="182098"/>
                  </a:lnTo>
                  <a:lnTo>
                    <a:pt x="1900172" y="161833"/>
                  </a:lnTo>
                  <a:lnTo>
                    <a:pt x="1859381" y="142530"/>
                  </a:lnTo>
                  <a:lnTo>
                    <a:pt x="1816085" y="124237"/>
                  </a:lnTo>
                  <a:lnTo>
                    <a:pt x="1770399" y="107001"/>
                  </a:lnTo>
                  <a:lnTo>
                    <a:pt x="1722435" y="90871"/>
                  </a:lnTo>
                  <a:lnTo>
                    <a:pt x="1672306" y="75894"/>
                  </a:lnTo>
                  <a:lnTo>
                    <a:pt x="1620124" y="62117"/>
                  </a:lnTo>
                  <a:lnTo>
                    <a:pt x="1566002" y="49588"/>
                  </a:lnTo>
                  <a:lnTo>
                    <a:pt x="1510053" y="38354"/>
                  </a:lnTo>
                  <a:lnTo>
                    <a:pt x="1452389" y="28464"/>
                  </a:lnTo>
                  <a:lnTo>
                    <a:pt x="1393123" y="19965"/>
                  </a:lnTo>
                  <a:lnTo>
                    <a:pt x="1332368" y="12904"/>
                  </a:lnTo>
                  <a:lnTo>
                    <a:pt x="1270236" y="7330"/>
                  </a:lnTo>
                  <a:lnTo>
                    <a:pt x="1206840" y="3289"/>
                  </a:lnTo>
                  <a:lnTo>
                    <a:pt x="1142292" y="830"/>
                  </a:lnTo>
                  <a:lnTo>
                    <a:pt x="107670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62100" y="2350007"/>
              <a:ext cx="2153920" cy="909955"/>
            </a:xfrm>
            <a:custGeom>
              <a:avLst/>
              <a:gdLst/>
              <a:ahLst/>
              <a:cxnLst/>
              <a:rect l="l" t="t" r="r" b="b"/>
              <a:pathLst>
                <a:path w="2153920" h="909954">
                  <a:moveTo>
                    <a:pt x="0" y="454913"/>
                  </a:moveTo>
                  <a:lnTo>
                    <a:pt x="7785" y="399935"/>
                  </a:lnTo>
                  <a:lnTo>
                    <a:pt x="30541" y="346902"/>
                  </a:lnTo>
                  <a:lnTo>
                    <a:pt x="67365" y="296194"/>
                  </a:lnTo>
                  <a:lnTo>
                    <a:pt x="117357" y="248192"/>
                  </a:lnTo>
                  <a:lnTo>
                    <a:pt x="179615" y="203279"/>
                  </a:lnTo>
                  <a:lnTo>
                    <a:pt x="215063" y="182098"/>
                  </a:lnTo>
                  <a:lnTo>
                    <a:pt x="253239" y="161833"/>
                  </a:lnTo>
                  <a:lnTo>
                    <a:pt x="294030" y="142530"/>
                  </a:lnTo>
                  <a:lnTo>
                    <a:pt x="337326" y="124237"/>
                  </a:lnTo>
                  <a:lnTo>
                    <a:pt x="383012" y="107001"/>
                  </a:lnTo>
                  <a:lnTo>
                    <a:pt x="430976" y="90871"/>
                  </a:lnTo>
                  <a:lnTo>
                    <a:pt x="481105" y="75894"/>
                  </a:lnTo>
                  <a:lnTo>
                    <a:pt x="533287" y="62117"/>
                  </a:lnTo>
                  <a:lnTo>
                    <a:pt x="587409" y="49588"/>
                  </a:lnTo>
                  <a:lnTo>
                    <a:pt x="643358" y="38354"/>
                  </a:lnTo>
                  <a:lnTo>
                    <a:pt x="701022" y="28464"/>
                  </a:lnTo>
                  <a:lnTo>
                    <a:pt x="760288" y="19965"/>
                  </a:lnTo>
                  <a:lnTo>
                    <a:pt x="821043" y="12904"/>
                  </a:lnTo>
                  <a:lnTo>
                    <a:pt x="883175" y="7330"/>
                  </a:lnTo>
                  <a:lnTo>
                    <a:pt x="946571" y="3289"/>
                  </a:lnTo>
                  <a:lnTo>
                    <a:pt x="1011119" y="830"/>
                  </a:lnTo>
                  <a:lnTo>
                    <a:pt x="1076706" y="0"/>
                  </a:lnTo>
                  <a:lnTo>
                    <a:pt x="1142292" y="830"/>
                  </a:lnTo>
                  <a:lnTo>
                    <a:pt x="1206840" y="3289"/>
                  </a:lnTo>
                  <a:lnTo>
                    <a:pt x="1270236" y="7330"/>
                  </a:lnTo>
                  <a:lnTo>
                    <a:pt x="1332368" y="12904"/>
                  </a:lnTo>
                  <a:lnTo>
                    <a:pt x="1393123" y="19965"/>
                  </a:lnTo>
                  <a:lnTo>
                    <a:pt x="1452389" y="28464"/>
                  </a:lnTo>
                  <a:lnTo>
                    <a:pt x="1510053" y="38354"/>
                  </a:lnTo>
                  <a:lnTo>
                    <a:pt x="1566002" y="49588"/>
                  </a:lnTo>
                  <a:lnTo>
                    <a:pt x="1620124" y="62117"/>
                  </a:lnTo>
                  <a:lnTo>
                    <a:pt x="1672306" y="75894"/>
                  </a:lnTo>
                  <a:lnTo>
                    <a:pt x="1722435" y="90871"/>
                  </a:lnTo>
                  <a:lnTo>
                    <a:pt x="1770399" y="107001"/>
                  </a:lnTo>
                  <a:lnTo>
                    <a:pt x="1816085" y="124237"/>
                  </a:lnTo>
                  <a:lnTo>
                    <a:pt x="1859381" y="142530"/>
                  </a:lnTo>
                  <a:lnTo>
                    <a:pt x="1900172" y="161833"/>
                  </a:lnTo>
                  <a:lnTo>
                    <a:pt x="1938348" y="182098"/>
                  </a:lnTo>
                  <a:lnTo>
                    <a:pt x="1973796" y="203279"/>
                  </a:lnTo>
                  <a:lnTo>
                    <a:pt x="2006402" y="225326"/>
                  </a:lnTo>
                  <a:lnTo>
                    <a:pt x="2062640" y="271831"/>
                  </a:lnTo>
                  <a:lnTo>
                    <a:pt x="2106161" y="321233"/>
                  </a:lnTo>
                  <a:lnTo>
                    <a:pt x="2136063" y="373152"/>
                  </a:lnTo>
                  <a:lnTo>
                    <a:pt x="2151446" y="427205"/>
                  </a:lnTo>
                  <a:lnTo>
                    <a:pt x="2153412" y="454913"/>
                  </a:lnTo>
                  <a:lnTo>
                    <a:pt x="2151446" y="482622"/>
                  </a:lnTo>
                  <a:lnTo>
                    <a:pt x="2136063" y="536675"/>
                  </a:lnTo>
                  <a:lnTo>
                    <a:pt x="2106161" y="588594"/>
                  </a:lnTo>
                  <a:lnTo>
                    <a:pt x="2062640" y="637996"/>
                  </a:lnTo>
                  <a:lnTo>
                    <a:pt x="2006402" y="684501"/>
                  </a:lnTo>
                  <a:lnTo>
                    <a:pt x="1973796" y="706548"/>
                  </a:lnTo>
                  <a:lnTo>
                    <a:pt x="1938348" y="727729"/>
                  </a:lnTo>
                  <a:lnTo>
                    <a:pt x="1900172" y="747994"/>
                  </a:lnTo>
                  <a:lnTo>
                    <a:pt x="1859381" y="767297"/>
                  </a:lnTo>
                  <a:lnTo>
                    <a:pt x="1816085" y="785590"/>
                  </a:lnTo>
                  <a:lnTo>
                    <a:pt x="1770399" y="802826"/>
                  </a:lnTo>
                  <a:lnTo>
                    <a:pt x="1722435" y="818956"/>
                  </a:lnTo>
                  <a:lnTo>
                    <a:pt x="1672306" y="833933"/>
                  </a:lnTo>
                  <a:lnTo>
                    <a:pt x="1620124" y="847710"/>
                  </a:lnTo>
                  <a:lnTo>
                    <a:pt x="1566002" y="860239"/>
                  </a:lnTo>
                  <a:lnTo>
                    <a:pt x="1510053" y="871473"/>
                  </a:lnTo>
                  <a:lnTo>
                    <a:pt x="1452389" y="881363"/>
                  </a:lnTo>
                  <a:lnTo>
                    <a:pt x="1393123" y="889862"/>
                  </a:lnTo>
                  <a:lnTo>
                    <a:pt x="1332368" y="896923"/>
                  </a:lnTo>
                  <a:lnTo>
                    <a:pt x="1270236" y="902497"/>
                  </a:lnTo>
                  <a:lnTo>
                    <a:pt x="1206840" y="906538"/>
                  </a:lnTo>
                  <a:lnTo>
                    <a:pt x="1142292" y="908997"/>
                  </a:lnTo>
                  <a:lnTo>
                    <a:pt x="1076706" y="909827"/>
                  </a:lnTo>
                  <a:lnTo>
                    <a:pt x="1011119" y="908997"/>
                  </a:lnTo>
                  <a:lnTo>
                    <a:pt x="946571" y="906538"/>
                  </a:lnTo>
                  <a:lnTo>
                    <a:pt x="883175" y="902497"/>
                  </a:lnTo>
                  <a:lnTo>
                    <a:pt x="821043" y="896923"/>
                  </a:lnTo>
                  <a:lnTo>
                    <a:pt x="760288" y="889862"/>
                  </a:lnTo>
                  <a:lnTo>
                    <a:pt x="701022" y="881363"/>
                  </a:lnTo>
                  <a:lnTo>
                    <a:pt x="643358" y="871473"/>
                  </a:lnTo>
                  <a:lnTo>
                    <a:pt x="587409" y="860239"/>
                  </a:lnTo>
                  <a:lnTo>
                    <a:pt x="533287" y="847710"/>
                  </a:lnTo>
                  <a:lnTo>
                    <a:pt x="481105" y="833933"/>
                  </a:lnTo>
                  <a:lnTo>
                    <a:pt x="430976" y="818956"/>
                  </a:lnTo>
                  <a:lnTo>
                    <a:pt x="383012" y="802826"/>
                  </a:lnTo>
                  <a:lnTo>
                    <a:pt x="337326" y="785590"/>
                  </a:lnTo>
                  <a:lnTo>
                    <a:pt x="294030" y="767297"/>
                  </a:lnTo>
                  <a:lnTo>
                    <a:pt x="253239" y="747994"/>
                  </a:lnTo>
                  <a:lnTo>
                    <a:pt x="215063" y="727729"/>
                  </a:lnTo>
                  <a:lnTo>
                    <a:pt x="179615" y="706548"/>
                  </a:lnTo>
                  <a:lnTo>
                    <a:pt x="147009" y="684501"/>
                  </a:lnTo>
                  <a:lnTo>
                    <a:pt x="90771" y="637996"/>
                  </a:lnTo>
                  <a:lnTo>
                    <a:pt x="47250" y="588594"/>
                  </a:lnTo>
                  <a:lnTo>
                    <a:pt x="17348" y="536675"/>
                  </a:lnTo>
                  <a:lnTo>
                    <a:pt x="1965" y="482622"/>
                  </a:lnTo>
                  <a:lnTo>
                    <a:pt x="0" y="454913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960879" y="2502789"/>
            <a:ext cx="13563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6891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Root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Node 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1800" spc="-16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em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tu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47116" y="4590288"/>
            <a:ext cx="1588135" cy="969644"/>
            <a:chOff x="547116" y="4590288"/>
            <a:chExt cx="1588135" cy="969644"/>
          </a:xfrm>
        </p:grpSpPr>
        <p:sp>
          <p:nvSpPr>
            <p:cNvPr id="7" name="object 7"/>
            <p:cNvSpPr/>
            <p:nvPr/>
          </p:nvSpPr>
          <p:spPr>
            <a:xfrm>
              <a:off x="553212" y="4596384"/>
              <a:ext cx="1576070" cy="957580"/>
            </a:xfrm>
            <a:custGeom>
              <a:avLst/>
              <a:gdLst/>
              <a:ahLst/>
              <a:cxnLst/>
              <a:rect l="l" t="t" r="r" b="b"/>
              <a:pathLst>
                <a:path w="1576070" h="957579">
                  <a:moveTo>
                    <a:pt x="1416304" y="0"/>
                  </a:moveTo>
                  <a:lnTo>
                    <a:pt x="159511" y="0"/>
                  </a:lnTo>
                  <a:lnTo>
                    <a:pt x="109092" y="8128"/>
                  </a:lnTo>
                  <a:lnTo>
                    <a:pt x="65304" y="30764"/>
                  </a:lnTo>
                  <a:lnTo>
                    <a:pt x="30775" y="65288"/>
                  </a:lnTo>
                  <a:lnTo>
                    <a:pt x="8131" y="109077"/>
                  </a:lnTo>
                  <a:lnTo>
                    <a:pt x="0" y="159512"/>
                  </a:lnTo>
                  <a:lnTo>
                    <a:pt x="0" y="797560"/>
                  </a:lnTo>
                  <a:lnTo>
                    <a:pt x="8131" y="847994"/>
                  </a:lnTo>
                  <a:lnTo>
                    <a:pt x="30775" y="891783"/>
                  </a:lnTo>
                  <a:lnTo>
                    <a:pt x="65304" y="926307"/>
                  </a:lnTo>
                  <a:lnTo>
                    <a:pt x="109092" y="948944"/>
                  </a:lnTo>
                  <a:lnTo>
                    <a:pt x="159511" y="957072"/>
                  </a:lnTo>
                  <a:lnTo>
                    <a:pt x="1416304" y="957072"/>
                  </a:lnTo>
                  <a:lnTo>
                    <a:pt x="1466738" y="948944"/>
                  </a:lnTo>
                  <a:lnTo>
                    <a:pt x="1510527" y="926307"/>
                  </a:lnTo>
                  <a:lnTo>
                    <a:pt x="1545051" y="891783"/>
                  </a:lnTo>
                  <a:lnTo>
                    <a:pt x="1567688" y="847994"/>
                  </a:lnTo>
                  <a:lnTo>
                    <a:pt x="1575815" y="797560"/>
                  </a:lnTo>
                  <a:lnTo>
                    <a:pt x="1575815" y="159512"/>
                  </a:lnTo>
                  <a:lnTo>
                    <a:pt x="1567687" y="109077"/>
                  </a:lnTo>
                  <a:lnTo>
                    <a:pt x="1545051" y="65288"/>
                  </a:lnTo>
                  <a:lnTo>
                    <a:pt x="1510527" y="30764"/>
                  </a:lnTo>
                  <a:lnTo>
                    <a:pt x="1466738" y="8128"/>
                  </a:lnTo>
                  <a:lnTo>
                    <a:pt x="141630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3212" y="4596384"/>
              <a:ext cx="1576070" cy="957580"/>
            </a:xfrm>
            <a:custGeom>
              <a:avLst/>
              <a:gdLst/>
              <a:ahLst/>
              <a:cxnLst/>
              <a:rect l="l" t="t" r="r" b="b"/>
              <a:pathLst>
                <a:path w="1576070" h="957579">
                  <a:moveTo>
                    <a:pt x="0" y="159512"/>
                  </a:moveTo>
                  <a:lnTo>
                    <a:pt x="8131" y="109077"/>
                  </a:lnTo>
                  <a:lnTo>
                    <a:pt x="30775" y="65288"/>
                  </a:lnTo>
                  <a:lnTo>
                    <a:pt x="65304" y="30764"/>
                  </a:lnTo>
                  <a:lnTo>
                    <a:pt x="109092" y="8128"/>
                  </a:lnTo>
                  <a:lnTo>
                    <a:pt x="159511" y="0"/>
                  </a:lnTo>
                  <a:lnTo>
                    <a:pt x="1416304" y="0"/>
                  </a:lnTo>
                  <a:lnTo>
                    <a:pt x="1466738" y="8128"/>
                  </a:lnTo>
                  <a:lnTo>
                    <a:pt x="1510527" y="30764"/>
                  </a:lnTo>
                  <a:lnTo>
                    <a:pt x="1545051" y="65288"/>
                  </a:lnTo>
                  <a:lnTo>
                    <a:pt x="1567687" y="109077"/>
                  </a:lnTo>
                  <a:lnTo>
                    <a:pt x="1575815" y="159512"/>
                  </a:lnTo>
                  <a:lnTo>
                    <a:pt x="1575815" y="797560"/>
                  </a:lnTo>
                  <a:lnTo>
                    <a:pt x="1567688" y="847994"/>
                  </a:lnTo>
                  <a:lnTo>
                    <a:pt x="1545051" y="891783"/>
                  </a:lnTo>
                  <a:lnTo>
                    <a:pt x="1510527" y="926307"/>
                  </a:lnTo>
                  <a:lnTo>
                    <a:pt x="1466738" y="948944"/>
                  </a:lnTo>
                  <a:lnTo>
                    <a:pt x="1416304" y="957072"/>
                  </a:lnTo>
                  <a:lnTo>
                    <a:pt x="159511" y="957072"/>
                  </a:lnTo>
                  <a:lnTo>
                    <a:pt x="109092" y="948944"/>
                  </a:lnTo>
                  <a:lnTo>
                    <a:pt x="65304" y="926307"/>
                  </a:lnTo>
                  <a:lnTo>
                    <a:pt x="30775" y="891783"/>
                  </a:lnTo>
                  <a:lnTo>
                    <a:pt x="8131" y="847994"/>
                  </a:lnTo>
                  <a:lnTo>
                    <a:pt x="0" y="797560"/>
                  </a:lnTo>
                  <a:lnTo>
                    <a:pt x="0" y="159512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35888" y="4636770"/>
            <a:ext cx="12103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8544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Cold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Yes(3),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No(1)</a:t>
            </a:r>
            <a:endParaRPr sz="1800">
              <a:latin typeface="Calibri"/>
              <a:cs typeface="Calibri"/>
            </a:endParaRPr>
          </a:p>
          <a:p>
            <a:pPr marL="219710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(1,5,6,7)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118104" y="4590288"/>
            <a:ext cx="1588135" cy="969644"/>
            <a:chOff x="3118104" y="4590288"/>
            <a:chExt cx="1588135" cy="969644"/>
          </a:xfrm>
        </p:grpSpPr>
        <p:sp>
          <p:nvSpPr>
            <p:cNvPr id="11" name="object 11"/>
            <p:cNvSpPr/>
            <p:nvPr/>
          </p:nvSpPr>
          <p:spPr>
            <a:xfrm>
              <a:off x="3124200" y="4596384"/>
              <a:ext cx="1576070" cy="957580"/>
            </a:xfrm>
            <a:custGeom>
              <a:avLst/>
              <a:gdLst/>
              <a:ahLst/>
              <a:cxnLst/>
              <a:rect l="l" t="t" r="r" b="b"/>
              <a:pathLst>
                <a:path w="1576070" h="957579">
                  <a:moveTo>
                    <a:pt x="1416303" y="0"/>
                  </a:moveTo>
                  <a:lnTo>
                    <a:pt x="159512" y="0"/>
                  </a:lnTo>
                  <a:lnTo>
                    <a:pt x="109077" y="8128"/>
                  </a:lnTo>
                  <a:lnTo>
                    <a:pt x="65288" y="30764"/>
                  </a:lnTo>
                  <a:lnTo>
                    <a:pt x="30764" y="65288"/>
                  </a:lnTo>
                  <a:lnTo>
                    <a:pt x="8127" y="109077"/>
                  </a:lnTo>
                  <a:lnTo>
                    <a:pt x="0" y="159512"/>
                  </a:lnTo>
                  <a:lnTo>
                    <a:pt x="0" y="797560"/>
                  </a:lnTo>
                  <a:lnTo>
                    <a:pt x="8127" y="847994"/>
                  </a:lnTo>
                  <a:lnTo>
                    <a:pt x="30764" y="891783"/>
                  </a:lnTo>
                  <a:lnTo>
                    <a:pt x="65288" y="926307"/>
                  </a:lnTo>
                  <a:lnTo>
                    <a:pt x="109077" y="948944"/>
                  </a:lnTo>
                  <a:lnTo>
                    <a:pt x="159512" y="957072"/>
                  </a:lnTo>
                  <a:lnTo>
                    <a:pt x="1416303" y="957072"/>
                  </a:lnTo>
                  <a:lnTo>
                    <a:pt x="1466738" y="948944"/>
                  </a:lnTo>
                  <a:lnTo>
                    <a:pt x="1510527" y="926307"/>
                  </a:lnTo>
                  <a:lnTo>
                    <a:pt x="1545051" y="891783"/>
                  </a:lnTo>
                  <a:lnTo>
                    <a:pt x="1567688" y="847994"/>
                  </a:lnTo>
                  <a:lnTo>
                    <a:pt x="1575815" y="797560"/>
                  </a:lnTo>
                  <a:lnTo>
                    <a:pt x="1575815" y="159512"/>
                  </a:lnTo>
                  <a:lnTo>
                    <a:pt x="1567687" y="109077"/>
                  </a:lnTo>
                  <a:lnTo>
                    <a:pt x="1545051" y="65288"/>
                  </a:lnTo>
                  <a:lnTo>
                    <a:pt x="1510527" y="30764"/>
                  </a:lnTo>
                  <a:lnTo>
                    <a:pt x="1466738" y="8128"/>
                  </a:lnTo>
                  <a:lnTo>
                    <a:pt x="141630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24200" y="4596384"/>
              <a:ext cx="1576070" cy="957580"/>
            </a:xfrm>
            <a:custGeom>
              <a:avLst/>
              <a:gdLst/>
              <a:ahLst/>
              <a:cxnLst/>
              <a:rect l="l" t="t" r="r" b="b"/>
              <a:pathLst>
                <a:path w="1576070" h="957579">
                  <a:moveTo>
                    <a:pt x="0" y="159512"/>
                  </a:moveTo>
                  <a:lnTo>
                    <a:pt x="8127" y="109077"/>
                  </a:lnTo>
                  <a:lnTo>
                    <a:pt x="30764" y="65288"/>
                  </a:lnTo>
                  <a:lnTo>
                    <a:pt x="65288" y="30764"/>
                  </a:lnTo>
                  <a:lnTo>
                    <a:pt x="109077" y="8128"/>
                  </a:lnTo>
                  <a:lnTo>
                    <a:pt x="159512" y="0"/>
                  </a:lnTo>
                  <a:lnTo>
                    <a:pt x="1416303" y="0"/>
                  </a:lnTo>
                  <a:lnTo>
                    <a:pt x="1466738" y="8128"/>
                  </a:lnTo>
                  <a:lnTo>
                    <a:pt x="1510527" y="30764"/>
                  </a:lnTo>
                  <a:lnTo>
                    <a:pt x="1545051" y="65288"/>
                  </a:lnTo>
                  <a:lnTo>
                    <a:pt x="1567687" y="109077"/>
                  </a:lnTo>
                  <a:lnTo>
                    <a:pt x="1575815" y="159512"/>
                  </a:lnTo>
                  <a:lnTo>
                    <a:pt x="1575815" y="797560"/>
                  </a:lnTo>
                  <a:lnTo>
                    <a:pt x="1567688" y="847994"/>
                  </a:lnTo>
                  <a:lnTo>
                    <a:pt x="1545051" y="891783"/>
                  </a:lnTo>
                  <a:lnTo>
                    <a:pt x="1510527" y="926307"/>
                  </a:lnTo>
                  <a:lnTo>
                    <a:pt x="1466738" y="948944"/>
                  </a:lnTo>
                  <a:lnTo>
                    <a:pt x="1416303" y="957072"/>
                  </a:lnTo>
                  <a:lnTo>
                    <a:pt x="159512" y="957072"/>
                  </a:lnTo>
                  <a:lnTo>
                    <a:pt x="109077" y="948944"/>
                  </a:lnTo>
                  <a:lnTo>
                    <a:pt x="65288" y="926307"/>
                  </a:lnTo>
                  <a:lnTo>
                    <a:pt x="30764" y="891783"/>
                  </a:lnTo>
                  <a:lnTo>
                    <a:pt x="8127" y="847994"/>
                  </a:lnTo>
                  <a:lnTo>
                    <a:pt x="0" y="797560"/>
                  </a:lnTo>
                  <a:lnTo>
                    <a:pt x="0" y="159512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307460" y="4636770"/>
            <a:ext cx="12103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09245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Warm 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Yes(0),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No(3)</a:t>
            </a:r>
            <a:endParaRPr sz="1800">
              <a:latin typeface="Calibri"/>
              <a:cs typeface="Calibri"/>
            </a:endParaRPr>
          </a:p>
          <a:p>
            <a:pPr marL="306705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(2,3,4)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57044" y="2323369"/>
            <a:ext cx="5735683" cy="4003220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1463039" y="3256407"/>
            <a:ext cx="4122420" cy="1256665"/>
            <a:chOff x="1463039" y="3256407"/>
            <a:chExt cx="4122420" cy="1256665"/>
          </a:xfrm>
        </p:grpSpPr>
        <p:sp>
          <p:nvSpPr>
            <p:cNvPr id="16" name="object 16"/>
            <p:cNvSpPr/>
            <p:nvPr/>
          </p:nvSpPr>
          <p:spPr>
            <a:xfrm>
              <a:off x="1463040" y="3256406"/>
              <a:ext cx="2280920" cy="1256665"/>
            </a:xfrm>
            <a:custGeom>
              <a:avLst/>
              <a:gdLst/>
              <a:ahLst/>
              <a:cxnLst/>
              <a:rect l="l" t="t" r="r" b="b"/>
              <a:pathLst>
                <a:path w="2280920" h="1256664">
                  <a:moveTo>
                    <a:pt x="793115" y="6858"/>
                  </a:moveTo>
                  <a:lnTo>
                    <a:pt x="782447" y="0"/>
                  </a:lnTo>
                  <a:lnTo>
                    <a:pt x="35179" y="1188288"/>
                  </a:lnTo>
                  <a:lnTo>
                    <a:pt x="8255" y="1171321"/>
                  </a:lnTo>
                  <a:lnTo>
                    <a:pt x="0" y="1256157"/>
                  </a:lnTo>
                  <a:lnTo>
                    <a:pt x="72771" y="1211961"/>
                  </a:lnTo>
                  <a:lnTo>
                    <a:pt x="62890" y="1205738"/>
                  </a:lnTo>
                  <a:lnTo>
                    <a:pt x="45859" y="1195019"/>
                  </a:lnTo>
                  <a:lnTo>
                    <a:pt x="793115" y="6858"/>
                  </a:lnTo>
                  <a:close/>
                </a:path>
                <a:path w="2280920" h="1256664">
                  <a:moveTo>
                    <a:pt x="2280412" y="1256665"/>
                  </a:moveTo>
                  <a:lnTo>
                    <a:pt x="2274722" y="1206881"/>
                  </a:lnTo>
                  <a:lnTo>
                    <a:pt x="2270760" y="1172083"/>
                  </a:lnTo>
                  <a:lnTo>
                    <a:pt x="2244153" y="1189380"/>
                  </a:lnTo>
                  <a:lnTo>
                    <a:pt x="1491234" y="30480"/>
                  </a:lnTo>
                  <a:lnTo>
                    <a:pt x="1480566" y="37338"/>
                  </a:lnTo>
                  <a:lnTo>
                    <a:pt x="2233523" y="1196289"/>
                  </a:lnTo>
                  <a:lnTo>
                    <a:pt x="2206879" y="1213612"/>
                  </a:lnTo>
                  <a:lnTo>
                    <a:pt x="2280412" y="1256665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8791" y="3343656"/>
              <a:ext cx="2296667" cy="399288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3966209" y="540765"/>
            <a:ext cx="3559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All</a:t>
            </a:r>
            <a:r>
              <a:rPr spc="-10" dirty="0"/>
              <a:t> </a:t>
            </a:r>
            <a:r>
              <a:rPr dirty="0"/>
              <a:t>about</a:t>
            </a:r>
            <a:r>
              <a:rPr spc="-20" dirty="0"/>
              <a:t> </a:t>
            </a:r>
            <a:r>
              <a:rPr spc="-10" dirty="0"/>
              <a:t>Decision</a:t>
            </a:r>
            <a:r>
              <a:rPr spc="-25" dirty="0"/>
              <a:t> </a:t>
            </a:r>
            <a:r>
              <a:rPr dirty="0"/>
              <a:t>Tree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55750" y="2343657"/>
            <a:ext cx="2166620" cy="922655"/>
            <a:chOff x="1555750" y="2343657"/>
            <a:chExt cx="2166620" cy="922655"/>
          </a:xfrm>
        </p:grpSpPr>
        <p:sp>
          <p:nvSpPr>
            <p:cNvPr id="3" name="object 3"/>
            <p:cNvSpPr/>
            <p:nvPr/>
          </p:nvSpPr>
          <p:spPr>
            <a:xfrm>
              <a:off x="1562100" y="2350007"/>
              <a:ext cx="2153920" cy="909955"/>
            </a:xfrm>
            <a:custGeom>
              <a:avLst/>
              <a:gdLst/>
              <a:ahLst/>
              <a:cxnLst/>
              <a:rect l="l" t="t" r="r" b="b"/>
              <a:pathLst>
                <a:path w="2153920" h="909954">
                  <a:moveTo>
                    <a:pt x="1076706" y="0"/>
                  </a:moveTo>
                  <a:lnTo>
                    <a:pt x="1011119" y="830"/>
                  </a:lnTo>
                  <a:lnTo>
                    <a:pt x="946571" y="3289"/>
                  </a:lnTo>
                  <a:lnTo>
                    <a:pt x="883175" y="7330"/>
                  </a:lnTo>
                  <a:lnTo>
                    <a:pt x="821043" y="12904"/>
                  </a:lnTo>
                  <a:lnTo>
                    <a:pt x="760288" y="19965"/>
                  </a:lnTo>
                  <a:lnTo>
                    <a:pt x="701022" y="28464"/>
                  </a:lnTo>
                  <a:lnTo>
                    <a:pt x="643358" y="38354"/>
                  </a:lnTo>
                  <a:lnTo>
                    <a:pt x="587409" y="49588"/>
                  </a:lnTo>
                  <a:lnTo>
                    <a:pt x="533287" y="62117"/>
                  </a:lnTo>
                  <a:lnTo>
                    <a:pt x="481105" y="75894"/>
                  </a:lnTo>
                  <a:lnTo>
                    <a:pt x="430976" y="90871"/>
                  </a:lnTo>
                  <a:lnTo>
                    <a:pt x="383012" y="107001"/>
                  </a:lnTo>
                  <a:lnTo>
                    <a:pt x="337326" y="124237"/>
                  </a:lnTo>
                  <a:lnTo>
                    <a:pt x="294030" y="142530"/>
                  </a:lnTo>
                  <a:lnTo>
                    <a:pt x="253239" y="161833"/>
                  </a:lnTo>
                  <a:lnTo>
                    <a:pt x="215063" y="182098"/>
                  </a:lnTo>
                  <a:lnTo>
                    <a:pt x="179615" y="203279"/>
                  </a:lnTo>
                  <a:lnTo>
                    <a:pt x="147009" y="225326"/>
                  </a:lnTo>
                  <a:lnTo>
                    <a:pt x="90771" y="271831"/>
                  </a:lnTo>
                  <a:lnTo>
                    <a:pt x="47250" y="321233"/>
                  </a:lnTo>
                  <a:lnTo>
                    <a:pt x="17348" y="373152"/>
                  </a:lnTo>
                  <a:lnTo>
                    <a:pt x="1965" y="427205"/>
                  </a:lnTo>
                  <a:lnTo>
                    <a:pt x="0" y="454913"/>
                  </a:lnTo>
                  <a:lnTo>
                    <a:pt x="1965" y="482622"/>
                  </a:lnTo>
                  <a:lnTo>
                    <a:pt x="17348" y="536675"/>
                  </a:lnTo>
                  <a:lnTo>
                    <a:pt x="47250" y="588594"/>
                  </a:lnTo>
                  <a:lnTo>
                    <a:pt x="90771" y="637996"/>
                  </a:lnTo>
                  <a:lnTo>
                    <a:pt x="147009" y="684501"/>
                  </a:lnTo>
                  <a:lnTo>
                    <a:pt x="179615" y="706548"/>
                  </a:lnTo>
                  <a:lnTo>
                    <a:pt x="215063" y="727729"/>
                  </a:lnTo>
                  <a:lnTo>
                    <a:pt x="253239" y="747994"/>
                  </a:lnTo>
                  <a:lnTo>
                    <a:pt x="294030" y="767297"/>
                  </a:lnTo>
                  <a:lnTo>
                    <a:pt x="337326" y="785590"/>
                  </a:lnTo>
                  <a:lnTo>
                    <a:pt x="383012" y="802826"/>
                  </a:lnTo>
                  <a:lnTo>
                    <a:pt x="430976" y="818956"/>
                  </a:lnTo>
                  <a:lnTo>
                    <a:pt x="481105" y="833933"/>
                  </a:lnTo>
                  <a:lnTo>
                    <a:pt x="533287" y="847710"/>
                  </a:lnTo>
                  <a:lnTo>
                    <a:pt x="587409" y="860239"/>
                  </a:lnTo>
                  <a:lnTo>
                    <a:pt x="643358" y="871473"/>
                  </a:lnTo>
                  <a:lnTo>
                    <a:pt x="701022" y="881363"/>
                  </a:lnTo>
                  <a:lnTo>
                    <a:pt x="760288" y="889862"/>
                  </a:lnTo>
                  <a:lnTo>
                    <a:pt x="821043" y="896923"/>
                  </a:lnTo>
                  <a:lnTo>
                    <a:pt x="883175" y="902497"/>
                  </a:lnTo>
                  <a:lnTo>
                    <a:pt x="946571" y="906538"/>
                  </a:lnTo>
                  <a:lnTo>
                    <a:pt x="1011119" y="908997"/>
                  </a:lnTo>
                  <a:lnTo>
                    <a:pt x="1076706" y="909827"/>
                  </a:lnTo>
                  <a:lnTo>
                    <a:pt x="1142292" y="908997"/>
                  </a:lnTo>
                  <a:lnTo>
                    <a:pt x="1206840" y="906538"/>
                  </a:lnTo>
                  <a:lnTo>
                    <a:pt x="1270236" y="902497"/>
                  </a:lnTo>
                  <a:lnTo>
                    <a:pt x="1332368" y="896923"/>
                  </a:lnTo>
                  <a:lnTo>
                    <a:pt x="1393123" y="889862"/>
                  </a:lnTo>
                  <a:lnTo>
                    <a:pt x="1452389" y="881363"/>
                  </a:lnTo>
                  <a:lnTo>
                    <a:pt x="1510053" y="871473"/>
                  </a:lnTo>
                  <a:lnTo>
                    <a:pt x="1566002" y="860239"/>
                  </a:lnTo>
                  <a:lnTo>
                    <a:pt x="1620124" y="847710"/>
                  </a:lnTo>
                  <a:lnTo>
                    <a:pt x="1672306" y="833933"/>
                  </a:lnTo>
                  <a:lnTo>
                    <a:pt x="1722435" y="818956"/>
                  </a:lnTo>
                  <a:lnTo>
                    <a:pt x="1770399" y="802826"/>
                  </a:lnTo>
                  <a:lnTo>
                    <a:pt x="1816085" y="785590"/>
                  </a:lnTo>
                  <a:lnTo>
                    <a:pt x="1859381" y="767297"/>
                  </a:lnTo>
                  <a:lnTo>
                    <a:pt x="1900172" y="747994"/>
                  </a:lnTo>
                  <a:lnTo>
                    <a:pt x="1938348" y="727729"/>
                  </a:lnTo>
                  <a:lnTo>
                    <a:pt x="1973796" y="706548"/>
                  </a:lnTo>
                  <a:lnTo>
                    <a:pt x="2006402" y="684501"/>
                  </a:lnTo>
                  <a:lnTo>
                    <a:pt x="2062640" y="637996"/>
                  </a:lnTo>
                  <a:lnTo>
                    <a:pt x="2106161" y="588594"/>
                  </a:lnTo>
                  <a:lnTo>
                    <a:pt x="2136063" y="536675"/>
                  </a:lnTo>
                  <a:lnTo>
                    <a:pt x="2151446" y="482622"/>
                  </a:lnTo>
                  <a:lnTo>
                    <a:pt x="2153412" y="454913"/>
                  </a:lnTo>
                  <a:lnTo>
                    <a:pt x="2151446" y="427205"/>
                  </a:lnTo>
                  <a:lnTo>
                    <a:pt x="2136063" y="373152"/>
                  </a:lnTo>
                  <a:lnTo>
                    <a:pt x="2106161" y="321233"/>
                  </a:lnTo>
                  <a:lnTo>
                    <a:pt x="2062640" y="271831"/>
                  </a:lnTo>
                  <a:lnTo>
                    <a:pt x="2006402" y="225326"/>
                  </a:lnTo>
                  <a:lnTo>
                    <a:pt x="1973796" y="203279"/>
                  </a:lnTo>
                  <a:lnTo>
                    <a:pt x="1938348" y="182098"/>
                  </a:lnTo>
                  <a:lnTo>
                    <a:pt x="1900172" y="161833"/>
                  </a:lnTo>
                  <a:lnTo>
                    <a:pt x="1859381" y="142530"/>
                  </a:lnTo>
                  <a:lnTo>
                    <a:pt x="1816085" y="124237"/>
                  </a:lnTo>
                  <a:lnTo>
                    <a:pt x="1770399" y="107001"/>
                  </a:lnTo>
                  <a:lnTo>
                    <a:pt x="1722435" y="90871"/>
                  </a:lnTo>
                  <a:lnTo>
                    <a:pt x="1672306" y="75894"/>
                  </a:lnTo>
                  <a:lnTo>
                    <a:pt x="1620124" y="62117"/>
                  </a:lnTo>
                  <a:lnTo>
                    <a:pt x="1566002" y="49588"/>
                  </a:lnTo>
                  <a:lnTo>
                    <a:pt x="1510053" y="38354"/>
                  </a:lnTo>
                  <a:lnTo>
                    <a:pt x="1452389" y="28464"/>
                  </a:lnTo>
                  <a:lnTo>
                    <a:pt x="1393123" y="19965"/>
                  </a:lnTo>
                  <a:lnTo>
                    <a:pt x="1332368" y="12904"/>
                  </a:lnTo>
                  <a:lnTo>
                    <a:pt x="1270236" y="7330"/>
                  </a:lnTo>
                  <a:lnTo>
                    <a:pt x="1206840" y="3289"/>
                  </a:lnTo>
                  <a:lnTo>
                    <a:pt x="1142292" y="830"/>
                  </a:lnTo>
                  <a:lnTo>
                    <a:pt x="107670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62100" y="2350007"/>
              <a:ext cx="2153920" cy="909955"/>
            </a:xfrm>
            <a:custGeom>
              <a:avLst/>
              <a:gdLst/>
              <a:ahLst/>
              <a:cxnLst/>
              <a:rect l="l" t="t" r="r" b="b"/>
              <a:pathLst>
                <a:path w="2153920" h="909954">
                  <a:moveTo>
                    <a:pt x="0" y="454913"/>
                  </a:moveTo>
                  <a:lnTo>
                    <a:pt x="7785" y="399935"/>
                  </a:lnTo>
                  <a:lnTo>
                    <a:pt x="30541" y="346902"/>
                  </a:lnTo>
                  <a:lnTo>
                    <a:pt x="67365" y="296194"/>
                  </a:lnTo>
                  <a:lnTo>
                    <a:pt x="117357" y="248192"/>
                  </a:lnTo>
                  <a:lnTo>
                    <a:pt x="179615" y="203279"/>
                  </a:lnTo>
                  <a:lnTo>
                    <a:pt x="215063" y="182098"/>
                  </a:lnTo>
                  <a:lnTo>
                    <a:pt x="253239" y="161833"/>
                  </a:lnTo>
                  <a:lnTo>
                    <a:pt x="294030" y="142530"/>
                  </a:lnTo>
                  <a:lnTo>
                    <a:pt x="337326" y="124237"/>
                  </a:lnTo>
                  <a:lnTo>
                    <a:pt x="383012" y="107001"/>
                  </a:lnTo>
                  <a:lnTo>
                    <a:pt x="430976" y="90871"/>
                  </a:lnTo>
                  <a:lnTo>
                    <a:pt x="481105" y="75894"/>
                  </a:lnTo>
                  <a:lnTo>
                    <a:pt x="533287" y="62117"/>
                  </a:lnTo>
                  <a:lnTo>
                    <a:pt x="587409" y="49588"/>
                  </a:lnTo>
                  <a:lnTo>
                    <a:pt x="643358" y="38354"/>
                  </a:lnTo>
                  <a:lnTo>
                    <a:pt x="701022" y="28464"/>
                  </a:lnTo>
                  <a:lnTo>
                    <a:pt x="760288" y="19965"/>
                  </a:lnTo>
                  <a:lnTo>
                    <a:pt x="821043" y="12904"/>
                  </a:lnTo>
                  <a:lnTo>
                    <a:pt x="883175" y="7330"/>
                  </a:lnTo>
                  <a:lnTo>
                    <a:pt x="946571" y="3289"/>
                  </a:lnTo>
                  <a:lnTo>
                    <a:pt x="1011119" y="830"/>
                  </a:lnTo>
                  <a:lnTo>
                    <a:pt x="1076706" y="0"/>
                  </a:lnTo>
                  <a:lnTo>
                    <a:pt x="1142292" y="830"/>
                  </a:lnTo>
                  <a:lnTo>
                    <a:pt x="1206840" y="3289"/>
                  </a:lnTo>
                  <a:lnTo>
                    <a:pt x="1270236" y="7330"/>
                  </a:lnTo>
                  <a:lnTo>
                    <a:pt x="1332368" y="12904"/>
                  </a:lnTo>
                  <a:lnTo>
                    <a:pt x="1393123" y="19965"/>
                  </a:lnTo>
                  <a:lnTo>
                    <a:pt x="1452389" y="28464"/>
                  </a:lnTo>
                  <a:lnTo>
                    <a:pt x="1510053" y="38354"/>
                  </a:lnTo>
                  <a:lnTo>
                    <a:pt x="1566002" y="49588"/>
                  </a:lnTo>
                  <a:lnTo>
                    <a:pt x="1620124" y="62117"/>
                  </a:lnTo>
                  <a:lnTo>
                    <a:pt x="1672306" y="75894"/>
                  </a:lnTo>
                  <a:lnTo>
                    <a:pt x="1722435" y="90871"/>
                  </a:lnTo>
                  <a:lnTo>
                    <a:pt x="1770399" y="107001"/>
                  </a:lnTo>
                  <a:lnTo>
                    <a:pt x="1816085" y="124237"/>
                  </a:lnTo>
                  <a:lnTo>
                    <a:pt x="1859381" y="142530"/>
                  </a:lnTo>
                  <a:lnTo>
                    <a:pt x="1900172" y="161833"/>
                  </a:lnTo>
                  <a:lnTo>
                    <a:pt x="1938348" y="182098"/>
                  </a:lnTo>
                  <a:lnTo>
                    <a:pt x="1973796" y="203279"/>
                  </a:lnTo>
                  <a:lnTo>
                    <a:pt x="2006402" y="225326"/>
                  </a:lnTo>
                  <a:lnTo>
                    <a:pt x="2062640" y="271831"/>
                  </a:lnTo>
                  <a:lnTo>
                    <a:pt x="2106161" y="321233"/>
                  </a:lnTo>
                  <a:lnTo>
                    <a:pt x="2136063" y="373152"/>
                  </a:lnTo>
                  <a:lnTo>
                    <a:pt x="2151446" y="427205"/>
                  </a:lnTo>
                  <a:lnTo>
                    <a:pt x="2153412" y="454913"/>
                  </a:lnTo>
                  <a:lnTo>
                    <a:pt x="2151446" y="482622"/>
                  </a:lnTo>
                  <a:lnTo>
                    <a:pt x="2136063" y="536675"/>
                  </a:lnTo>
                  <a:lnTo>
                    <a:pt x="2106161" y="588594"/>
                  </a:lnTo>
                  <a:lnTo>
                    <a:pt x="2062640" y="637996"/>
                  </a:lnTo>
                  <a:lnTo>
                    <a:pt x="2006402" y="684501"/>
                  </a:lnTo>
                  <a:lnTo>
                    <a:pt x="1973796" y="706548"/>
                  </a:lnTo>
                  <a:lnTo>
                    <a:pt x="1938348" y="727729"/>
                  </a:lnTo>
                  <a:lnTo>
                    <a:pt x="1900172" y="747994"/>
                  </a:lnTo>
                  <a:lnTo>
                    <a:pt x="1859381" y="767297"/>
                  </a:lnTo>
                  <a:lnTo>
                    <a:pt x="1816085" y="785590"/>
                  </a:lnTo>
                  <a:lnTo>
                    <a:pt x="1770399" y="802826"/>
                  </a:lnTo>
                  <a:lnTo>
                    <a:pt x="1722435" y="818956"/>
                  </a:lnTo>
                  <a:lnTo>
                    <a:pt x="1672306" y="833933"/>
                  </a:lnTo>
                  <a:lnTo>
                    <a:pt x="1620124" y="847710"/>
                  </a:lnTo>
                  <a:lnTo>
                    <a:pt x="1566002" y="860239"/>
                  </a:lnTo>
                  <a:lnTo>
                    <a:pt x="1510053" y="871473"/>
                  </a:lnTo>
                  <a:lnTo>
                    <a:pt x="1452389" y="881363"/>
                  </a:lnTo>
                  <a:lnTo>
                    <a:pt x="1393123" y="889862"/>
                  </a:lnTo>
                  <a:lnTo>
                    <a:pt x="1332368" y="896923"/>
                  </a:lnTo>
                  <a:lnTo>
                    <a:pt x="1270236" y="902497"/>
                  </a:lnTo>
                  <a:lnTo>
                    <a:pt x="1206840" y="906538"/>
                  </a:lnTo>
                  <a:lnTo>
                    <a:pt x="1142292" y="908997"/>
                  </a:lnTo>
                  <a:lnTo>
                    <a:pt x="1076706" y="909827"/>
                  </a:lnTo>
                  <a:lnTo>
                    <a:pt x="1011119" y="908997"/>
                  </a:lnTo>
                  <a:lnTo>
                    <a:pt x="946571" y="906538"/>
                  </a:lnTo>
                  <a:lnTo>
                    <a:pt x="883175" y="902497"/>
                  </a:lnTo>
                  <a:lnTo>
                    <a:pt x="821043" y="896923"/>
                  </a:lnTo>
                  <a:lnTo>
                    <a:pt x="760288" y="889862"/>
                  </a:lnTo>
                  <a:lnTo>
                    <a:pt x="701022" y="881363"/>
                  </a:lnTo>
                  <a:lnTo>
                    <a:pt x="643358" y="871473"/>
                  </a:lnTo>
                  <a:lnTo>
                    <a:pt x="587409" y="860239"/>
                  </a:lnTo>
                  <a:lnTo>
                    <a:pt x="533287" y="847710"/>
                  </a:lnTo>
                  <a:lnTo>
                    <a:pt x="481105" y="833933"/>
                  </a:lnTo>
                  <a:lnTo>
                    <a:pt x="430976" y="818956"/>
                  </a:lnTo>
                  <a:lnTo>
                    <a:pt x="383012" y="802826"/>
                  </a:lnTo>
                  <a:lnTo>
                    <a:pt x="337326" y="785590"/>
                  </a:lnTo>
                  <a:lnTo>
                    <a:pt x="294030" y="767297"/>
                  </a:lnTo>
                  <a:lnTo>
                    <a:pt x="253239" y="747994"/>
                  </a:lnTo>
                  <a:lnTo>
                    <a:pt x="215063" y="727729"/>
                  </a:lnTo>
                  <a:lnTo>
                    <a:pt x="179615" y="706548"/>
                  </a:lnTo>
                  <a:lnTo>
                    <a:pt x="147009" y="684501"/>
                  </a:lnTo>
                  <a:lnTo>
                    <a:pt x="90771" y="637996"/>
                  </a:lnTo>
                  <a:lnTo>
                    <a:pt x="47250" y="588594"/>
                  </a:lnTo>
                  <a:lnTo>
                    <a:pt x="17348" y="536675"/>
                  </a:lnTo>
                  <a:lnTo>
                    <a:pt x="1965" y="482622"/>
                  </a:lnTo>
                  <a:lnTo>
                    <a:pt x="0" y="454913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960879" y="2502789"/>
            <a:ext cx="13563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6891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Root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Node 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1800" spc="-16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em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tu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47116" y="4590288"/>
            <a:ext cx="1588135" cy="969644"/>
            <a:chOff x="547116" y="4590288"/>
            <a:chExt cx="1588135" cy="969644"/>
          </a:xfrm>
        </p:grpSpPr>
        <p:sp>
          <p:nvSpPr>
            <p:cNvPr id="7" name="object 7"/>
            <p:cNvSpPr/>
            <p:nvPr/>
          </p:nvSpPr>
          <p:spPr>
            <a:xfrm>
              <a:off x="553212" y="4596384"/>
              <a:ext cx="1576070" cy="957580"/>
            </a:xfrm>
            <a:custGeom>
              <a:avLst/>
              <a:gdLst/>
              <a:ahLst/>
              <a:cxnLst/>
              <a:rect l="l" t="t" r="r" b="b"/>
              <a:pathLst>
                <a:path w="1576070" h="957579">
                  <a:moveTo>
                    <a:pt x="1416304" y="0"/>
                  </a:moveTo>
                  <a:lnTo>
                    <a:pt x="159511" y="0"/>
                  </a:lnTo>
                  <a:lnTo>
                    <a:pt x="109092" y="8128"/>
                  </a:lnTo>
                  <a:lnTo>
                    <a:pt x="65304" y="30764"/>
                  </a:lnTo>
                  <a:lnTo>
                    <a:pt x="30775" y="65288"/>
                  </a:lnTo>
                  <a:lnTo>
                    <a:pt x="8131" y="109077"/>
                  </a:lnTo>
                  <a:lnTo>
                    <a:pt x="0" y="159512"/>
                  </a:lnTo>
                  <a:lnTo>
                    <a:pt x="0" y="797560"/>
                  </a:lnTo>
                  <a:lnTo>
                    <a:pt x="8131" y="847994"/>
                  </a:lnTo>
                  <a:lnTo>
                    <a:pt x="30775" y="891783"/>
                  </a:lnTo>
                  <a:lnTo>
                    <a:pt x="65304" y="926307"/>
                  </a:lnTo>
                  <a:lnTo>
                    <a:pt x="109092" y="948944"/>
                  </a:lnTo>
                  <a:lnTo>
                    <a:pt x="159511" y="957072"/>
                  </a:lnTo>
                  <a:lnTo>
                    <a:pt x="1416304" y="957072"/>
                  </a:lnTo>
                  <a:lnTo>
                    <a:pt x="1466738" y="948944"/>
                  </a:lnTo>
                  <a:lnTo>
                    <a:pt x="1510527" y="926307"/>
                  </a:lnTo>
                  <a:lnTo>
                    <a:pt x="1545051" y="891783"/>
                  </a:lnTo>
                  <a:lnTo>
                    <a:pt x="1567688" y="847994"/>
                  </a:lnTo>
                  <a:lnTo>
                    <a:pt x="1575815" y="797560"/>
                  </a:lnTo>
                  <a:lnTo>
                    <a:pt x="1575815" y="159512"/>
                  </a:lnTo>
                  <a:lnTo>
                    <a:pt x="1567687" y="109077"/>
                  </a:lnTo>
                  <a:lnTo>
                    <a:pt x="1545051" y="65288"/>
                  </a:lnTo>
                  <a:lnTo>
                    <a:pt x="1510527" y="30764"/>
                  </a:lnTo>
                  <a:lnTo>
                    <a:pt x="1466738" y="8128"/>
                  </a:lnTo>
                  <a:lnTo>
                    <a:pt x="141630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3212" y="4596384"/>
              <a:ext cx="1576070" cy="957580"/>
            </a:xfrm>
            <a:custGeom>
              <a:avLst/>
              <a:gdLst/>
              <a:ahLst/>
              <a:cxnLst/>
              <a:rect l="l" t="t" r="r" b="b"/>
              <a:pathLst>
                <a:path w="1576070" h="957579">
                  <a:moveTo>
                    <a:pt x="0" y="159512"/>
                  </a:moveTo>
                  <a:lnTo>
                    <a:pt x="8131" y="109077"/>
                  </a:lnTo>
                  <a:lnTo>
                    <a:pt x="30775" y="65288"/>
                  </a:lnTo>
                  <a:lnTo>
                    <a:pt x="65304" y="30764"/>
                  </a:lnTo>
                  <a:lnTo>
                    <a:pt x="109092" y="8128"/>
                  </a:lnTo>
                  <a:lnTo>
                    <a:pt x="159511" y="0"/>
                  </a:lnTo>
                  <a:lnTo>
                    <a:pt x="1416304" y="0"/>
                  </a:lnTo>
                  <a:lnTo>
                    <a:pt x="1466738" y="8128"/>
                  </a:lnTo>
                  <a:lnTo>
                    <a:pt x="1510527" y="30764"/>
                  </a:lnTo>
                  <a:lnTo>
                    <a:pt x="1545051" y="65288"/>
                  </a:lnTo>
                  <a:lnTo>
                    <a:pt x="1567687" y="109077"/>
                  </a:lnTo>
                  <a:lnTo>
                    <a:pt x="1575815" y="159512"/>
                  </a:lnTo>
                  <a:lnTo>
                    <a:pt x="1575815" y="797560"/>
                  </a:lnTo>
                  <a:lnTo>
                    <a:pt x="1567688" y="847994"/>
                  </a:lnTo>
                  <a:lnTo>
                    <a:pt x="1545051" y="891783"/>
                  </a:lnTo>
                  <a:lnTo>
                    <a:pt x="1510527" y="926307"/>
                  </a:lnTo>
                  <a:lnTo>
                    <a:pt x="1466738" y="948944"/>
                  </a:lnTo>
                  <a:lnTo>
                    <a:pt x="1416304" y="957072"/>
                  </a:lnTo>
                  <a:lnTo>
                    <a:pt x="159511" y="957072"/>
                  </a:lnTo>
                  <a:lnTo>
                    <a:pt x="109092" y="948944"/>
                  </a:lnTo>
                  <a:lnTo>
                    <a:pt x="65304" y="926307"/>
                  </a:lnTo>
                  <a:lnTo>
                    <a:pt x="30775" y="891783"/>
                  </a:lnTo>
                  <a:lnTo>
                    <a:pt x="8131" y="847994"/>
                  </a:lnTo>
                  <a:lnTo>
                    <a:pt x="0" y="797560"/>
                  </a:lnTo>
                  <a:lnTo>
                    <a:pt x="0" y="159512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35888" y="4636770"/>
            <a:ext cx="12103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8544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Cold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Yes(3),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No(1)</a:t>
            </a:r>
            <a:endParaRPr sz="1800">
              <a:latin typeface="Calibri"/>
              <a:cs typeface="Calibri"/>
            </a:endParaRPr>
          </a:p>
          <a:p>
            <a:pPr marL="219710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(1,5,6,7)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118104" y="4590288"/>
            <a:ext cx="1588135" cy="969644"/>
            <a:chOff x="3118104" y="4590288"/>
            <a:chExt cx="1588135" cy="969644"/>
          </a:xfrm>
        </p:grpSpPr>
        <p:sp>
          <p:nvSpPr>
            <p:cNvPr id="11" name="object 11"/>
            <p:cNvSpPr/>
            <p:nvPr/>
          </p:nvSpPr>
          <p:spPr>
            <a:xfrm>
              <a:off x="3124200" y="4596384"/>
              <a:ext cx="1576070" cy="957580"/>
            </a:xfrm>
            <a:custGeom>
              <a:avLst/>
              <a:gdLst/>
              <a:ahLst/>
              <a:cxnLst/>
              <a:rect l="l" t="t" r="r" b="b"/>
              <a:pathLst>
                <a:path w="1576070" h="957579">
                  <a:moveTo>
                    <a:pt x="1416303" y="0"/>
                  </a:moveTo>
                  <a:lnTo>
                    <a:pt x="159512" y="0"/>
                  </a:lnTo>
                  <a:lnTo>
                    <a:pt x="109077" y="8128"/>
                  </a:lnTo>
                  <a:lnTo>
                    <a:pt x="65288" y="30764"/>
                  </a:lnTo>
                  <a:lnTo>
                    <a:pt x="30764" y="65288"/>
                  </a:lnTo>
                  <a:lnTo>
                    <a:pt x="8127" y="109077"/>
                  </a:lnTo>
                  <a:lnTo>
                    <a:pt x="0" y="159512"/>
                  </a:lnTo>
                  <a:lnTo>
                    <a:pt x="0" y="797560"/>
                  </a:lnTo>
                  <a:lnTo>
                    <a:pt x="8127" y="847994"/>
                  </a:lnTo>
                  <a:lnTo>
                    <a:pt x="30764" y="891783"/>
                  </a:lnTo>
                  <a:lnTo>
                    <a:pt x="65288" y="926307"/>
                  </a:lnTo>
                  <a:lnTo>
                    <a:pt x="109077" y="948944"/>
                  </a:lnTo>
                  <a:lnTo>
                    <a:pt x="159512" y="957072"/>
                  </a:lnTo>
                  <a:lnTo>
                    <a:pt x="1416303" y="957072"/>
                  </a:lnTo>
                  <a:lnTo>
                    <a:pt x="1466738" y="948944"/>
                  </a:lnTo>
                  <a:lnTo>
                    <a:pt x="1510527" y="926307"/>
                  </a:lnTo>
                  <a:lnTo>
                    <a:pt x="1545051" y="891783"/>
                  </a:lnTo>
                  <a:lnTo>
                    <a:pt x="1567688" y="847994"/>
                  </a:lnTo>
                  <a:lnTo>
                    <a:pt x="1575815" y="797560"/>
                  </a:lnTo>
                  <a:lnTo>
                    <a:pt x="1575815" y="159512"/>
                  </a:lnTo>
                  <a:lnTo>
                    <a:pt x="1567687" y="109077"/>
                  </a:lnTo>
                  <a:lnTo>
                    <a:pt x="1545051" y="65288"/>
                  </a:lnTo>
                  <a:lnTo>
                    <a:pt x="1510527" y="30764"/>
                  </a:lnTo>
                  <a:lnTo>
                    <a:pt x="1466738" y="8128"/>
                  </a:lnTo>
                  <a:lnTo>
                    <a:pt x="141630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24200" y="4596384"/>
              <a:ext cx="1576070" cy="957580"/>
            </a:xfrm>
            <a:custGeom>
              <a:avLst/>
              <a:gdLst/>
              <a:ahLst/>
              <a:cxnLst/>
              <a:rect l="l" t="t" r="r" b="b"/>
              <a:pathLst>
                <a:path w="1576070" h="957579">
                  <a:moveTo>
                    <a:pt x="0" y="159512"/>
                  </a:moveTo>
                  <a:lnTo>
                    <a:pt x="8127" y="109077"/>
                  </a:lnTo>
                  <a:lnTo>
                    <a:pt x="30764" y="65288"/>
                  </a:lnTo>
                  <a:lnTo>
                    <a:pt x="65288" y="30764"/>
                  </a:lnTo>
                  <a:lnTo>
                    <a:pt x="109077" y="8128"/>
                  </a:lnTo>
                  <a:lnTo>
                    <a:pt x="159512" y="0"/>
                  </a:lnTo>
                  <a:lnTo>
                    <a:pt x="1416303" y="0"/>
                  </a:lnTo>
                  <a:lnTo>
                    <a:pt x="1466738" y="8128"/>
                  </a:lnTo>
                  <a:lnTo>
                    <a:pt x="1510527" y="30764"/>
                  </a:lnTo>
                  <a:lnTo>
                    <a:pt x="1545051" y="65288"/>
                  </a:lnTo>
                  <a:lnTo>
                    <a:pt x="1567687" y="109077"/>
                  </a:lnTo>
                  <a:lnTo>
                    <a:pt x="1575815" y="159512"/>
                  </a:lnTo>
                  <a:lnTo>
                    <a:pt x="1575815" y="797560"/>
                  </a:lnTo>
                  <a:lnTo>
                    <a:pt x="1567688" y="847994"/>
                  </a:lnTo>
                  <a:lnTo>
                    <a:pt x="1545051" y="891783"/>
                  </a:lnTo>
                  <a:lnTo>
                    <a:pt x="1510527" y="926307"/>
                  </a:lnTo>
                  <a:lnTo>
                    <a:pt x="1466738" y="948944"/>
                  </a:lnTo>
                  <a:lnTo>
                    <a:pt x="1416303" y="957072"/>
                  </a:lnTo>
                  <a:lnTo>
                    <a:pt x="159512" y="957072"/>
                  </a:lnTo>
                  <a:lnTo>
                    <a:pt x="109077" y="948944"/>
                  </a:lnTo>
                  <a:lnTo>
                    <a:pt x="65288" y="926307"/>
                  </a:lnTo>
                  <a:lnTo>
                    <a:pt x="30764" y="891783"/>
                  </a:lnTo>
                  <a:lnTo>
                    <a:pt x="8127" y="847994"/>
                  </a:lnTo>
                  <a:lnTo>
                    <a:pt x="0" y="797560"/>
                  </a:lnTo>
                  <a:lnTo>
                    <a:pt x="0" y="159512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307460" y="4636770"/>
            <a:ext cx="12103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09245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Warm 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Yes(0),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No(3)</a:t>
            </a:r>
            <a:endParaRPr sz="1800">
              <a:latin typeface="Calibri"/>
              <a:cs typeface="Calibri"/>
            </a:endParaRPr>
          </a:p>
          <a:p>
            <a:pPr marL="306705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(2,3,4)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657044" y="2323369"/>
            <a:ext cx="5735955" cy="4003675"/>
            <a:chOff x="5657044" y="2323369"/>
            <a:chExt cx="5735955" cy="400367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57044" y="2323369"/>
              <a:ext cx="5735683" cy="400322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26855" y="3777487"/>
              <a:ext cx="176275" cy="17627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29904" y="4204207"/>
              <a:ext cx="176275" cy="17627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28380" y="4629403"/>
              <a:ext cx="176275" cy="176275"/>
            </a:xfrm>
            <a:prstGeom prst="rect">
              <a:avLst/>
            </a:prstGeom>
          </p:spPr>
        </p:pic>
      </p:grpSp>
      <p:sp>
        <p:nvSpPr>
          <p:cNvPr id="19" name="object 19"/>
          <p:cNvSpPr/>
          <p:nvPr/>
        </p:nvSpPr>
        <p:spPr>
          <a:xfrm>
            <a:off x="1463040" y="3256406"/>
            <a:ext cx="2280920" cy="1256665"/>
          </a:xfrm>
          <a:custGeom>
            <a:avLst/>
            <a:gdLst/>
            <a:ahLst/>
            <a:cxnLst/>
            <a:rect l="l" t="t" r="r" b="b"/>
            <a:pathLst>
              <a:path w="2280920" h="1256664">
                <a:moveTo>
                  <a:pt x="793115" y="6858"/>
                </a:moveTo>
                <a:lnTo>
                  <a:pt x="782447" y="0"/>
                </a:lnTo>
                <a:lnTo>
                  <a:pt x="35179" y="1188288"/>
                </a:lnTo>
                <a:lnTo>
                  <a:pt x="8255" y="1171321"/>
                </a:lnTo>
                <a:lnTo>
                  <a:pt x="0" y="1256157"/>
                </a:lnTo>
                <a:lnTo>
                  <a:pt x="72771" y="1211961"/>
                </a:lnTo>
                <a:lnTo>
                  <a:pt x="62890" y="1205738"/>
                </a:lnTo>
                <a:lnTo>
                  <a:pt x="45859" y="1195019"/>
                </a:lnTo>
                <a:lnTo>
                  <a:pt x="793115" y="6858"/>
                </a:lnTo>
                <a:close/>
              </a:path>
              <a:path w="2280920" h="1256664">
                <a:moveTo>
                  <a:pt x="2280412" y="1256665"/>
                </a:moveTo>
                <a:lnTo>
                  <a:pt x="2274722" y="1206881"/>
                </a:lnTo>
                <a:lnTo>
                  <a:pt x="2270760" y="1172083"/>
                </a:lnTo>
                <a:lnTo>
                  <a:pt x="2244153" y="1189380"/>
                </a:lnTo>
                <a:lnTo>
                  <a:pt x="1491234" y="30480"/>
                </a:lnTo>
                <a:lnTo>
                  <a:pt x="1480566" y="37338"/>
                </a:lnTo>
                <a:lnTo>
                  <a:pt x="2233523" y="1196289"/>
                </a:lnTo>
                <a:lnTo>
                  <a:pt x="2206879" y="1213612"/>
                </a:lnTo>
                <a:lnTo>
                  <a:pt x="2280412" y="1256665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3966209" y="540765"/>
            <a:ext cx="3559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All</a:t>
            </a:r>
            <a:r>
              <a:rPr spc="-10" dirty="0"/>
              <a:t> </a:t>
            </a:r>
            <a:r>
              <a:rPr dirty="0"/>
              <a:t>about</a:t>
            </a:r>
            <a:r>
              <a:rPr spc="-20" dirty="0"/>
              <a:t> </a:t>
            </a:r>
            <a:r>
              <a:rPr spc="-10" dirty="0"/>
              <a:t>Decision</a:t>
            </a:r>
            <a:r>
              <a:rPr spc="-25" dirty="0"/>
              <a:t> </a:t>
            </a:r>
            <a:r>
              <a:rPr dirty="0"/>
              <a:t>Tree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57044" y="2323369"/>
            <a:ext cx="5735955" cy="4003675"/>
            <a:chOff x="5657044" y="2323369"/>
            <a:chExt cx="5735955" cy="4003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57044" y="2323369"/>
              <a:ext cx="5735683" cy="400322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26855" y="3777487"/>
              <a:ext cx="176275" cy="1762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29904" y="4204207"/>
              <a:ext cx="176275" cy="1762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28380" y="4629403"/>
              <a:ext cx="176275" cy="176275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7130" y="3138278"/>
            <a:ext cx="4198061" cy="246322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966209" y="540765"/>
            <a:ext cx="3559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All</a:t>
            </a:r>
            <a:r>
              <a:rPr spc="-10" dirty="0"/>
              <a:t> </a:t>
            </a:r>
            <a:r>
              <a:rPr dirty="0"/>
              <a:t>about</a:t>
            </a:r>
            <a:r>
              <a:rPr spc="-20" dirty="0"/>
              <a:t> </a:t>
            </a:r>
            <a:r>
              <a:rPr spc="-10" dirty="0"/>
              <a:t>Decision</a:t>
            </a:r>
            <a:r>
              <a:rPr spc="-25" dirty="0"/>
              <a:t> </a:t>
            </a:r>
            <a:r>
              <a:rPr dirty="0"/>
              <a:t>Tree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57044" y="2323369"/>
            <a:ext cx="5735955" cy="4003675"/>
            <a:chOff x="5657044" y="2323369"/>
            <a:chExt cx="5735955" cy="4003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57044" y="2323369"/>
              <a:ext cx="5735683" cy="400322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26855" y="3777487"/>
              <a:ext cx="176275" cy="1762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29904" y="4204207"/>
              <a:ext cx="176275" cy="1762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28380" y="4629403"/>
              <a:ext cx="176275" cy="176275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69491" y="2546604"/>
            <a:ext cx="3564999" cy="372854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966209" y="540765"/>
            <a:ext cx="3559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All</a:t>
            </a:r>
            <a:r>
              <a:rPr spc="-10" dirty="0"/>
              <a:t> </a:t>
            </a:r>
            <a:r>
              <a:rPr dirty="0"/>
              <a:t>about</a:t>
            </a:r>
            <a:r>
              <a:rPr spc="-20" dirty="0"/>
              <a:t> </a:t>
            </a:r>
            <a:r>
              <a:rPr spc="-10" dirty="0"/>
              <a:t>Decision</a:t>
            </a:r>
            <a:r>
              <a:rPr spc="-25" dirty="0"/>
              <a:t> </a:t>
            </a:r>
            <a:r>
              <a:rPr dirty="0"/>
              <a:t>Tree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57044" y="2323369"/>
            <a:ext cx="5735955" cy="4003675"/>
            <a:chOff x="5657044" y="2323369"/>
            <a:chExt cx="5735955" cy="4003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57044" y="2323369"/>
              <a:ext cx="5735683" cy="400322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26855" y="3777487"/>
              <a:ext cx="176275" cy="1762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29904" y="4204207"/>
              <a:ext cx="176275" cy="1762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28380" y="4629403"/>
              <a:ext cx="176275" cy="176275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4574" y="2327148"/>
            <a:ext cx="3712977" cy="397121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966209" y="540765"/>
            <a:ext cx="3559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All</a:t>
            </a:r>
            <a:r>
              <a:rPr spc="-10" dirty="0"/>
              <a:t> </a:t>
            </a:r>
            <a:r>
              <a:rPr dirty="0"/>
              <a:t>about</a:t>
            </a:r>
            <a:r>
              <a:rPr spc="-20" dirty="0"/>
              <a:t> </a:t>
            </a:r>
            <a:r>
              <a:rPr spc="-10" dirty="0"/>
              <a:t>Decision</a:t>
            </a:r>
            <a:r>
              <a:rPr spc="-25" dirty="0"/>
              <a:t> </a:t>
            </a:r>
            <a:r>
              <a:rPr dirty="0"/>
              <a:t>Tree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14290" y="1633473"/>
            <a:ext cx="1968500" cy="876935"/>
            <a:chOff x="5114290" y="1633473"/>
            <a:chExt cx="1968500" cy="876935"/>
          </a:xfrm>
        </p:grpSpPr>
        <p:sp>
          <p:nvSpPr>
            <p:cNvPr id="3" name="object 3"/>
            <p:cNvSpPr/>
            <p:nvPr/>
          </p:nvSpPr>
          <p:spPr>
            <a:xfrm>
              <a:off x="5120640" y="1639823"/>
              <a:ext cx="1955800" cy="864235"/>
            </a:xfrm>
            <a:custGeom>
              <a:avLst/>
              <a:gdLst/>
              <a:ahLst/>
              <a:cxnLst/>
              <a:rect l="l" t="t" r="r" b="b"/>
              <a:pathLst>
                <a:path w="1955800" h="864235">
                  <a:moveTo>
                    <a:pt x="977646" y="0"/>
                  </a:moveTo>
                  <a:lnTo>
                    <a:pt x="913372" y="918"/>
                  </a:lnTo>
                  <a:lnTo>
                    <a:pt x="850207" y="3637"/>
                  </a:lnTo>
                  <a:lnTo>
                    <a:pt x="788281" y="8099"/>
                  </a:lnTo>
                  <a:lnTo>
                    <a:pt x="727721" y="14247"/>
                  </a:lnTo>
                  <a:lnTo>
                    <a:pt x="668658" y="22024"/>
                  </a:lnTo>
                  <a:lnTo>
                    <a:pt x="611219" y="31374"/>
                  </a:lnTo>
                  <a:lnTo>
                    <a:pt x="555533" y="42239"/>
                  </a:lnTo>
                  <a:lnTo>
                    <a:pt x="501730" y="54562"/>
                  </a:lnTo>
                  <a:lnTo>
                    <a:pt x="449939" y="68287"/>
                  </a:lnTo>
                  <a:lnTo>
                    <a:pt x="400287" y="83356"/>
                  </a:lnTo>
                  <a:lnTo>
                    <a:pt x="352905" y="99713"/>
                  </a:lnTo>
                  <a:lnTo>
                    <a:pt x="307921" y="117301"/>
                  </a:lnTo>
                  <a:lnTo>
                    <a:pt x="265464" y="136063"/>
                  </a:lnTo>
                  <a:lnTo>
                    <a:pt x="225663" y="155942"/>
                  </a:lnTo>
                  <a:lnTo>
                    <a:pt x="188646" y="176881"/>
                  </a:lnTo>
                  <a:lnTo>
                    <a:pt x="154543" y="198823"/>
                  </a:lnTo>
                  <a:lnTo>
                    <a:pt x="123483" y="221711"/>
                  </a:lnTo>
                  <a:lnTo>
                    <a:pt x="71006" y="270099"/>
                  </a:lnTo>
                  <a:lnTo>
                    <a:pt x="32245" y="321589"/>
                  </a:lnTo>
                  <a:lnTo>
                    <a:pt x="8233" y="375726"/>
                  </a:lnTo>
                  <a:lnTo>
                    <a:pt x="0" y="432053"/>
                  </a:lnTo>
                  <a:lnTo>
                    <a:pt x="2079" y="460463"/>
                  </a:lnTo>
                  <a:lnTo>
                    <a:pt x="18331" y="515752"/>
                  </a:lnTo>
                  <a:lnTo>
                    <a:pt x="49846" y="568622"/>
                  </a:lnTo>
                  <a:lnTo>
                    <a:pt x="95594" y="618618"/>
                  </a:lnTo>
                  <a:lnTo>
                    <a:pt x="154543" y="665284"/>
                  </a:lnTo>
                  <a:lnTo>
                    <a:pt x="188646" y="687226"/>
                  </a:lnTo>
                  <a:lnTo>
                    <a:pt x="225663" y="708165"/>
                  </a:lnTo>
                  <a:lnTo>
                    <a:pt x="265464" y="728044"/>
                  </a:lnTo>
                  <a:lnTo>
                    <a:pt x="307921" y="746806"/>
                  </a:lnTo>
                  <a:lnTo>
                    <a:pt x="352905" y="764394"/>
                  </a:lnTo>
                  <a:lnTo>
                    <a:pt x="400287" y="780751"/>
                  </a:lnTo>
                  <a:lnTo>
                    <a:pt x="449939" y="795820"/>
                  </a:lnTo>
                  <a:lnTo>
                    <a:pt x="501730" y="809545"/>
                  </a:lnTo>
                  <a:lnTo>
                    <a:pt x="555533" y="821868"/>
                  </a:lnTo>
                  <a:lnTo>
                    <a:pt x="611219" y="832733"/>
                  </a:lnTo>
                  <a:lnTo>
                    <a:pt x="668658" y="842083"/>
                  </a:lnTo>
                  <a:lnTo>
                    <a:pt x="727721" y="849860"/>
                  </a:lnTo>
                  <a:lnTo>
                    <a:pt x="788281" y="856008"/>
                  </a:lnTo>
                  <a:lnTo>
                    <a:pt x="850207" y="860470"/>
                  </a:lnTo>
                  <a:lnTo>
                    <a:pt x="913372" y="863189"/>
                  </a:lnTo>
                  <a:lnTo>
                    <a:pt x="977646" y="864108"/>
                  </a:lnTo>
                  <a:lnTo>
                    <a:pt x="1041919" y="863189"/>
                  </a:lnTo>
                  <a:lnTo>
                    <a:pt x="1105084" y="860470"/>
                  </a:lnTo>
                  <a:lnTo>
                    <a:pt x="1167010" y="856008"/>
                  </a:lnTo>
                  <a:lnTo>
                    <a:pt x="1227570" y="849860"/>
                  </a:lnTo>
                  <a:lnTo>
                    <a:pt x="1286633" y="842083"/>
                  </a:lnTo>
                  <a:lnTo>
                    <a:pt x="1344072" y="832733"/>
                  </a:lnTo>
                  <a:lnTo>
                    <a:pt x="1399758" y="821868"/>
                  </a:lnTo>
                  <a:lnTo>
                    <a:pt x="1453561" y="809545"/>
                  </a:lnTo>
                  <a:lnTo>
                    <a:pt x="1505352" y="795820"/>
                  </a:lnTo>
                  <a:lnTo>
                    <a:pt x="1555004" y="780751"/>
                  </a:lnTo>
                  <a:lnTo>
                    <a:pt x="1602386" y="764394"/>
                  </a:lnTo>
                  <a:lnTo>
                    <a:pt x="1647370" y="746806"/>
                  </a:lnTo>
                  <a:lnTo>
                    <a:pt x="1689827" y="728044"/>
                  </a:lnTo>
                  <a:lnTo>
                    <a:pt x="1729628" y="708165"/>
                  </a:lnTo>
                  <a:lnTo>
                    <a:pt x="1766645" y="687226"/>
                  </a:lnTo>
                  <a:lnTo>
                    <a:pt x="1800748" y="665284"/>
                  </a:lnTo>
                  <a:lnTo>
                    <a:pt x="1831808" y="642396"/>
                  </a:lnTo>
                  <a:lnTo>
                    <a:pt x="1884285" y="594008"/>
                  </a:lnTo>
                  <a:lnTo>
                    <a:pt x="1923046" y="542518"/>
                  </a:lnTo>
                  <a:lnTo>
                    <a:pt x="1947058" y="488381"/>
                  </a:lnTo>
                  <a:lnTo>
                    <a:pt x="1955291" y="432053"/>
                  </a:lnTo>
                  <a:lnTo>
                    <a:pt x="1953212" y="403644"/>
                  </a:lnTo>
                  <a:lnTo>
                    <a:pt x="1936960" y="348355"/>
                  </a:lnTo>
                  <a:lnTo>
                    <a:pt x="1905445" y="295485"/>
                  </a:lnTo>
                  <a:lnTo>
                    <a:pt x="1859697" y="245489"/>
                  </a:lnTo>
                  <a:lnTo>
                    <a:pt x="1800748" y="198823"/>
                  </a:lnTo>
                  <a:lnTo>
                    <a:pt x="1766645" y="176881"/>
                  </a:lnTo>
                  <a:lnTo>
                    <a:pt x="1729628" y="155942"/>
                  </a:lnTo>
                  <a:lnTo>
                    <a:pt x="1689827" y="136063"/>
                  </a:lnTo>
                  <a:lnTo>
                    <a:pt x="1647370" y="117301"/>
                  </a:lnTo>
                  <a:lnTo>
                    <a:pt x="1602386" y="99713"/>
                  </a:lnTo>
                  <a:lnTo>
                    <a:pt x="1555004" y="83356"/>
                  </a:lnTo>
                  <a:lnTo>
                    <a:pt x="1505352" y="68287"/>
                  </a:lnTo>
                  <a:lnTo>
                    <a:pt x="1453561" y="54562"/>
                  </a:lnTo>
                  <a:lnTo>
                    <a:pt x="1399758" y="42239"/>
                  </a:lnTo>
                  <a:lnTo>
                    <a:pt x="1344072" y="31374"/>
                  </a:lnTo>
                  <a:lnTo>
                    <a:pt x="1286633" y="22024"/>
                  </a:lnTo>
                  <a:lnTo>
                    <a:pt x="1227570" y="14247"/>
                  </a:lnTo>
                  <a:lnTo>
                    <a:pt x="1167010" y="8099"/>
                  </a:lnTo>
                  <a:lnTo>
                    <a:pt x="1105084" y="3637"/>
                  </a:lnTo>
                  <a:lnTo>
                    <a:pt x="1041919" y="918"/>
                  </a:lnTo>
                  <a:lnTo>
                    <a:pt x="97764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120640" y="1639823"/>
              <a:ext cx="1955800" cy="864235"/>
            </a:xfrm>
            <a:custGeom>
              <a:avLst/>
              <a:gdLst/>
              <a:ahLst/>
              <a:cxnLst/>
              <a:rect l="l" t="t" r="r" b="b"/>
              <a:pathLst>
                <a:path w="1955800" h="864235">
                  <a:moveTo>
                    <a:pt x="0" y="432053"/>
                  </a:moveTo>
                  <a:lnTo>
                    <a:pt x="8233" y="375726"/>
                  </a:lnTo>
                  <a:lnTo>
                    <a:pt x="32245" y="321589"/>
                  </a:lnTo>
                  <a:lnTo>
                    <a:pt x="71006" y="270099"/>
                  </a:lnTo>
                  <a:lnTo>
                    <a:pt x="123483" y="221711"/>
                  </a:lnTo>
                  <a:lnTo>
                    <a:pt x="154543" y="198823"/>
                  </a:lnTo>
                  <a:lnTo>
                    <a:pt x="188646" y="176881"/>
                  </a:lnTo>
                  <a:lnTo>
                    <a:pt x="225663" y="155942"/>
                  </a:lnTo>
                  <a:lnTo>
                    <a:pt x="265464" y="136063"/>
                  </a:lnTo>
                  <a:lnTo>
                    <a:pt x="307921" y="117301"/>
                  </a:lnTo>
                  <a:lnTo>
                    <a:pt x="352905" y="99713"/>
                  </a:lnTo>
                  <a:lnTo>
                    <a:pt x="400287" y="83356"/>
                  </a:lnTo>
                  <a:lnTo>
                    <a:pt x="449939" y="68287"/>
                  </a:lnTo>
                  <a:lnTo>
                    <a:pt x="501730" y="54562"/>
                  </a:lnTo>
                  <a:lnTo>
                    <a:pt x="555533" y="42239"/>
                  </a:lnTo>
                  <a:lnTo>
                    <a:pt x="611219" y="31374"/>
                  </a:lnTo>
                  <a:lnTo>
                    <a:pt x="668658" y="22024"/>
                  </a:lnTo>
                  <a:lnTo>
                    <a:pt x="727721" y="14247"/>
                  </a:lnTo>
                  <a:lnTo>
                    <a:pt x="788281" y="8099"/>
                  </a:lnTo>
                  <a:lnTo>
                    <a:pt x="850207" y="3637"/>
                  </a:lnTo>
                  <a:lnTo>
                    <a:pt x="913372" y="918"/>
                  </a:lnTo>
                  <a:lnTo>
                    <a:pt x="977646" y="0"/>
                  </a:lnTo>
                  <a:lnTo>
                    <a:pt x="1041919" y="918"/>
                  </a:lnTo>
                  <a:lnTo>
                    <a:pt x="1105084" y="3637"/>
                  </a:lnTo>
                  <a:lnTo>
                    <a:pt x="1167010" y="8099"/>
                  </a:lnTo>
                  <a:lnTo>
                    <a:pt x="1227570" y="14247"/>
                  </a:lnTo>
                  <a:lnTo>
                    <a:pt x="1286633" y="22024"/>
                  </a:lnTo>
                  <a:lnTo>
                    <a:pt x="1344072" y="31374"/>
                  </a:lnTo>
                  <a:lnTo>
                    <a:pt x="1399758" y="42239"/>
                  </a:lnTo>
                  <a:lnTo>
                    <a:pt x="1453561" y="54562"/>
                  </a:lnTo>
                  <a:lnTo>
                    <a:pt x="1505352" y="68287"/>
                  </a:lnTo>
                  <a:lnTo>
                    <a:pt x="1555004" y="83356"/>
                  </a:lnTo>
                  <a:lnTo>
                    <a:pt x="1602386" y="99713"/>
                  </a:lnTo>
                  <a:lnTo>
                    <a:pt x="1647370" y="117301"/>
                  </a:lnTo>
                  <a:lnTo>
                    <a:pt x="1689827" y="136063"/>
                  </a:lnTo>
                  <a:lnTo>
                    <a:pt x="1729628" y="155942"/>
                  </a:lnTo>
                  <a:lnTo>
                    <a:pt x="1766645" y="176881"/>
                  </a:lnTo>
                  <a:lnTo>
                    <a:pt x="1800748" y="198823"/>
                  </a:lnTo>
                  <a:lnTo>
                    <a:pt x="1831808" y="221711"/>
                  </a:lnTo>
                  <a:lnTo>
                    <a:pt x="1884285" y="270099"/>
                  </a:lnTo>
                  <a:lnTo>
                    <a:pt x="1923046" y="321589"/>
                  </a:lnTo>
                  <a:lnTo>
                    <a:pt x="1947058" y="375726"/>
                  </a:lnTo>
                  <a:lnTo>
                    <a:pt x="1955291" y="432053"/>
                  </a:lnTo>
                  <a:lnTo>
                    <a:pt x="1953212" y="460463"/>
                  </a:lnTo>
                  <a:lnTo>
                    <a:pt x="1936960" y="515752"/>
                  </a:lnTo>
                  <a:lnTo>
                    <a:pt x="1905445" y="568622"/>
                  </a:lnTo>
                  <a:lnTo>
                    <a:pt x="1859697" y="618618"/>
                  </a:lnTo>
                  <a:lnTo>
                    <a:pt x="1800748" y="665284"/>
                  </a:lnTo>
                  <a:lnTo>
                    <a:pt x="1766645" y="687226"/>
                  </a:lnTo>
                  <a:lnTo>
                    <a:pt x="1729628" y="708165"/>
                  </a:lnTo>
                  <a:lnTo>
                    <a:pt x="1689827" y="728044"/>
                  </a:lnTo>
                  <a:lnTo>
                    <a:pt x="1647370" y="746806"/>
                  </a:lnTo>
                  <a:lnTo>
                    <a:pt x="1602386" y="764394"/>
                  </a:lnTo>
                  <a:lnTo>
                    <a:pt x="1555004" y="780751"/>
                  </a:lnTo>
                  <a:lnTo>
                    <a:pt x="1505352" y="795820"/>
                  </a:lnTo>
                  <a:lnTo>
                    <a:pt x="1453561" y="809545"/>
                  </a:lnTo>
                  <a:lnTo>
                    <a:pt x="1399758" y="821868"/>
                  </a:lnTo>
                  <a:lnTo>
                    <a:pt x="1344072" y="832733"/>
                  </a:lnTo>
                  <a:lnTo>
                    <a:pt x="1286633" y="842083"/>
                  </a:lnTo>
                  <a:lnTo>
                    <a:pt x="1227570" y="849860"/>
                  </a:lnTo>
                  <a:lnTo>
                    <a:pt x="1167010" y="856008"/>
                  </a:lnTo>
                  <a:lnTo>
                    <a:pt x="1105084" y="860470"/>
                  </a:lnTo>
                  <a:lnTo>
                    <a:pt x="1041919" y="863189"/>
                  </a:lnTo>
                  <a:lnTo>
                    <a:pt x="977646" y="864108"/>
                  </a:lnTo>
                  <a:lnTo>
                    <a:pt x="913372" y="863189"/>
                  </a:lnTo>
                  <a:lnTo>
                    <a:pt x="850207" y="860470"/>
                  </a:lnTo>
                  <a:lnTo>
                    <a:pt x="788281" y="856008"/>
                  </a:lnTo>
                  <a:lnTo>
                    <a:pt x="727721" y="849860"/>
                  </a:lnTo>
                  <a:lnTo>
                    <a:pt x="668658" y="842083"/>
                  </a:lnTo>
                  <a:lnTo>
                    <a:pt x="611219" y="832733"/>
                  </a:lnTo>
                  <a:lnTo>
                    <a:pt x="555533" y="821868"/>
                  </a:lnTo>
                  <a:lnTo>
                    <a:pt x="501730" y="809545"/>
                  </a:lnTo>
                  <a:lnTo>
                    <a:pt x="449939" y="795820"/>
                  </a:lnTo>
                  <a:lnTo>
                    <a:pt x="400287" y="780751"/>
                  </a:lnTo>
                  <a:lnTo>
                    <a:pt x="352905" y="764394"/>
                  </a:lnTo>
                  <a:lnTo>
                    <a:pt x="307921" y="746806"/>
                  </a:lnTo>
                  <a:lnTo>
                    <a:pt x="265464" y="728044"/>
                  </a:lnTo>
                  <a:lnTo>
                    <a:pt x="225663" y="708165"/>
                  </a:lnTo>
                  <a:lnTo>
                    <a:pt x="188646" y="687226"/>
                  </a:lnTo>
                  <a:lnTo>
                    <a:pt x="154543" y="665284"/>
                  </a:lnTo>
                  <a:lnTo>
                    <a:pt x="123483" y="642396"/>
                  </a:lnTo>
                  <a:lnTo>
                    <a:pt x="71006" y="594008"/>
                  </a:lnTo>
                  <a:lnTo>
                    <a:pt x="32245" y="542518"/>
                  </a:lnTo>
                  <a:lnTo>
                    <a:pt x="8233" y="488381"/>
                  </a:lnTo>
                  <a:lnTo>
                    <a:pt x="0" y="432053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488685" y="1906904"/>
            <a:ext cx="1218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Temperature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245609" y="2427477"/>
            <a:ext cx="959485" cy="297815"/>
            <a:chOff x="4245609" y="2427477"/>
            <a:chExt cx="959485" cy="297815"/>
          </a:xfrm>
        </p:grpSpPr>
        <p:sp>
          <p:nvSpPr>
            <p:cNvPr id="7" name="object 7"/>
            <p:cNvSpPr/>
            <p:nvPr/>
          </p:nvSpPr>
          <p:spPr>
            <a:xfrm>
              <a:off x="4251959" y="2433827"/>
              <a:ext cx="946785" cy="285115"/>
            </a:xfrm>
            <a:custGeom>
              <a:avLst/>
              <a:gdLst/>
              <a:ahLst/>
              <a:cxnLst/>
              <a:rect l="l" t="t" r="r" b="b"/>
              <a:pathLst>
                <a:path w="946785" h="285114">
                  <a:moveTo>
                    <a:pt x="898905" y="0"/>
                  </a:moveTo>
                  <a:lnTo>
                    <a:pt x="47498" y="0"/>
                  </a:lnTo>
                  <a:lnTo>
                    <a:pt x="28985" y="3724"/>
                  </a:lnTo>
                  <a:lnTo>
                    <a:pt x="13890" y="13890"/>
                  </a:lnTo>
                  <a:lnTo>
                    <a:pt x="3724" y="28985"/>
                  </a:lnTo>
                  <a:lnTo>
                    <a:pt x="0" y="47498"/>
                  </a:lnTo>
                  <a:lnTo>
                    <a:pt x="0" y="237489"/>
                  </a:lnTo>
                  <a:lnTo>
                    <a:pt x="3724" y="256002"/>
                  </a:lnTo>
                  <a:lnTo>
                    <a:pt x="13890" y="271097"/>
                  </a:lnTo>
                  <a:lnTo>
                    <a:pt x="28985" y="281263"/>
                  </a:lnTo>
                  <a:lnTo>
                    <a:pt x="47498" y="284988"/>
                  </a:lnTo>
                  <a:lnTo>
                    <a:pt x="898905" y="284988"/>
                  </a:lnTo>
                  <a:lnTo>
                    <a:pt x="917418" y="281263"/>
                  </a:lnTo>
                  <a:lnTo>
                    <a:pt x="932513" y="271097"/>
                  </a:lnTo>
                  <a:lnTo>
                    <a:pt x="942679" y="256002"/>
                  </a:lnTo>
                  <a:lnTo>
                    <a:pt x="946403" y="237489"/>
                  </a:lnTo>
                  <a:lnTo>
                    <a:pt x="946403" y="47498"/>
                  </a:lnTo>
                  <a:lnTo>
                    <a:pt x="942679" y="28985"/>
                  </a:lnTo>
                  <a:lnTo>
                    <a:pt x="932513" y="13890"/>
                  </a:lnTo>
                  <a:lnTo>
                    <a:pt x="917418" y="3724"/>
                  </a:lnTo>
                  <a:lnTo>
                    <a:pt x="8989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51959" y="2433827"/>
              <a:ext cx="946785" cy="285115"/>
            </a:xfrm>
            <a:custGeom>
              <a:avLst/>
              <a:gdLst/>
              <a:ahLst/>
              <a:cxnLst/>
              <a:rect l="l" t="t" r="r" b="b"/>
              <a:pathLst>
                <a:path w="946785" h="285114">
                  <a:moveTo>
                    <a:pt x="0" y="47498"/>
                  </a:moveTo>
                  <a:lnTo>
                    <a:pt x="3724" y="28985"/>
                  </a:lnTo>
                  <a:lnTo>
                    <a:pt x="13890" y="13890"/>
                  </a:lnTo>
                  <a:lnTo>
                    <a:pt x="28985" y="3724"/>
                  </a:lnTo>
                  <a:lnTo>
                    <a:pt x="47498" y="0"/>
                  </a:lnTo>
                  <a:lnTo>
                    <a:pt x="898905" y="0"/>
                  </a:lnTo>
                  <a:lnTo>
                    <a:pt x="917418" y="3724"/>
                  </a:lnTo>
                  <a:lnTo>
                    <a:pt x="932513" y="13890"/>
                  </a:lnTo>
                  <a:lnTo>
                    <a:pt x="942679" y="28985"/>
                  </a:lnTo>
                  <a:lnTo>
                    <a:pt x="946403" y="47498"/>
                  </a:lnTo>
                  <a:lnTo>
                    <a:pt x="946403" y="237489"/>
                  </a:lnTo>
                  <a:lnTo>
                    <a:pt x="942679" y="256002"/>
                  </a:lnTo>
                  <a:lnTo>
                    <a:pt x="932513" y="271097"/>
                  </a:lnTo>
                  <a:lnTo>
                    <a:pt x="917418" y="281263"/>
                  </a:lnTo>
                  <a:lnTo>
                    <a:pt x="898905" y="284988"/>
                  </a:lnTo>
                  <a:lnTo>
                    <a:pt x="47498" y="284988"/>
                  </a:lnTo>
                  <a:lnTo>
                    <a:pt x="28985" y="281263"/>
                  </a:lnTo>
                  <a:lnTo>
                    <a:pt x="13890" y="271097"/>
                  </a:lnTo>
                  <a:lnTo>
                    <a:pt x="3724" y="256002"/>
                  </a:lnTo>
                  <a:lnTo>
                    <a:pt x="0" y="237489"/>
                  </a:lnTo>
                  <a:lnTo>
                    <a:pt x="0" y="47498"/>
                  </a:lnTo>
                  <a:close/>
                </a:path>
              </a:pathLst>
            </a:custGeom>
            <a:ln w="12191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573651" y="2463165"/>
            <a:ext cx="3016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Cold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704076" y="2833116"/>
            <a:ext cx="1544320" cy="661670"/>
            <a:chOff x="6704076" y="2833116"/>
            <a:chExt cx="1544320" cy="661670"/>
          </a:xfrm>
        </p:grpSpPr>
        <p:sp>
          <p:nvSpPr>
            <p:cNvPr id="11" name="object 11"/>
            <p:cNvSpPr/>
            <p:nvPr/>
          </p:nvSpPr>
          <p:spPr>
            <a:xfrm>
              <a:off x="6710172" y="2839212"/>
              <a:ext cx="1531620" cy="649605"/>
            </a:xfrm>
            <a:custGeom>
              <a:avLst/>
              <a:gdLst/>
              <a:ahLst/>
              <a:cxnLst/>
              <a:rect l="l" t="t" r="r" b="b"/>
              <a:pathLst>
                <a:path w="1531620" h="649604">
                  <a:moveTo>
                    <a:pt x="1423416" y="0"/>
                  </a:moveTo>
                  <a:lnTo>
                    <a:pt x="108203" y="0"/>
                  </a:ln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0" y="541020"/>
                  </a:lnTo>
                  <a:lnTo>
                    <a:pt x="8495" y="583162"/>
                  </a:lnTo>
                  <a:lnTo>
                    <a:pt x="31670" y="617553"/>
                  </a:lnTo>
                  <a:lnTo>
                    <a:pt x="66061" y="640728"/>
                  </a:lnTo>
                  <a:lnTo>
                    <a:pt x="108203" y="649224"/>
                  </a:lnTo>
                  <a:lnTo>
                    <a:pt x="1423416" y="649224"/>
                  </a:lnTo>
                  <a:lnTo>
                    <a:pt x="1465558" y="640728"/>
                  </a:lnTo>
                  <a:lnTo>
                    <a:pt x="1499949" y="617553"/>
                  </a:lnTo>
                  <a:lnTo>
                    <a:pt x="1523124" y="583162"/>
                  </a:lnTo>
                  <a:lnTo>
                    <a:pt x="1531620" y="541020"/>
                  </a:lnTo>
                  <a:lnTo>
                    <a:pt x="1531620" y="108203"/>
                  </a:lnTo>
                  <a:lnTo>
                    <a:pt x="1523124" y="66061"/>
                  </a:lnTo>
                  <a:lnTo>
                    <a:pt x="1499949" y="31670"/>
                  </a:lnTo>
                  <a:lnTo>
                    <a:pt x="1465558" y="8495"/>
                  </a:lnTo>
                  <a:lnTo>
                    <a:pt x="1423416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10172" y="2839212"/>
              <a:ext cx="1531620" cy="649605"/>
            </a:xfrm>
            <a:custGeom>
              <a:avLst/>
              <a:gdLst/>
              <a:ahLst/>
              <a:cxnLst/>
              <a:rect l="l" t="t" r="r" b="b"/>
              <a:pathLst>
                <a:path w="1531620" h="649604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423416" y="0"/>
                  </a:lnTo>
                  <a:lnTo>
                    <a:pt x="1465558" y="8495"/>
                  </a:lnTo>
                  <a:lnTo>
                    <a:pt x="1499949" y="31670"/>
                  </a:lnTo>
                  <a:lnTo>
                    <a:pt x="1523124" y="66061"/>
                  </a:lnTo>
                  <a:lnTo>
                    <a:pt x="1531620" y="108203"/>
                  </a:lnTo>
                  <a:lnTo>
                    <a:pt x="1531620" y="541020"/>
                  </a:lnTo>
                  <a:lnTo>
                    <a:pt x="1523124" y="583162"/>
                  </a:lnTo>
                  <a:lnTo>
                    <a:pt x="1499949" y="617553"/>
                  </a:lnTo>
                  <a:lnTo>
                    <a:pt x="1465558" y="640728"/>
                  </a:lnTo>
                  <a:lnTo>
                    <a:pt x="1423416" y="649224"/>
                  </a:lnTo>
                  <a:lnTo>
                    <a:pt x="108203" y="649224"/>
                  </a:lnTo>
                  <a:lnTo>
                    <a:pt x="66061" y="640728"/>
                  </a:lnTo>
                  <a:lnTo>
                    <a:pt x="31670" y="617553"/>
                  </a:lnTo>
                  <a:lnTo>
                    <a:pt x="8495" y="583162"/>
                  </a:lnTo>
                  <a:lnTo>
                    <a:pt x="0" y="541020"/>
                  </a:lnTo>
                  <a:lnTo>
                    <a:pt x="0" y="108203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274814" y="2959100"/>
            <a:ext cx="4044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405" marR="5080" indent="-53340">
              <a:lnSpc>
                <a:spcPct val="100000"/>
              </a:lnSpc>
              <a:spcBef>
                <a:spcPts val="100"/>
              </a:spcBef>
            </a:pPr>
            <a:r>
              <a:rPr sz="1200" spc="-4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arm 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(No)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542788" y="4515611"/>
            <a:ext cx="1495425" cy="608330"/>
            <a:chOff x="5542788" y="4515611"/>
            <a:chExt cx="1495425" cy="608330"/>
          </a:xfrm>
        </p:grpSpPr>
        <p:sp>
          <p:nvSpPr>
            <p:cNvPr id="15" name="object 15"/>
            <p:cNvSpPr/>
            <p:nvPr/>
          </p:nvSpPr>
          <p:spPr>
            <a:xfrm>
              <a:off x="5548884" y="4521707"/>
              <a:ext cx="1483360" cy="596265"/>
            </a:xfrm>
            <a:custGeom>
              <a:avLst/>
              <a:gdLst/>
              <a:ahLst/>
              <a:cxnLst/>
              <a:rect l="l" t="t" r="r" b="b"/>
              <a:pathLst>
                <a:path w="1483359" h="596264">
                  <a:moveTo>
                    <a:pt x="1383538" y="0"/>
                  </a:moveTo>
                  <a:lnTo>
                    <a:pt x="99313" y="0"/>
                  </a:lnTo>
                  <a:lnTo>
                    <a:pt x="60650" y="7802"/>
                  </a:lnTo>
                  <a:lnTo>
                    <a:pt x="29083" y="29083"/>
                  </a:lnTo>
                  <a:lnTo>
                    <a:pt x="7802" y="60650"/>
                  </a:lnTo>
                  <a:lnTo>
                    <a:pt x="0" y="99314"/>
                  </a:lnTo>
                  <a:lnTo>
                    <a:pt x="0" y="496570"/>
                  </a:lnTo>
                  <a:lnTo>
                    <a:pt x="7802" y="535233"/>
                  </a:lnTo>
                  <a:lnTo>
                    <a:pt x="29083" y="566801"/>
                  </a:lnTo>
                  <a:lnTo>
                    <a:pt x="60650" y="588081"/>
                  </a:lnTo>
                  <a:lnTo>
                    <a:pt x="99313" y="595884"/>
                  </a:lnTo>
                  <a:lnTo>
                    <a:pt x="1383538" y="595884"/>
                  </a:lnTo>
                  <a:lnTo>
                    <a:pt x="1422201" y="588081"/>
                  </a:lnTo>
                  <a:lnTo>
                    <a:pt x="1453768" y="566801"/>
                  </a:lnTo>
                  <a:lnTo>
                    <a:pt x="1475049" y="535233"/>
                  </a:lnTo>
                  <a:lnTo>
                    <a:pt x="1482851" y="496570"/>
                  </a:lnTo>
                  <a:lnTo>
                    <a:pt x="1482851" y="99314"/>
                  </a:lnTo>
                  <a:lnTo>
                    <a:pt x="1475049" y="60650"/>
                  </a:lnTo>
                  <a:lnTo>
                    <a:pt x="1453768" y="29083"/>
                  </a:lnTo>
                  <a:lnTo>
                    <a:pt x="1422201" y="7802"/>
                  </a:lnTo>
                  <a:lnTo>
                    <a:pt x="1383538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48884" y="4521707"/>
              <a:ext cx="1483360" cy="596265"/>
            </a:xfrm>
            <a:custGeom>
              <a:avLst/>
              <a:gdLst/>
              <a:ahLst/>
              <a:cxnLst/>
              <a:rect l="l" t="t" r="r" b="b"/>
              <a:pathLst>
                <a:path w="1483359" h="596264">
                  <a:moveTo>
                    <a:pt x="0" y="99314"/>
                  </a:moveTo>
                  <a:lnTo>
                    <a:pt x="7802" y="60650"/>
                  </a:lnTo>
                  <a:lnTo>
                    <a:pt x="29083" y="29083"/>
                  </a:lnTo>
                  <a:lnTo>
                    <a:pt x="60650" y="7802"/>
                  </a:lnTo>
                  <a:lnTo>
                    <a:pt x="99313" y="0"/>
                  </a:lnTo>
                  <a:lnTo>
                    <a:pt x="1383538" y="0"/>
                  </a:lnTo>
                  <a:lnTo>
                    <a:pt x="1422201" y="7802"/>
                  </a:lnTo>
                  <a:lnTo>
                    <a:pt x="1453768" y="29083"/>
                  </a:lnTo>
                  <a:lnTo>
                    <a:pt x="1475049" y="60650"/>
                  </a:lnTo>
                  <a:lnTo>
                    <a:pt x="1482851" y="99314"/>
                  </a:lnTo>
                  <a:lnTo>
                    <a:pt x="1482851" y="496570"/>
                  </a:lnTo>
                  <a:lnTo>
                    <a:pt x="1475049" y="535233"/>
                  </a:lnTo>
                  <a:lnTo>
                    <a:pt x="1453768" y="566801"/>
                  </a:lnTo>
                  <a:lnTo>
                    <a:pt x="1422201" y="588081"/>
                  </a:lnTo>
                  <a:lnTo>
                    <a:pt x="1383538" y="595884"/>
                  </a:lnTo>
                  <a:lnTo>
                    <a:pt x="99313" y="595884"/>
                  </a:lnTo>
                  <a:lnTo>
                    <a:pt x="60650" y="588081"/>
                  </a:lnTo>
                  <a:lnTo>
                    <a:pt x="29083" y="566801"/>
                  </a:lnTo>
                  <a:lnTo>
                    <a:pt x="7802" y="535233"/>
                  </a:lnTo>
                  <a:lnTo>
                    <a:pt x="0" y="496570"/>
                  </a:lnTo>
                  <a:lnTo>
                    <a:pt x="0" y="99314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015354" y="4615942"/>
            <a:ext cx="552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539" marR="5080" indent="-117475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200" spc="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r  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(Yes)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319017" y="3730497"/>
            <a:ext cx="919480" cy="370840"/>
            <a:chOff x="3319017" y="3730497"/>
            <a:chExt cx="919480" cy="370840"/>
          </a:xfrm>
        </p:grpSpPr>
        <p:sp>
          <p:nvSpPr>
            <p:cNvPr id="19" name="object 19"/>
            <p:cNvSpPr/>
            <p:nvPr/>
          </p:nvSpPr>
          <p:spPr>
            <a:xfrm>
              <a:off x="3325367" y="3736847"/>
              <a:ext cx="906780" cy="358140"/>
            </a:xfrm>
            <a:custGeom>
              <a:avLst/>
              <a:gdLst/>
              <a:ahLst/>
              <a:cxnLst/>
              <a:rect l="l" t="t" r="r" b="b"/>
              <a:pathLst>
                <a:path w="906779" h="358139">
                  <a:moveTo>
                    <a:pt x="847090" y="0"/>
                  </a:moveTo>
                  <a:lnTo>
                    <a:pt x="59690" y="0"/>
                  </a:lnTo>
                  <a:lnTo>
                    <a:pt x="36433" y="4683"/>
                  </a:lnTo>
                  <a:lnTo>
                    <a:pt x="17462" y="17462"/>
                  </a:lnTo>
                  <a:lnTo>
                    <a:pt x="4683" y="36433"/>
                  </a:lnTo>
                  <a:lnTo>
                    <a:pt x="0" y="59689"/>
                  </a:lnTo>
                  <a:lnTo>
                    <a:pt x="0" y="298450"/>
                  </a:lnTo>
                  <a:lnTo>
                    <a:pt x="4683" y="321706"/>
                  </a:lnTo>
                  <a:lnTo>
                    <a:pt x="17462" y="340677"/>
                  </a:lnTo>
                  <a:lnTo>
                    <a:pt x="36433" y="353456"/>
                  </a:lnTo>
                  <a:lnTo>
                    <a:pt x="59690" y="358139"/>
                  </a:lnTo>
                  <a:lnTo>
                    <a:pt x="847090" y="358139"/>
                  </a:lnTo>
                  <a:lnTo>
                    <a:pt x="870346" y="353456"/>
                  </a:lnTo>
                  <a:lnTo>
                    <a:pt x="889317" y="340677"/>
                  </a:lnTo>
                  <a:lnTo>
                    <a:pt x="902096" y="321706"/>
                  </a:lnTo>
                  <a:lnTo>
                    <a:pt x="906780" y="298450"/>
                  </a:lnTo>
                  <a:lnTo>
                    <a:pt x="906780" y="59689"/>
                  </a:lnTo>
                  <a:lnTo>
                    <a:pt x="902096" y="36433"/>
                  </a:lnTo>
                  <a:lnTo>
                    <a:pt x="889317" y="17462"/>
                  </a:lnTo>
                  <a:lnTo>
                    <a:pt x="870346" y="4683"/>
                  </a:lnTo>
                  <a:lnTo>
                    <a:pt x="847090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325367" y="3736847"/>
              <a:ext cx="906780" cy="358140"/>
            </a:xfrm>
            <a:custGeom>
              <a:avLst/>
              <a:gdLst/>
              <a:ahLst/>
              <a:cxnLst/>
              <a:rect l="l" t="t" r="r" b="b"/>
              <a:pathLst>
                <a:path w="906779" h="358139">
                  <a:moveTo>
                    <a:pt x="0" y="59689"/>
                  </a:moveTo>
                  <a:lnTo>
                    <a:pt x="4683" y="36433"/>
                  </a:lnTo>
                  <a:lnTo>
                    <a:pt x="17462" y="17462"/>
                  </a:lnTo>
                  <a:lnTo>
                    <a:pt x="36433" y="4683"/>
                  </a:lnTo>
                  <a:lnTo>
                    <a:pt x="59690" y="0"/>
                  </a:lnTo>
                  <a:lnTo>
                    <a:pt x="847090" y="0"/>
                  </a:lnTo>
                  <a:lnTo>
                    <a:pt x="870346" y="4683"/>
                  </a:lnTo>
                  <a:lnTo>
                    <a:pt x="889317" y="17462"/>
                  </a:lnTo>
                  <a:lnTo>
                    <a:pt x="902096" y="36433"/>
                  </a:lnTo>
                  <a:lnTo>
                    <a:pt x="906780" y="59689"/>
                  </a:lnTo>
                  <a:lnTo>
                    <a:pt x="906780" y="298450"/>
                  </a:lnTo>
                  <a:lnTo>
                    <a:pt x="902096" y="321706"/>
                  </a:lnTo>
                  <a:lnTo>
                    <a:pt x="889317" y="340677"/>
                  </a:lnTo>
                  <a:lnTo>
                    <a:pt x="870346" y="353456"/>
                  </a:lnTo>
                  <a:lnTo>
                    <a:pt x="847090" y="358139"/>
                  </a:lnTo>
                  <a:lnTo>
                    <a:pt x="59690" y="358139"/>
                  </a:lnTo>
                  <a:lnTo>
                    <a:pt x="36433" y="353456"/>
                  </a:lnTo>
                  <a:lnTo>
                    <a:pt x="17462" y="340677"/>
                  </a:lnTo>
                  <a:lnTo>
                    <a:pt x="4683" y="321706"/>
                  </a:lnTo>
                  <a:lnTo>
                    <a:pt x="0" y="298450"/>
                  </a:lnTo>
                  <a:lnTo>
                    <a:pt x="0" y="59689"/>
                  </a:lnTo>
                  <a:close/>
                </a:path>
              </a:pathLst>
            </a:custGeom>
            <a:ln w="12191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4289805" y="2471420"/>
            <a:ext cx="2869565" cy="1348105"/>
            <a:chOff x="4289805" y="2471420"/>
            <a:chExt cx="2869565" cy="1348105"/>
          </a:xfrm>
        </p:grpSpPr>
        <p:sp>
          <p:nvSpPr>
            <p:cNvPr id="22" name="object 22"/>
            <p:cNvSpPr/>
            <p:nvPr/>
          </p:nvSpPr>
          <p:spPr>
            <a:xfrm>
              <a:off x="4296156" y="2471419"/>
              <a:ext cx="2863215" cy="1341755"/>
            </a:xfrm>
            <a:custGeom>
              <a:avLst/>
              <a:gdLst/>
              <a:ahLst/>
              <a:cxnLst/>
              <a:rect l="l" t="t" r="r" b="b"/>
              <a:pathLst>
                <a:path w="2863215" h="1341754">
                  <a:moveTo>
                    <a:pt x="1338072" y="965962"/>
                  </a:moveTo>
                  <a:lnTo>
                    <a:pt x="1327289" y="898436"/>
                  </a:lnTo>
                  <a:lnTo>
                    <a:pt x="1296200" y="834872"/>
                  </a:lnTo>
                  <a:lnTo>
                    <a:pt x="1246708" y="776338"/>
                  </a:lnTo>
                  <a:lnTo>
                    <a:pt x="1215656" y="749300"/>
                  </a:lnTo>
                  <a:lnTo>
                    <a:pt x="1180693" y="723912"/>
                  </a:lnTo>
                  <a:lnTo>
                    <a:pt x="1142085" y="700316"/>
                  </a:lnTo>
                  <a:lnTo>
                    <a:pt x="1100061" y="678637"/>
                  </a:lnTo>
                  <a:lnTo>
                    <a:pt x="1054849" y="659015"/>
                  </a:lnTo>
                  <a:lnTo>
                    <a:pt x="1006678" y="641578"/>
                  </a:lnTo>
                  <a:lnTo>
                    <a:pt x="955802" y="626465"/>
                  </a:lnTo>
                  <a:lnTo>
                    <a:pt x="902462" y="613803"/>
                  </a:lnTo>
                  <a:lnTo>
                    <a:pt x="846861" y="603719"/>
                  </a:lnTo>
                  <a:lnTo>
                    <a:pt x="789279" y="596353"/>
                  </a:lnTo>
                  <a:lnTo>
                    <a:pt x="729919" y="591832"/>
                  </a:lnTo>
                  <a:lnTo>
                    <a:pt x="669036" y="590296"/>
                  </a:lnTo>
                  <a:lnTo>
                    <a:pt x="608139" y="591832"/>
                  </a:lnTo>
                  <a:lnTo>
                    <a:pt x="548779" y="596353"/>
                  </a:lnTo>
                  <a:lnTo>
                    <a:pt x="491197" y="603719"/>
                  </a:lnTo>
                  <a:lnTo>
                    <a:pt x="435610" y="613803"/>
                  </a:lnTo>
                  <a:lnTo>
                    <a:pt x="382257" y="626465"/>
                  </a:lnTo>
                  <a:lnTo>
                    <a:pt x="331381" y="641578"/>
                  </a:lnTo>
                  <a:lnTo>
                    <a:pt x="283210" y="659015"/>
                  </a:lnTo>
                  <a:lnTo>
                    <a:pt x="237998" y="678637"/>
                  </a:lnTo>
                  <a:lnTo>
                    <a:pt x="195973" y="700316"/>
                  </a:lnTo>
                  <a:lnTo>
                    <a:pt x="157365" y="723912"/>
                  </a:lnTo>
                  <a:lnTo>
                    <a:pt x="122402" y="749300"/>
                  </a:lnTo>
                  <a:lnTo>
                    <a:pt x="91351" y="776338"/>
                  </a:lnTo>
                  <a:lnTo>
                    <a:pt x="64414" y="804913"/>
                  </a:lnTo>
                  <a:lnTo>
                    <a:pt x="23901" y="866089"/>
                  </a:lnTo>
                  <a:lnTo>
                    <a:pt x="2730" y="931773"/>
                  </a:lnTo>
                  <a:lnTo>
                    <a:pt x="0" y="965962"/>
                  </a:lnTo>
                  <a:lnTo>
                    <a:pt x="2730" y="1000163"/>
                  </a:lnTo>
                  <a:lnTo>
                    <a:pt x="23901" y="1065847"/>
                  </a:lnTo>
                  <a:lnTo>
                    <a:pt x="64414" y="1127023"/>
                  </a:lnTo>
                  <a:lnTo>
                    <a:pt x="91351" y="1155598"/>
                  </a:lnTo>
                  <a:lnTo>
                    <a:pt x="122402" y="1182636"/>
                  </a:lnTo>
                  <a:lnTo>
                    <a:pt x="157365" y="1208024"/>
                  </a:lnTo>
                  <a:lnTo>
                    <a:pt x="195973" y="1231620"/>
                  </a:lnTo>
                  <a:lnTo>
                    <a:pt x="237998" y="1253299"/>
                  </a:lnTo>
                  <a:lnTo>
                    <a:pt x="283210" y="1272921"/>
                  </a:lnTo>
                  <a:lnTo>
                    <a:pt x="331381" y="1290358"/>
                  </a:lnTo>
                  <a:lnTo>
                    <a:pt x="382257" y="1305471"/>
                  </a:lnTo>
                  <a:lnTo>
                    <a:pt x="435610" y="1318133"/>
                  </a:lnTo>
                  <a:lnTo>
                    <a:pt x="491197" y="1328216"/>
                  </a:lnTo>
                  <a:lnTo>
                    <a:pt x="548779" y="1335582"/>
                  </a:lnTo>
                  <a:lnTo>
                    <a:pt x="608139" y="1340104"/>
                  </a:lnTo>
                  <a:lnTo>
                    <a:pt x="669036" y="1341628"/>
                  </a:lnTo>
                  <a:lnTo>
                    <a:pt x="729919" y="1340104"/>
                  </a:lnTo>
                  <a:lnTo>
                    <a:pt x="789279" y="1335582"/>
                  </a:lnTo>
                  <a:lnTo>
                    <a:pt x="846861" y="1328216"/>
                  </a:lnTo>
                  <a:lnTo>
                    <a:pt x="902462" y="1318133"/>
                  </a:lnTo>
                  <a:lnTo>
                    <a:pt x="955802" y="1305471"/>
                  </a:lnTo>
                  <a:lnTo>
                    <a:pt x="1006678" y="1290358"/>
                  </a:lnTo>
                  <a:lnTo>
                    <a:pt x="1054849" y="1272921"/>
                  </a:lnTo>
                  <a:lnTo>
                    <a:pt x="1100061" y="1253299"/>
                  </a:lnTo>
                  <a:lnTo>
                    <a:pt x="1142085" y="1231620"/>
                  </a:lnTo>
                  <a:lnTo>
                    <a:pt x="1180693" y="1208024"/>
                  </a:lnTo>
                  <a:lnTo>
                    <a:pt x="1215656" y="1182636"/>
                  </a:lnTo>
                  <a:lnTo>
                    <a:pt x="1246708" y="1155598"/>
                  </a:lnTo>
                  <a:lnTo>
                    <a:pt x="1273644" y="1127023"/>
                  </a:lnTo>
                  <a:lnTo>
                    <a:pt x="1314157" y="1065847"/>
                  </a:lnTo>
                  <a:lnTo>
                    <a:pt x="1335328" y="1000163"/>
                  </a:lnTo>
                  <a:lnTo>
                    <a:pt x="1338072" y="965962"/>
                  </a:lnTo>
                  <a:close/>
                </a:path>
                <a:path w="2863215" h="1341754">
                  <a:moveTo>
                    <a:pt x="1343660" y="92583"/>
                  </a:moveTo>
                  <a:lnTo>
                    <a:pt x="1333246" y="85217"/>
                  </a:lnTo>
                  <a:lnTo>
                    <a:pt x="1006170" y="553643"/>
                  </a:lnTo>
                  <a:lnTo>
                    <a:pt x="980186" y="535432"/>
                  </a:lnTo>
                  <a:lnTo>
                    <a:pt x="967740" y="619760"/>
                  </a:lnTo>
                  <a:lnTo>
                    <a:pt x="1042543" y="579120"/>
                  </a:lnTo>
                  <a:lnTo>
                    <a:pt x="1031481" y="571373"/>
                  </a:lnTo>
                  <a:lnTo>
                    <a:pt x="1016558" y="560933"/>
                  </a:lnTo>
                  <a:lnTo>
                    <a:pt x="1343660" y="92583"/>
                  </a:lnTo>
                  <a:close/>
                </a:path>
                <a:path w="2863215" h="1341754">
                  <a:moveTo>
                    <a:pt x="2862834" y="304165"/>
                  </a:moveTo>
                  <a:lnTo>
                    <a:pt x="2846222" y="271653"/>
                  </a:lnTo>
                  <a:lnTo>
                    <a:pt x="2824099" y="228346"/>
                  </a:lnTo>
                  <a:lnTo>
                    <a:pt x="2805277" y="253873"/>
                  </a:lnTo>
                  <a:lnTo>
                    <a:pt x="2460498" y="0"/>
                  </a:lnTo>
                  <a:lnTo>
                    <a:pt x="2452878" y="10160"/>
                  </a:lnTo>
                  <a:lnTo>
                    <a:pt x="2797733" y="264121"/>
                  </a:lnTo>
                  <a:lnTo>
                    <a:pt x="2778887" y="289687"/>
                  </a:lnTo>
                  <a:lnTo>
                    <a:pt x="2862834" y="304165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296155" y="3061716"/>
              <a:ext cx="1338580" cy="751840"/>
            </a:xfrm>
            <a:custGeom>
              <a:avLst/>
              <a:gdLst/>
              <a:ahLst/>
              <a:cxnLst/>
              <a:rect l="l" t="t" r="r" b="b"/>
              <a:pathLst>
                <a:path w="1338579" h="751839">
                  <a:moveTo>
                    <a:pt x="0" y="375666"/>
                  </a:moveTo>
                  <a:lnTo>
                    <a:pt x="10780" y="308128"/>
                  </a:lnTo>
                  <a:lnTo>
                    <a:pt x="41862" y="244566"/>
                  </a:lnTo>
                  <a:lnTo>
                    <a:pt x="91355" y="186040"/>
                  </a:lnTo>
                  <a:lnTo>
                    <a:pt x="122414" y="158997"/>
                  </a:lnTo>
                  <a:lnTo>
                    <a:pt x="157367" y="133611"/>
                  </a:lnTo>
                  <a:lnTo>
                    <a:pt x="195976" y="110013"/>
                  </a:lnTo>
                  <a:lnTo>
                    <a:pt x="238007" y="88337"/>
                  </a:lnTo>
                  <a:lnTo>
                    <a:pt x="283222" y="68715"/>
                  </a:lnTo>
                  <a:lnTo>
                    <a:pt x="331385" y="51279"/>
                  </a:lnTo>
                  <a:lnTo>
                    <a:pt x="382260" y="36162"/>
                  </a:lnTo>
                  <a:lnTo>
                    <a:pt x="435610" y="23497"/>
                  </a:lnTo>
                  <a:lnTo>
                    <a:pt x="491198" y="13416"/>
                  </a:lnTo>
                  <a:lnTo>
                    <a:pt x="548790" y="6051"/>
                  </a:lnTo>
                  <a:lnTo>
                    <a:pt x="608148" y="1534"/>
                  </a:lnTo>
                  <a:lnTo>
                    <a:pt x="669036" y="0"/>
                  </a:lnTo>
                  <a:lnTo>
                    <a:pt x="729923" y="1534"/>
                  </a:lnTo>
                  <a:lnTo>
                    <a:pt x="789281" y="6051"/>
                  </a:lnTo>
                  <a:lnTo>
                    <a:pt x="846873" y="13416"/>
                  </a:lnTo>
                  <a:lnTo>
                    <a:pt x="902462" y="23497"/>
                  </a:lnTo>
                  <a:lnTo>
                    <a:pt x="955811" y="36162"/>
                  </a:lnTo>
                  <a:lnTo>
                    <a:pt x="1006686" y="51279"/>
                  </a:lnTo>
                  <a:lnTo>
                    <a:pt x="1054849" y="68715"/>
                  </a:lnTo>
                  <a:lnTo>
                    <a:pt x="1100064" y="88337"/>
                  </a:lnTo>
                  <a:lnTo>
                    <a:pt x="1142095" y="110013"/>
                  </a:lnTo>
                  <a:lnTo>
                    <a:pt x="1180704" y="133611"/>
                  </a:lnTo>
                  <a:lnTo>
                    <a:pt x="1215657" y="158997"/>
                  </a:lnTo>
                  <a:lnTo>
                    <a:pt x="1246716" y="186040"/>
                  </a:lnTo>
                  <a:lnTo>
                    <a:pt x="1273645" y="214607"/>
                  </a:lnTo>
                  <a:lnTo>
                    <a:pt x="1314169" y="275784"/>
                  </a:lnTo>
                  <a:lnTo>
                    <a:pt x="1335337" y="341466"/>
                  </a:lnTo>
                  <a:lnTo>
                    <a:pt x="1338072" y="375666"/>
                  </a:lnTo>
                  <a:lnTo>
                    <a:pt x="1335337" y="409865"/>
                  </a:lnTo>
                  <a:lnTo>
                    <a:pt x="1314169" y="475547"/>
                  </a:lnTo>
                  <a:lnTo>
                    <a:pt x="1273645" y="536724"/>
                  </a:lnTo>
                  <a:lnTo>
                    <a:pt x="1246716" y="565291"/>
                  </a:lnTo>
                  <a:lnTo>
                    <a:pt x="1215657" y="592334"/>
                  </a:lnTo>
                  <a:lnTo>
                    <a:pt x="1180704" y="617720"/>
                  </a:lnTo>
                  <a:lnTo>
                    <a:pt x="1142095" y="641318"/>
                  </a:lnTo>
                  <a:lnTo>
                    <a:pt x="1100064" y="662994"/>
                  </a:lnTo>
                  <a:lnTo>
                    <a:pt x="1054849" y="682616"/>
                  </a:lnTo>
                  <a:lnTo>
                    <a:pt x="1006686" y="700052"/>
                  </a:lnTo>
                  <a:lnTo>
                    <a:pt x="955811" y="715169"/>
                  </a:lnTo>
                  <a:lnTo>
                    <a:pt x="902462" y="727834"/>
                  </a:lnTo>
                  <a:lnTo>
                    <a:pt x="846873" y="737915"/>
                  </a:lnTo>
                  <a:lnTo>
                    <a:pt x="789281" y="745280"/>
                  </a:lnTo>
                  <a:lnTo>
                    <a:pt x="729923" y="749797"/>
                  </a:lnTo>
                  <a:lnTo>
                    <a:pt x="669036" y="751332"/>
                  </a:lnTo>
                  <a:lnTo>
                    <a:pt x="608148" y="749797"/>
                  </a:lnTo>
                  <a:lnTo>
                    <a:pt x="548790" y="745280"/>
                  </a:lnTo>
                  <a:lnTo>
                    <a:pt x="491198" y="737915"/>
                  </a:lnTo>
                  <a:lnTo>
                    <a:pt x="435610" y="727834"/>
                  </a:lnTo>
                  <a:lnTo>
                    <a:pt x="382260" y="715169"/>
                  </a:lnTo>
                  <a:lnTo>
                    <a:pt x="331385" y="700052"/>
                  </a:lnTo>
                  <a:lnTo>
                    <a:pt x="283222" y="682616"/>
                  </a:lnTo>
                  <a:lnTo>
                    <a:pt x="238007" y="662994"/>
                  </a:lnTo>
                  <a:lnTo>
                    <a:pt x="195976" y="641318"/>
                  </a:lnTo>
                  <a:lnTo>
                    <a:pt x="157367" y="617720"/>
                  </a:lnTo>
                  <a:lnTo>
                    <a:pt x="122414" y="592334"/>
                  </a:lnTo>
                  <a:lnTo>
                    <a:pt x="91355" y="565291"/>
                  </a:lnTo>
                  <a:lnTo>
                    <a:pt x="64426" y="536724"/>
                  </a:lnTo>
                  <a:lnTo>
                    <a:pt x="23902" y="475547"/>
                  </a:lnTo>
                  <a:lnTo>
                    <a:pt x="2734" y="409865"/>
                  </a:lnTo>
                  <a:lnTo>
                    <a:pt x="0" y="375666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558285" y="3291078"/>
            <a:ext cx="1740535" cy="720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85850">
              <a:lnSpc>
                <a:spcPct val="100000"/>
              </a:lnSpc>
              <a:spcBef>
                <a:spcPts val="95"/>
              </a:spcBef>
            </a:pP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Routine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Indoor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251959" y="3884040"/>
            <a:ext cx="375920" cy="534670"/>
          </a:xfrm>
          <a:custGeom>
            <a:avLst/>
            <a:gdLst/>
            <a:ahLst/>
            <a:cxnLst/>
            <a:rect l="l" t="t" r="r" b="b"/>
            <a:pathLst>
              <a:path w="375920" h="534670">
                <a:moveTo>
                  <a:pt x="12445" y="450214"/>
                </a:moveTo>
                <a:lnTo>
                  <a:pt x="0" y="534542"/>
                </a:lnTo>
                <a:lnTo>
                  <a:pt x="74802" y="493902"/>
                </a:lnTo>
                <a:lnTo>
                  <a:pt x="63745" y="486155"/>
                </a:lnTo>
                <a:lnTo>
                  <a:pt x="41528" y="486155"/>
                </a:lnTo>
                <a:lnTo>
                  <a:pt x="31114" y="478916"/>
                </a:lnTo>
                <a:lnTo>
                  <a:pt x="38439" y="468426"/>
                </a:lnTo>
                <a:lnTo>
                  <a:pt x="12445" y="450214"/>
                </a:lnTo>
                <a:close/>
              </a:path>
              <a:path w="375920" h="534670">
                <a:moveTo>
                  <a:pt x="38439" y="468426"/>
                </a:moveTo>
                <a:lnTo>
                  <a:pt x="31114" y="478916"/>
                </a:lnTo>
                <a:lnTo>
                  <a:pt x="41528" y="486155"/>
                </a:lnTo>
                <a:lnTo>
                  <a:pt x="48828" y="475704"/>
                </a:lnTo>
                <a:lnTo>
                  <a:pt x="38439" y="468426"/>
                </a:lnTo>
                <a:close/>
              </a:path>
              <a:path w="375920" h="534670">
                <a:moveTo>
                  <a:pt x="48828" y="475704"/>
                </a:moveTo>
                <a:lnTo>
                  <a:pt x="41528" y="486155"/>
                </a:lnTo>
                <a:lnTo>
                  <a:pt x="63745" y="486155"/>
                </a:lnTo>
                <a:lnTo>
                  <a:pt x="48828" y="475704"/>
                </a:lnTo>
                <a:close/>
              </a:path>
              <a:path w="375920" h="534670">
                <a:moveTo>
                  <a:pt x="365505" y="0"/>
                </a:moveTo>
                <a:lnTo>
                  <a:pt x="38439" y="468426"/>
                </a:lnTo>
                <a:lnTo>
                  <a:pt x="48828" y="475704"/>
                </a:lnTo>
                <a:lnTo>
                  <a:pt x="375919" y="7365"/>
                </a:lnTo>
                <a:lnTo>
                  <a:pt x="365505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543296" y="3797934"/>
            <a:ext cx="308610" cy="592455"/>
          </a:xfrm>
          <a:custGeom>
            <a:avLst/>
            <a:gdLst/>
            <a:ahLst/>
            <a:cxnLst/>
            <a:rect l="l" t="t" r="r" b="b"/>
            <a:pathLst>
              <a:path w="308610" h="592454">
                <a:moveTo>
                  <a:pt x="268114" y="527279"/>
                </a:moveTo>
                <a:lnTo>
                  <a:pt x="239902" y="541782"/>
                </a:lnTo>
                <a:lnTo>
                  <a:pt x="308609" y="592201"/>
                </a:lnTo>
                <a:lnTo>
                  <a:pt x="307971" y="538607"/>
                </a:lnTo>
                <a:lnTo>
                  <a:pt x="273938" y="538607"/>
                </a:lnTo>
                <a:lnTo>
                  <a:pt x="268114" y="527279"/>
                </a:lnTo>
                <a:close/>
              </a:path>
              <a:path w="308610" h="592454">
                <a:moveTo>
                  <a:pt x="279428" y="521463"/>
                </a:moveTo>
                <a:lnTo>
                  <a:pt x="268114" y="527279"/>
                </a:lnTo>
                <a:lnTo>
                  <a:pt x="273938" y="538607"/>
                </a:lnTo>
                <a:lnTo>
                  <a:pt x="285241" y="532764"/>
                </a:lnTo>
                <a:lnTo>
                  <a:pt x="279428" y="521463"/>
                </a:lnTo>
                <a:close/>
              </a:path>
              <a:path w="308610" h="592454">
                <a:moveTo>
                  <a:pt x="307593" y="506983"/>
                </a:moveTo>
                <a:lnTo>
                  <a:pt x="279428" y="521463"/>
                </a:lnTo>
                <a:lnTo>
                  <a:pt x="285241" y="532764"/>
                </a:lnTo>
                <a:lnTo>
                  <a:pt x="273938" y="538607"/>
                </a:lnTo>
                <a:lnTo>
                  <a:pt x="307971" y="538607"/>
                </a:lnTo>
                <a:lnTo>
                  <a:pt x="307593" y="506983"/>
                </a:lnTo>
                <a:close/>
              </a:path>
              <a:path w="308610" h="592454">
                <a:moveTo>
                  <a:pt x="11175" y="0"/>
                </a:moveTo>
                <a:lnTo>
                  <a:pt x="0" y="5841"/>
                </a:lnTo>
                <a:lnTo>
                  <a:pt x="268114" y="527279"/>
                </a:lnTo>
                <a:lnTo>
                  <a:pt x="279428" y="521463"/>
                </a:lnTo>
                <a:lnTo>
                  <a:pt x="11175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241792" y="4917947"/>
            <a:ext cx="3700779" cy="666115"/>
          </a:xfrm>
          <a:prstGeom prst="rect">
            <a:avLst/>
          </a:prstGeom>
          <a:solidFill>
            <a:srgbClr val="4471C4"/>
          </a:solidFill>
          <a:ln w="12192">
            <a:solidFill>
              <a:srgbClr val="2E528F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757555">
              <a:lnSpc>
                <a:spcPct val="100000"/>
              </a:lnSpc>
              <a:spcBef>
                <a:spcPts val="1430"/>
              </a:spcBef>
            </a:pP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Sunny,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Cold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Indoor=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??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3966209" y="540765"/>
            <a:ext cx="3559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All</a:t>
            </a:r>
            <a:r>
              <a:rPr spc="-10" dirty="0"/>
              <a:t> </a:t>
            </a:r>
            <a:r>
              <a:rPr dirty="0"/>
              <a:t>about</a:t>
            </a:r>
            <a:r>
              <a:rPr spc="-20" dirty="0"/>
              <a:t> </a:t>
            </a:r>
            <a:r>
              <a:rPr spc="-10" dirty="0"/>
              <a:t>Decision</a:t>
            </a:r>
            <a:r>
              <a:rPr spc="-25" dirty="0"/>
              <a:t> </a:t>
            </a:r>
            <a:r>
              <a:rPr dirty="0"/>
              <a:t>Tree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57044" y="2323369"/>
            <a:ext cx="5735955" cy="4003675"/>
            <a:chOff x="5657044" y="2323369"/>
            <a:chExt cx="5735955" cy="4003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57044" y="2323369"/>
              <a:ext cx="5735683" cy="400322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26855" y="3777487"/>
              <a:ext cx="176275" cy="1762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29904" y="4204207"/>
              <a:ext cx="176275" cy="1762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28380" y="4629403"/>
              <a:ext cx="176275" cy="1762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75697" y="5537453"/>
              <a:ext cx="175259" cy="1752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75571" y="6005740"/>
              <a:ext cx="175514" cy="175945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2238755" y="2834639"/>
            <a:ext cx="1743710" cy="593090"/>
            <a:chOff x="2238755" y="2834639"/>
            <a:chExt cx="1743710" cy="593090"/>
          </a:xfrm>
        </p:grpSpPr>
        <p:sp>
          <p:nvSpPr>
            <p:cNvPr id="10" name="object 10"/>
            <p:cNvSpPr/>
            <p:nvPr/>
          </p:nvSpPr>
          <p:spPr>
            <a:xfrm>
              <a:off x="2244851" y="2840735"/>
              <a:ext cx="1731645" cy="581025"/>
            </a:xfrm>
            <a:custGeom>
              <a:avLst/>
              <a:gdLst/>
              <a:ahLst/>
              <a:cxnLst/>
              <a:rect l="l" t="t" r="r" b="b"/>
              <a:pathLst>
                <a:path w="1731645" h="581025">
                  <a:moveTo>
                    <a:pt x="865632" y="0"/>
                  </a:moveTo>
                  <a:lnTo>
                    <a:pt x="797989" y="873"/>
                  </a:lnTo>
                  <a:lnTo>
                    <a:pt x="731769" y="3449"/>
                  </a:lnTo>
                  <a:lnTo>
                    <a:pt x="667165" y="7664"/>
                  </a:lnTo>
                  <a:lnTo>
                    <a:pt x="604368" y="13453"/>
                  </a:lnTo>
                  <a:lnTo>
                    <a:pt x="543572" y="20753"/>
                  </a:lnTo>
                  <a:lnTo>
                    <a:pt x="484969" y="29498"/>
                  </a:lnTo>
                  <a:lnTo>
                    <a:pt x="428752" y="39624"/>
                  </a:lnTo>
                  <a:lnTo>
                    <a:pt x="375112" y="51066"/>
                  </a:lnTo>
                  <a:lnTo>
                    <a:pt x="324243" y="63761"/>
                  </a:lnTo>
                  <a:lnTo>
                    <a:pt x="276337" y="77644"/>
                  </a:lnTo>
                  <a:lnTo>
                    <a:pt x="231586" y="92650"/>
                  </a:lnTo>
                  <a:lnTo>
                    <a:pt x="190184" y="108714"/>
                  </a:lnTo>
                  <a:lnTo>
                    <a:pt x="152322" y="125774"/>
                  </a:lnTo>
                  <a:lnTo>
                    <a:pt x="118194" y="143764"/>
                  </a:lnTo>
                  <a:lnTo>
                    <a:pt x="61907" y="182275"/>
                  </a:lnTo>
                  <a:lnTo>
                    <a:pt x="22864" y="223734"/>
                  </a:lnTo>
                  <a:lnTo>
                    <a:pt x="2604" y="267625"/>
                  </a:lnTo>
                  <a:lnTo>
                    <a:pt x="0" y="290322"/>
                  </a:lnTo>
                  <a:lnTo>
                    <a:pt x="2604" y="313018"/>
                  </a:lnTo>
                  <a:lnTo>
                    <a:pt x="22864" y="356909"/>
                  </a:lnTo>
                  <a:lnTo>
                    <a:pt x="61907" y="398368"/>
                  </a:lnTo>
                  <a:lnTo>
                    <a:pt x="118194" y="436880"/>
                  </a:lnTo>
                  <a:lnTo>
                    <a:pt x="152322" y="454869"/>
                  </a:lnTo>
                  <a:lnTo>
                    <a:pt x="190184" y="471929"/>
                  </a:lnTo>
                  <a:lnTo>
                    <a:pt x="231586" y="487993"/>
                  </a:lnTo>
                  <a:lnTo>
                    <a:pt x="276337" y="502999"/>
                  </a:lnTo>
                  <a:lnTo>
                    <a:pt x="324243" y="516882"/>
                  </a:lnTo>
                  <a:lnTo>
                    <a:pt x="375112" y="529577"/>
                  </a:lnTo>
                  <a:lnTo>
                    <a:pt x="428752" y="541019"/>
                  </a:lnTo>
                  <a:lnTo>
                    <a:pt x="484969" y="551145"/>
                  </a:lnTo>
                  <a:lnTo>
                    <a:pt x="543572" y="559890"/>
                  </a:lnTo>
                  <a:lnTo>
                    <a:pt x="604368" y="567190"/>
                  </a:lnTo>
                  <a:lnTo>
                    <a:pt x="667165" y="572979"/>
                  </a:lnTo>
                  <a:lnTo>
                    <a:pt x="731769" y="577194"/>
                  </a:lnTo>
                  <a:lnTo>
                    <a:pt x="797989" y="579770"/>
                  </a:lnTo>
                  <a:lnTo>
                    <a:pt x="865632" y="580643"/>
                  </a:lnTo>
                  <a:lnTo>
                    <a:pt x="933274" y="579770"/>
                  </a:lnTo>
                  <a:lnTo>
                    <a:pt x="999494" y="577194"/>
                  </a:lnTo>
                  <a:lnTo>
                    <a:pt x="1064098" y="572979"/>
                  </a:lnTo>
                  <a:lnTo>
                    <a:pt x="1126895" y="567190"/>
                  </a:lnTo>
                  <a:lnTo>
                    <a:pt x="1187691" y="559890"/>
                  </a:lnTo>
                  <a:lnTo>
                    <a:pt x="1246294" y="551145"/>
                  </a:lnTo>
                  <a:lnTo>
                    <a:pt x="1302512" y="541019"/>
                  </a:lnTo>
                  <a:lnTo>
                    <a:pt x="1356151" y="529577"/>
                  </a:lnTo>
                  <a:lnTo>
                    <a:pt x="1407020" y="516882"/>
                  </a:lnTo>
                  <a:lnTo>
                    <a:pt x="1454926" y="502999"/>
                  </a:lnTo>
                  <a:lnTo>
                    <a:pt x="1499677" y="487993"/>
                  </a:lnTo>
                  <a:lnTo>
                    <a:pt x="1541079" y="471929"/>
                  </a:lnTo>
                  <a:lnTo>
                    <a:pt x="1578941" y="454869"/>
                  </a:lnTo>
                  <a:lnTo>
                    <a:pt x="1613069" y="436879"/>
                  </a:lnTo>
                  <a:lnTo>
                    <a:pt x="1669356" y="398368"/>
                  </a:lnTo>
                  <a:lnTo>
                    <a:pt x="1708399" y="356909"/>
                  </a:lnTo>
                  <a:lnTo>
                    <a:pt x="1728659" y="313018"/>
                  </a:lnTo>
                  <a:lnTo>
                    <a:pt x="1731264" y="290322"/>
                  </a:lnTo>
                  <a:lnTo>
                    <a:pt x="1728659" y="267625"/>
                  </a:lnTo>
                  <a:lnTo>
                    <a:pt x="1708399" y="223734"/>
                  </a:lnTo>
                  <a:lnTo>
                    <a:pt x="1669356" y="182275"/>
                  </a:lnTo>
                  <a:lnTo>
                    <a:pt x="1613069" y="143763"/>
                  </a:lnTo>
                  <a:lnTo>
                    <a:pt x="1578941" y="125774"/>
                  </a:lnTo>
                  <a:lnTo>
                    <a:pt x="1541079" y="108714"/>
                  </a:lnTo>
                  <a:lnTo>
                    <a:pt x="1499677" y="92650"/>
                  </a:lnTo>
                  <a:lnTo>
                    <a:pt x="1454926" y="77644"/>
                  </a:lnTo>
                  <a:lnTo>
                    <a:pt x="1407020" y="63761"/>
                  </a:lnTo>
                  <a:lnTo>
                    <a:pt x="1356151" y="51066"/>
                  </a:lnTo>
                  <a:lnTo>
                    <a:pt x="1302512" y="39624"/>
                  </a:lnTo>
                  <a:lnTo>
                    <a:pt x="1246294" y="29498"/>
                  </a:lnTo>
                  <a:lnTo>
                    <a:pt x="1187691" y="20753"/>
                  </a:lnTo>
                  <a:lnTo>
                    <a:pt x="1126895" y="13453"/>
                  </a:lnTo>
                  <a:lnTo>
                    <a:pt x="1064098" y="7664"/>
                  </a:lnTo>
                  <a:lnTo>
                    <a:pt x="999494" y="3449"/>
                  </a:lnTo>
                  <a:lnTo>
                    <a:pt x="933274" y="873"/>
                  </a:lnTo>
                  <a:lnTo>
                    <a:pt x="86563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44851" y="2840735"/>
              <a:ext cx="1731645" cy="581025"/>
            </a:xfrm>
            <a:custGeom>
              <a:avLst/>
              <a:gdLst/>
              <a:ahLst/>
              <a:cxnLst/>
              <a:rect l="l" t="t" r="r" b="b"/>
              <a:pathLst>
                <a:path w="1731645" h="581025">
                  <a:moveTo>
                    <a:pt x="0" y="290322"/>
                  </a:moveTo>
                  <a:lnTo>
                    <a:pt x="10290" y="245408"/>
                  </a:lnTo>
                  <a:lnTo>
                    <a:pt x="40134" y="202669"/>
                  </a:lnTo>
                  <a:lnTo>
                    <a:pt x="87992" y="162619"/>
                  </a:lnTo>
                  <a:lnTo>
                    <a:pt x="152322" y="125774"/>
                  </a:lnTo>
                  <a:lnTo>
                    <a:pt x="190184" y="108714"/>
                  </a:lnTo>
                  <a:lnTo>
                    <a:pt x="231586" y="92650"/>
                  </a:lnTo>
                  <a:lnTo>
                    <a:pt x="276337" y="77644"/>
                  </a:lnTo>
                  <a:lnTo>
                    <a:pt x="324243" y="63761"/>
                  </a:lnTo>
                  <a:lnTo>
                    <a:pt x="375112" y="51066"/>
                  </a:lnTo>
                  <a:lnTo>
                    <a:pt x="428752" y="39624"/>
                  </a:lnTo>
                  <a:lnTo>
                    <a:pt x="484969" y="29498"/>
                  </a:lnTo>
                  <a:lnTo>
                    <a:pt x="543572" y="20753"/>
                  </a:lnTo>
                  <a:lnTo>
                    <a:pt x="604368" y="13453"/>
                  </a:lnTo>
                  <a:lnTo>
                    <a:pt x="667165" y="7664"/>
                  </a:lnTo>
                  <a:lnTo>
                    <a:pt x="731769" y="3449"/>
                  </a:lnTo>
                  <a:lnTo>
                    <a:pt x="797989" y="873"/>
                  </a:lnTo>
                  <a:lnTo>
                    <a:pt x="865632" y="0"/>
                  </a:lnTo>
                  <a:lnTo>
                    <a:pt x="933274" y="873"/>
                  </a:lnTo>
                  <a:lnTo>
                    <a:pt x="999494" y="3449"/>
                  </a:lnTo>
                  <a:lnTo>
                    <a:pt x="1064098" y="7664"/>
                  </a:lnTo>
                  <a:lnTo>
                    <a:pt x="1126895" y="13453"/>
                  </a:lnTo>
                  <a:lnTo>
                    <a:pt x="1187691" y="20753"/>
                  </a:lnTo>
                  <a:lnTo>
                    <a:pt x="1246294" y="29498"/>
                  </a:lnTo>
                  <a:lnTo>
                    <a:pt x="1302512" y="39624"/>
                  </a:lnTo>
                  <a:lnTo>
                    <a:pt x="1356151" y="51066"/>
                  </a:lnTo>
                  <a:lnTo>
                    <a:pt x="1407020" y="63761"/>
                  </a:lnTo>
                  <a:lnTo>
                    <a:pt x="1454926" y="77644"/>
                  </a:lnTo>
                  <a:lnTo>
                    <a:pt x="1499677" y="92650"/>
                  </a:lnTo>
                  <a:lnTo>
                    <a:pt x="1541079" y="108714"/>
                  </a:lnTo>
                  <a:lnTo>
                    <a:pt x="1578941" y="125774"/>
                  </a:lnTo>
                  <a:lnTo>
                    <a:pt x="1613069" y="143763"/>
                  </a:lnTo>
                  <a:lnTo>
                    <a:pt x="1669356" y="182275"/>
                  </a:lnTo>
                  <a:lnTo>
                    <a:pt x="1708399" y="223734"/>
                  </a:lnTo>
                  <a:lnTo>
                    <a:pt x="1728659" y="267625"/>
                  </a:lnTo>
                  <a:lnTo>
                    <a:pt x="1731264" y="290322"/>
                  </a:lnTo>
                  <a:lnTo>
                    <a:pt x="1728659" y="313018"/>
                  </a:lnTo>
                  <a:lnTo>
                    <a:pt x="1708399" y="356909"/>
                  </a:lnTo>
                  <a:lnTo>
                    <a:pt x="1669356" y="398368"/>
                  </a:lnTo>
                  <a:lnTo>
                    <a:pt x="1613069" y="436879"/>
                  </a:lnTo>
                  <a:lnTo>
                    <a:pt x="1578941" y="454869"/>
                  </a:lnTo>
                  <a:lnTo>
                    <a:pt x="1541079" y="471929"/>
                  </a:lnTo>
                  <a:lnTo>
                    <a:pt x="1499677" y="487993"/>
                  </a:lnTo>
                  <a:lnTo>
                    <a:pt x="1454926" y="502999"/>
                  </a:lnTo>
                  <a:lnTo>
                    <a:pt x="1407020" y="516882"/>
                  </a:lnTo>
                  <a:lnTo>
                    <a:pt x="1356151" y="529577"/>
                  </a:lnTo>
                  <a:lnTo>
                    <a:pt x="1302512" y="541019"/>
                  </a:lnTo>
                  <a:lnTo>
                    <a:pt x="1246294" y="551145"/>
                  </a:lnTo>
                  <a:lnTo>
                    <a:pt x="1187691" y="559890"/>
                  </a:lnTo>
                  <a:lnTo>
                    <a:pt x="1126895" y="567190"/>
                  </a:lnTo>
                  <a:lnTo>
                    <a:pt x="1064098" y="572979"/>
                  </a:lnTo>
                  <a:lnTo>
                    <a:pt x="999494" y="577194"/>
                  </a:lnTo>
                  <a:lnTo>
                    <a:pt x="933274" y="579770"/>
                  </a:lnTo>
                  <a:lnTo>
                    <a:pt x="865632" y="580643"/>
                  </a:lnTo>
                  <a:lnTo>
                    <a:pt x="797989" y="579770"/>
                  </a:lnTo>
                  <a:lnTo>
                    <a:pt x="731769" y="577194"/>
                  </a:lnTo>
                  <a:lnTo>
                    <a:pt x="667165" y="572979"/>
                  </a:lnTo>
                  <a:lnTo>
                    <a:pt x="604368" y="567190"/>
                  </a:lnTo>
                  <a:lnTo>
                    <a:pt x="543572" y="559890"/>
                  </a:lnTo>
                  <a:lnTo>
                    <a:pt x="484969" y="551145"/>
                  </a:lnTo>
                  <a:lnTo>
                    <a:pt x="428752" y="541019"/>
                  </a:lnTo>
                  <a:lnTo>
                    <a:pt x="375112" y="529577"/>
                  </a:lnTo>
                  <a:lnTo>
                    <a:pt x="324243" y="516882"/>
                  </a:lnTo>
                  <a:lnTo>
                    <a:pt x="276337" y="502999"/>
                  </a:lnTo>
                  <a:lnTo>
                    <a:pt x="231586" y="487993"/>
                  </a:lnTo>
                  <a:lnTo>
                    <a:pt x="190184" y="471929"/>
                  </a:lnTo>
                  <a:lnTo>
                    <a:pt x="152322" y="454869"/>
                  </a:lnTo>
                  <a:lnTo>
                    <a:pt x="118194" y="436880"/>
                  </a:lnTo>
                  <a:lnTo>
                    <a:pt x="61907" y="398368"/>
                  </a:lnTo>
                  <a:lnTo>
                    <a:pt x="22864" y="356909"/>
                  </a:lnTo>
                  <a:lnTo>
                    <a:pt x="2604" y="313018"/>
                  </a:lnTo>
                  <a:lnTo>
                    <a:pt x="0" y="290322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725292" y="2966720"/>
            <a:ext cx="769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Outlook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60347" y="4172711"/>
            <a:ext cx="1428115" cy="425450"/>
          </a:xfrm>
          <a:prstGeom prst="rect">
            <a:avLst/>
          </a:prstGeom>
          <a:solidFill>
            <a:srgbClr val="4471C4"/>
          </a:solidFill>
          <a:ln w="12191">
            <a:solidFill>
              <a:srgbClr val="2E528F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430530">
              <a:lnSpc>
                <a:spcPct val="100000"/>
              </a:lnSpc>
              <a:spcBef>
                <a:spcPts val="48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Sunny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62884" y="4198620"/>
            <a:ext cx="1426845" cy="425450"/>
          </a:xfrm>
          <a:prstGeom prst="rect">
            <a:avLst/>
          </a:prstGeom>
          <a:solidFill>
            <a:srgbClr val="4471C4"/>
          </a:solidFill>
          <a:ln w="12192">
            <a:solidFill>
              <a:srgbClr val="2E528F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48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Cloudy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244851" y="3501263"/>
            <a:ext cx="448309" cy="567055"/>
          </a:xfrm>
          <a:custGeom>
            <a:avLst/>
            <a:gdLst/>
            <a:ahLst/>
            <a:cxnLst/>
            <a:rect l="l" t="t" r="r" b="b"/>
            <a:pathLst>
              <a:path w="448310" h="567054">
                <a:moveTo>
                  <a:pt x="17145" y="483488"/>
                </a:moveTo>
                <a:lnTo>
                  <a:pt x="0" y="566928"/>
                </a:lnTo>
                <a:lnTo>
                  <a:pt x="77089" y="530732"/>
                </a:lnTo>
                <a:lnTo>
                  <a:pt x="64842" y="521081"/>
                </a:lnTo>
                <a:lnTo>
                  <a:pt x="44323" y="521081"/>
                </a:lnTo>
                <a:lnTo>
                  <a:pt x="34290" y="513206"/>
                </a:lnTo>
                <a:lnTo>
                  <a:pt x="42164" y="503207"/>
                </a:lnTo>
                <a:lnTo>
                  <a:pt x="17145" y="483488"/>
                </a:lnTo>
                <a:close/>
              </a:path>
              <a:path w="448310" h="567054">
                <a:moveTo>
                  <a:pt x="42164" y="503207"/>
                </a:moveTo>
                <a:lnTo>
                  <a:pt x="34290" y="513206"/>
                </a:lnTo>
                <a:lnTo>
                  <a:pt x="44323" y="521081"/>
                </a:lnTo>
                <a:lnTo>
                  <a:pt x="52179" y="511100"/>
                </a:lnTo>
                <a:lnTo>
                  <a:pt x="42164" y="503207"/>
                </a:lnTo>
                <a:close/>
              </a:path>
              <a:path w="448310" h="567054">
                <a:moveTo>
                  <a:pt x="52179" y="511100"/>
                </a:moveTo>
                <a:lnTo>
                  <a:pt x="44323" y="521081"/>
                </a:lnTo>
                <a:lnTo>
                  <a:pt x="64842" y="521081"/>
                </a:lnTo>
                <a:lnTo>
                  <a:pt x="52179" y="511100"/>
                </a:lnTo>
                <a:close/>
              </a:path>
              <a:path w="448310" h="567054">
                <a:moveTo>
                  <a:pt x="438404" y="0"/>
                </a:moveTo>
                <a:lnTo>
                  <a:pt x="42164" y="503207"/>
                </a:lnTo>
                <a:lnTo>
                  <a:pt x="52179" y="511100"/>
                </a:lnTo>
                <a:lnTo>
                  <a:pt x="448310" y="7874"/>
                </a:lnTo>
                <a:lnTo>
                  <a:pt x="438404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486022" y="3502025"/>
            <a:ext cx="338455" cy="566420"/>
          </a:xfrm>
          <a:custGeom>
            <a:avLst/>
            <a:gdLst/>
            <a:ahLst/>
            <a:cxnLst/>
            <a:rect l="l" t="t" r="r" b="b"/>
            <a:pathLst>
              <a:path w="338454" h="566420">
                <a:moveTo>
                  <a:pt x="293766" y="503789"/>
                </a:moveTo>
                <a:lnTo>
                  <a:pt x="266446" y="519938"/>
                </a:lnTo>
                <a:lnTo>
                  <a:pt x="337947" y="566166"/>
                </a:lnTo>
                <a:lnTo>
                  <a:pt x="334333" y="514731"/>
                </a:lnTo>
                <a:lnTo>
                  <a:pt x="300227" y="514731"/>
                </a:lnTo>
                <a:lnTo>
                  <a:pt x="293766" y="503789"/>
                </a:lnTo>
                <a:close/>
              </a:path>
              <a:path w="338454" h="566420">
                <a:moveTo>
                  <a:pt x="304642" y="497360"/>
                </a:moveTo>
                <a:lnTo>
                  <a:pt x="293766" y="503789"/>
                </a:lnTo>
                <a:lnTo>
                  <a:pt x="300227" y="514731"/>
                </a:lnTo>
                <a:lnTo>
                  <a:pt x="311150" y="508381"/>
                </a:lnTo>
                <a:lnTo>
                  <a:pt x="304642" y="497360"/>
                </a:lnTo>
                <a:close/>
              </a:path>
              <a:path w="338454" h="566420">
                <a:moveTo>
                  <a:pt x="331977" y="481202"/>
                </a:moveTo>
                <a:lnTo>
                  <a:pt x="304642" y="497360"/>
                </a:lnTo>
                <a:lnTo>
                  <a:pt x="311150" y="508381"/>
                </a:lnTo>
                <a:lnTo>
                  <a:pt x="300227" y="514731"/>
                </a:lnTo>
                <a:lnTo>
                  <a:pt x="334333" y="514731"/>
                </a:lnTo>
                <a:lnTo>
                  <a:pt x="331977" y="481202"/>
                </a:lnTo>
                <a:close/>
              </a:path>
              <a:path w="338454" h="566420">
                <a:moveTo>
                  <a:pt x="10922" y="0"/>
                </a:moveTo>
                <a:lnTo>
                  <a:pt x="0" y="6350"/>
                </a:lnTo>
                <a:lnTo>
                  <a:pt x="293766" y="503789"/>
                </a:lnTo>
                <a:lnTo>
                  <a:pt x="304642" y="497360"/>
                </a:lnTo>
                <a:lnTo>
                  <a:pt x="10922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018792" y="3523310"/>
            <a:ext cx="2667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03090" y="3523310"/>
            <a:ext cx="3295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y</a:t>
            </a:r>
            <a:r>
              <a:rPr sz="1800" dirty="0">
                <a:latin typeface="Calibri"/>
                <a:cs typeface="Calibri"/>
              </a:rPr>
              <a:t>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3966209" y="540765"/>
            <a:ext cx="3559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All</a:t>
            </a:r>
            <a:r>
              <a:rPr spc="-10" dirty="0"/>
              <a:t> </a:t>
            </a:r>
            <a:r>
              <a:rPr dirty="0"/>
              <a:t>about</a:t>
            </a:r>
            <a:r>
              <a:rPr spc="-20" dirty="0"/>
              <a:t> </a:t>
            </a:r>
            <a:r>
              <a:rPr spc="-10" dirty="0"/>
              <a:t>Decision</a:t>
            </a:r>
            <a:r>
              <a:rPr spc="-25" dirty="0"/>
              <a:t> </a:t>
            </a:r>
            <a:r>
              <a:rPr dirty="0"/>
              <a:t>Tree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14290" y="1633473"/>
            <a:ext cx="1968500" cy="876935"/>
            <a:chOff x="5114290" y="1633473"/>
            <a:chExt cx="1968500" cy="876935"/>
          </a:xfrm>
        </p:grpSpPr>
        <p:sp>
          <p:nvSpPr>
            <p:cNvPr id="3" name="object 3"/>
            <p:cNvSpPr/>
            <p:nvPr/>
          </p:nvSpPr>
          <p:spPr>
            <a:xfrm>
              <a:off x="5120640" y="1639823"/>
              <a:ext cx="1955800" cy="864235"/>
            </a:xfrm>
            <a:custGeom>
              <a:avLst/>
              <a:gdLst/>
              <a:ahLst/>
              <a:cxnLst/>
              <a:rect l="l" t="t" r="r" b="b"/>
              <a:pathLst>
                <a:path w="1955800" h="864235">
                  <a:moveTo>
                    <a:pt x="977646" y="0"/>
                  </a:moveTo>
                  <a:lnTo>
                    <a:pt x="913372" y="918"/>
                  </a:lnTo>
                  <a:lnTo>
                    <a:pt x="850207" y="3637"/>
                  </a:lnTo>
                  <a:lnTo>
                    <a:pt x="788281" y="8099"/>
                  </a:lnTo>
                  <a:lnTo>
                    <a:pt x="727721" y="14247"/>
                  </a:lnTo>
                  <a:lnTo>
                    <a:pt x="668658" y="22024"/>
                  </a:lnTo>
                  <a:lnTo>
                    <a:pt x="611219" y="31374"/>
                  </a:lnTo>
                  <a:lnTo>
                    <a:pt x="555533" y="42239"/>
                  </a:lnTo>
                  <a:lnTo>
                    <a:pt x="501730" y="54562"/>
                  </a:lnTo>
                  <a:lnTo>
                    <a:pt x="449939" y="68287"/>
                  </a:lnTo>
                  <a:lnTo>
                    <a:pt x="400287" y="83356"/>
                  </a:lnTo>
                  <a:lnTo>
                    <a:pt x="352905" y="99713"/>
                  </a:lnTo>
                  <a:lnTo>
                    <a:pt x="307921" y="117301"/>
                  </a:lnTo>
                  <a:lnTo>
                    <a:pt x="265464" y="136063"/>
                  </a:lnTo>
                  <a:lnTo>
                    <a:pt x="225663" y="155942"/>
                  </a:lnTo>
                  <a:lnTo>
                    <a:pt x="188646" y="176881"/>
                  </a:lnTo>
                  <a:lnTo>
                    <a:pt x="154543" y="198823"/>
                  </a:lnTo>
                  <a:lnTo>
                    <a:pt x="123483" y="221711"/>
                  </a:lnTo>
                  <a:lnTo>
                    <a:pt x="71006" y="270099"/>
                  </a:lnTo>
                  <a:lnTo>
                    <a:pt x="32245" y="321589"/>
                  </a:lnTo>
                  <a:lnTo>
                    <a:pt x="8233" y="375726"/>
                  </a:lnTo>
                  <a:lnTo>
                    <a:pt x="0" y="432053"/>
                  </a:lnTo>
                  <a:lnTo>
                    <a:pt x="2079" y="460463"/>
                  </a:lnTo>
                  <a:lnTo>
                    <a:pt x="18331" y="515752"/>
                  </a:lnTo>
                  <a:lnTo>
                    <a:pt x="49846" y="568622"/>
                  </a:lnTo>
                  <a:lnTo>
                    <a:pt x="95594" y="618618"/>
                  </a:lnTo>
                  <a:lnTo>
                    <a:pt x="154543" y="665284"/>
                  </a:lnTo>
                  <a:lnTo>
                    <a:pt x="188646" y="687226"/>
                  </a:lnTo>
                  <a:lnTo>
                    <a:pt x="225663" y="708165"/>
                  </a:lnTo>
                  <a:lnTo>
                    <a:pt x="265464" y="728044"/>
                  </a:lnTo>
                  <a:lnTo>
                    <a:pt x="307921" y="746806"/>
                  </a:lnTo>
                  <a:lnTo>
                    <a:pt x="352905" y="764394"/>
                  </a:lnTo>
                  <a:lnTo>
                    <a:pt x="400287" y="780751"/>
                  </a:lnTo>
                  <a:lnTo>
                    <a:pt x="449939" y="795820"/>
                  </a:lnTo>
                  <a:lnTo>
                    <a:pt x="501730" y="809545"/>
                  </a:lnTo>
                  <a:lnTo>
                    <a:pt x="555533" y="821868"/>
                  </a:lnTo>
                  <a:lnTo>
                    <a:pt x="611219" y="832733"/>
                  </a:lnTo>
                  <a:lnTo>
                    <a:pt x="668658" y="842083"/>
                  </a:lnTo>
                  <a:lnTo>
                    <a:pt x="727721" y="849860"/>
                  </a:lnTo>
                  <a:lnTo>
                    <a:pt x="788281" y="856008"/>
                  </a:lnTo>
                  <a:lnTo>
                    <a:pt x="850207" y="860470"/>
                  </a:lnTo>
                  <a:lnTo>
                    <a:pt x="913372" y="863189"/>
                  </a:lnTo>
                  <a:lnTo>
                    <a:pt x="977646" y="864108"/>
                  </a:lnTo>
                  <a:lnTo>
                    <a:pt x="1041919" y="863189"/>
                  </a:lnTo>
                  <a:lnTo>
                    <a:pt x="1105084" y="860470"/>
                  </a:lnTo>
                  <a:lnTo>
                    <a:pt x="1167010" y="856008"/>
                  </a:lnTo>
                  <a:lnTo>
                    <a:pt x="1227570" y="849860"/>
                  </a:lnTo>
                  <a:lnTo>
                    <a:pt x="1286633" y="842083"/>
                  </a:lnTo>
                  <a:lnTo>
                    <a:pt x="1344072" y="832733"/>
                  </a:lnTo>
                  <a:lnTo>
                    <a:pt x="1399758" y="821868"/>
                  </a:lnTo>
                  <a:lnTo>
                    <a:pt x="1453561" y="809545"/>
                  </a:lnTo>
                  <a:lnTo>
                    <a:pt x="1505352" y="795820"/>
                  </a:lnTo>
                  <a:lnTo>
                    <a:pt x="1555004" y="780751"/>
                  </a:lnTo>
                  <a:lnTo>
                    <a:pt x="1602386" y="764394"/>
                  </a:lnTo>
                  <a:lnTo>
                    <a:pt x="1647370" y="746806"/>
                  </a:lnTo>
                  <a:lnTo>
                    <a:pt x="1689827" y="728044"/>
                  </a:lnTo>
                  <a:lnTo>
                    <a:pt x="1729628" y="708165"/>
                  </a:lnTo>
                  <a:lnTo>
                    <a:pt x="1766645" y="687226"/>
                  </a:lnTo>
                  <a:lnTo>
                    <a:pt x="1800748" y="665284"/>
                  </a:lnTo>
                  <a:lnTo>
                    <a:pt x="1831808" y="642396"/>
                  </a:lnTo>
                  <a:lnTo>
                    <a:pt x="1884285" y="594008"/>
                  </a:lnTo>
                  <a:lnTo>
                    <a:pt x="1923046" y="542518"/>
                  </a:lnTo>
                  <a:lnTo>
                    <a:pt x="1947058" y="488381"/>
                  </a:lnTo>
                  <a:lnTo>
                    <a:pt x="1955291" y="432053"/>
                  </a:lnTo>
                  <a:lnTo>
                    <a:pt x="1953212" y="403644"/>
                  </a:lnTo>
                  <a:lnTo>
                    <a:pt x="1936960" y="348355"/>
                  </a:lnTo>
                  <a:lnTo>
                    <a:pt x="1905445" y="295485"/>
                  </a:lnTo>
                  <a:lnTo>
                    <a:pt x="1859697" y="245489"/>
                  </a:lnTo>
                  <a:lnTo>
                    <a:pt x="1800748" y="198823"/>
                  </a:lnTo>
                  <a:lnTo>
                    <a:pt x="1766645" y="176881"/>
                  </a:lnTo>
                  <a:lnTo>
                    <a:pt x="1729628" y="155942"/>
                  </a:lnTo>
                  <a:lnTo>
                    <a:pt x="1689827" y="136063"/>
                  </a:lnTo>
                  <a:lnTo>
                    <a:pt x="1647370" y="117301"/>
                  </a:lnTo>
                  <a:lnTo>
                    <a:pt x="1602386" y="99713"/>
                  </a:lnTo>
                  <a:lnTo>
                    <a:pt x="1555004" y="83356"/>
                  </a:lnTo>
                  <a:lnTo>
                    <a:pt x="1505352" y="68287"/>
                  </a:lnTo>
                  <a:lnTo>
                    <a:pt x="1453561" y="54562"/>
                  </a:lnTo>
                  <a:lnTo>
                    <a:pt x="1399758" y="42239"/>
                  </a:lnTo>
                  <a:lnTo>
                    <a:pt x="1344072" y="31374"/>
                  </a:lnTo>
                  <a:lnTo>
                    <a:pt x="1286633" y="22024"/>
                  </a:lnTo>
                  <a:lnTo>
                    <a:pt x="1227570" y="14247"/>
                  </a:lnTo>
                  <a:lnTo>
                    <a:pt x="1167010" y="8099"/>
                  </a:lnTo>
                  <a:lnTo>
                    <a:pt x="1105084" y="3637"/>
                  </a:lnTo>
                  <a:lnTo>
                    <a:pt x="1041919" y="918"/>
                  </a:lnTo>
                  <a:lnTo>
                    <a:pt x="97764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120640" y="1639823"/>
              <a:ext cx="1955800" cy="864235"/>
            </a:xfrm>
            <a:custGeom>
              <a:avLst/>
              <a:gdLst/>
              <a:ahLst/>
              <a:cxnLst/>
              <a:rect l="l" t="t" r="r" b="b"/>
              <a:pathLst>
                <a:path w="1955800" h="864235">
                  <a:moveTo>
                    <a:pt x="0" y="432053"/>
                  </a:moveTo>
                  <a:lnTo>
                    <a:pt x="8233" y="375726"/>
                  </a:lnTo>
                  <a:lnTo>
                    <a:pt x="32245" y="321589"/>
                  </a:lnTo>
                  <a:lnTo>
                    <a:pt x="71006" y="270099"/>
                  </a:lnTo>
                  <a:lnTo>
                    <a:pt x="123483" y="221711"/>
                  </a:lnTo>
                  <a:lnTo>
                    <a:pt x="154543" y="198823"/>
                  </a:lnTo>
                  <a:lnTo>
                    <a:pt x="188646" y="176881"/>
                  </a:lnTo>
                  <a:lnTo>
                    <a:pt x="225663" y="155942"/>
                  </a:lnTo>
                  <a:lnTo>
                    <a:pt x="265464" y="136063"/>
                  </a:lnTo>
                  <a:lnTo>
                    <a:pt x="307921" y="117301"/>
                  </a:lnTo>
                  <a:lnTo>
                    <a:pt x="352905" y="99713"/>
                  </a:lnTo>
                  <a:lnTo>
                    <a:pt x="400287" y="83356"/>
                  </a:lnTo>
                  <a:lnTo>
                    <a:pt x="449939" y="68287"/>
                  </a:lnTo>
                  <a:lnTo>
                    <a:pt x="501730" y="54562"/>
                  </a:lnTo>
                  <a:lnTo>
                    <a:pt x="555533" y="42239"/>
                  </a:lnTo>
                  <a:lnTo>
                    <a:pt x="611219" y="31374"/>
                  </a:lnTo>
                  <a:lnTo>
                    <a:pt x="668658" y="22024"/>
                  </a:lnTo>
                  <a:lnTo>
                    <a:pt x="727721" y="14247"/>
                  </a:lnTo>
                  <a:lnTo>
                    <a:pt x="788281" y="8099"/>
                  </a:lnTo>
                  <a:lnTo>
                    <a:pt x="850207" y="3637"/>
                  </a:lnTo>
                  <a:lnTo>
                    <a:pt x="913372" y="918"/>
                  </a:lnTo>
                  <a:lnTo>
                    <a:pt x="977646" y="0"/>
                  </a:lnTo>
                  <a:lnTo>
                    <a:pt x="1041919" y="918"/>
                  </a:lnTo>
                  <a:lnTo>
                    <a:pt x="1105084" y="3637"/>
                  </a:lnTo>
                  <a:lnTo>
                    <a:pt x="1167010" y="8099"/>
                  </a:lnTo>
                  <a:lnTo>
                    <a:pt x="1227570" y="14247"/>
                  </a:lnTo>
                  <a:lnTo>
                    <a:pt x="1286633" y="22024"/>
                  </a:lnTo>
                  <a:lnTo>
                    <a:pt x="1344072" y="31374"/>
                  </a:lnTo>
                  <a:lnTo>
                    <a:pt x="1399758" y="42239"/>
                  </a:lnTo>
                  <a:lnTo>
                    <a:pt x="1453561" y="54562"/>
                  </a:lnTo>
                  <a:lnTo>
                    <a:pt x="1505352" y="68287"/>
                  </a:lnTo>
                  <a:lnTo>
                    <a:pt x="1555004" y="83356"/>
                  </a:lnTo>
                  <a:lnTo>
                    <a:pt x="1602386" y="99713"/>
                  </a:lnTo>
                  <a:lnTo>
                    <a:pt x="1647370" y="117301"/>
                  </a:lnTo>
                  <a:lnTo>
                    <a:pt x="1689827" y="136063"/>
                  </a:lnTo>
                  <a:lnTo>
                    <a:pt x="1729628" y="155942"/>
                  </a:lnTo>
                  <a:lnTo>
                    <a:pt x="1766645" y="176881"/>
                  </a:lnTo>
                  <a:lnTo>
                    <a:pt x="1800748" y="198823"/>
                  </a:lnTo>
                  <a:lnTo>
                    <a:pt x="1831808" y="221711"/>
                  </a:lnTo>
                  <a:lnTo>
                    <a:pt x="1884285" y="270099"/>
                  </a:lnTo>
                  <a:lnTo>
                    <a:pt x="1923046" y="321589"/>
                  </a:lnTo>
                  <a:lnTo>
                    <a:pt x="1947058" y="375726"/>
                  </a:lnTo>
                  <a:lnTo>
                    <a:pt x="1955291" y="432053"/>
                  </a:lnTo>
                  <a:lnTo>
                    <a:pt x="1953212" y="460463"/>
                  </a:lnTo>
                  <a:lnTo>
                    <a:pt x="1936960" y="515752"/>
                  </a:lnTo>
                  <a:lnTo>
                    <a:pt x="1905445" y="568622"/>
                  </a:lnTo>
                  <a:lnTo>
                    <a:pt x="1859697" y="618618"/>
                  </a:lnTo>
                  <a:lnTo>
                    <a:pt x="1800748" y="665284"/>
                  </a:lnTo>
                  <a:lnTo>
                    <a:pt x="1766645" y="687226"/>
                  </a:lnTo>
                  <a:lnTo>
                    <a:pt x="1729628" y="708165"/>
                  </a:lnTo>
                  <a:lnTo>
                    <a:pt x="1689827" y="728044"/>
                  </a:lnTo>
                  <a:lnTo>
                    <a:pt x="1647370" y="746806"/>
                  </a:lnTo>
                  <a:lnTo>
                    <a:pt x="1602386" y="764394"/>
                  </a:lnTo>
                  <a:lnTo>
                    <a:pt x="1555004" y="780751"/>
                  </a:lnTo>
                  <a:lnTo>
                    <a:pt x="1505352" y="795820"/>
                  </a:lnTo>
                  <a:lnTo>
                    <a:pt x="1453561" y="809545"/>
                  </a:lnTo>
                  <a:lnTo>
                    <a:pt x="1399758" y="821868"/>
                  </a:lnTo>
                  <a:lnTo>
                    <a:pt x="1344072" y="832733"/>
                  </a:lnTo>
                  <a:lnTo>
                    <a:pt x="1286633" y="842083"/>
                  </a:lnTo>
                  <a:lnTo>
                    <a:pt x="1227570" y="849860"/>
                  </a:lnTo>
                  <a:lnTo>
                    <a:pt x="1167010" y="856008"/>
                  </a:lnTo>
                  <a:lnTo>
                    <a:pt x="1105084" y="860470"/>
                  </a:lnTo>
                  <a:lnTo>
                    <a:pt x="1041919" y="863189"/>
                  </a:lnTo>
                  <a:lnTo>
                    <a:pt x="977646" y="864108"/>
                  </a:lnTo>
                  <a:lnTo>
                    <a:pt x="913372" y="863189"/>
                  </a:lnTo>
                  <a:lnTo>
                    <a:pt x="850207" y="860470"/>
                  </a:lnTo>
                  <a:lnTo>
                    <a:pt x="788281" y="856008"/>
                  </a:lnTo>
                  <a:lnTo>
                    <a:pt x="727721" y="849860"/>
                  </a:lnTo>
                  <a:lnTo>
                    <a:pt x="668658" y="842083"/>
                  </a:lnTo>
                  <a:lnTo>
                    <a:pt x="611219" y="832733"/>
                  </a:lnTo>
                  <a:lnTo>
                    <a:pt x="555533" y="821868"/>
                  </a:lnTo>
                  <a:lnTo>
                    <a:pt x="501730" y="809545"/>
                  </a:lnTo>
                  <a:lnTo>
                    <a:pt x="449939" y="795820"/>
                  </a:lnTo>
                  <a:lnTo>
                    <a:pt x="400287" y="780751"/>
                  </a:lnTo>
                  <a:lnTo>
                    <a:pt x="352905" y="764394"/>
                  </a:lnTo>
                  <a:lnTo>
                    <a:pt x="307921" y="746806"/>
                  </a:lnTo>
                  <a:lnTo>
                    <a:pt x="265464" y="728044"/>
                  </a:lnTo>
                  <a:lnTo>
                    <a:pt x="225663" y="708165"/>
                  </a:lnTo>
                  <a:lnTo>
                    <a:pt x="188646" y="687226"/>
                  </a:lnTo>
                  <a:lnTo>
                    <a:pt x="154543" y="665284"/>
                  </a:lnTo>
                  <a:lnTo>
                    <a:pt x="123483" y="642396"/>
                  </a:lnTo>
                  <a:lnTo>
                    <a:pt x="71006" y="594008"/>
                  </a:lnTo>
                  <a:lnTo>
                    <a:pt x="32245" y="542518"/>
                  </a:lnTo>
                  <a:lnTo>
                    <a:pt x="8233" y="488381"/>
                  </a:lnTo>
                  <a:lnTo>
                    <a:pt x="0" y="432053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488685" y="1906904"/>
            <a:ext cx="1218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Temperature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245609" y="2427477"/>
            <a:ext cx="959485" cy="297815"/>
            <a:chOff x="4245609" y="2427477"/>
            <a:chExt cx="959485" cy="297815"/>
          </a:xfrm>
        </p:grpSpPr>
        <p:sp>
          <p:nvSpPr>
            <p:cNvPr id="7" name="object 7"/>
            <p:cNvSpPr/>
            <p:nvPr/>
          </p:nvSpPr>
          <p:spPr>
            <a:xfrm>
              <a:off x="4251959" y="2433827"/>
              <a:ext cx="946785" cy="285115"/>
            </a:xfrm>
            <a:custGeom>
              <a:avLst/>
              <a:gdLst/>
              <a:ahLst/>
              <a:cxnLst/>
              <a:rect l="l" t="t" r="r" b="b"/>
              <a:pathLst>
                <a:path w="946785" h="285114">
                  <a:moveTo>
                    <a:pt x="898905" y="0"/>
                  </a:moveTo>
                  <a:lnTo>
                    <a:pt x="47498" y="0"/>
                  </a:lnTo>
                  <a:lnTo>
                    <a:pt x="28985" y="3724"/>
                  </a:lnTo>
                  <a:lnTo>
                    <a:pt x="13890" y="13890"/>
                  </a:lnTo>
                  <a:lnTo>
                    <a:pt x="3724" y="28985"/>
                  </a:lnTo>
                  <a:lnTo>
                    <a:pt x="0" y="47498"/>
                  </a:lnTo>
                  <a:lnTo>
                    <a:pt x="0" y="237489"/>
                  </a:lnTo>
                  <a:lnTo>
                    <a:pt x="3724" y="256002"/>
                  </a:lnTo>
                  <a:lnTo>
                    <a:pt x="13890" y="271097"/>
                  </a:lnTo>
                  <a:lnTo>
                    <a:pt x="28985" y="281263"/>
                  </a:lnTo>
                  <a:lnTo>
                    <a:pt x="47498" y="284988"/>
                  </a:lnTo>
                  <a:lnTo>
                    <a:pt x="898905" y="284988"/>
                  </a:lnTo>
                  <a:lnTo>
                    <a:pt x="917418" y="281263"/>
                  </a:lnTo>
                  <a:lnTo>
                    <a:pt x="932513" y="271097"/>
                  </a:lnTo>
                  <a:lnTo>
                    <a:pt x="942679" y="256002"/>
                  </a:lnTo>
                  <a:lnTo>
                    <a:pt x="946403" y="237489"/>
                  </a:lnTo>
                  <a:lnTo>
                    <a:pt x="946403" y="47498"/>
                  </a:lnTo>
                  <a:lnTo>
                    <a:pt x="942679" y="28985"/>
                  </a:lnTo>
                  <a:lnTo>
                    <a:pt x="932513" y="13890"/>
                  </a:lnTo>
                  <a:lnTo>
                    <a:pt x="917418" y="3724"/>
                  </a:lnTo>
                  <a:lnTo>
                    <a:pt x="8989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51959" y="2433827"/>
              <a:ext cx="946785" cy="285115"/>
            </a:xfrm>
            <a:custGeom>
              <a:avLst/>
              <a:gdLst/>
              <a:ahLst/>
              <a:cxnLst/>
              <a:rect l="l" t="t" r="r" b="b"/>
              <a:pathLst>
                <a:path w="946785" h="285114">
                  <a:moveTo>
                    <a:pt x="0" y="47498"/>
                  </a:moveTo>
                  <a:lnTo>
                    <a:pt x="3724" y="28985"/>
                  </a:lnTo>
                  <a:lnTo>
                    <a:pt x="13890" y="13890"/>
                  </a:lnTo>
                  <a:lnTo>
                    <a:pt x="28985" y="3724"/>
                  </a:lnTo>
                  <a:lnTo>
                    <a:pt x="47498" y="0"/>
                  </a:lnTo>
                  <a:lnTo>
                    <a:pt x="898905" y="0"/>
                  </a:lnTo>
                  <a:lnTo>
                    <a:pt x="917418" y="3724"/>
                  </a:lnTo>
                  <a:lnTo>
                    <a:pt x="932513" y="13890"/>
                  </a:lnTo>
                  <a:lnTo>
                    <a:pt x="942679" y="28985"/>
                  </a:lnTo>
                  <a:lnTo>
                    <a:pt x="946403" y="47498"/>
                  </a:lnTo>
                  <a:lnTo>
                    <a:pt x="946403" y="237489"/>
                  </a:lnTo>
                  <a:lnTo>
                    <a:pt x="942679" y="256002"/>
                  </a:lnTo>
                  <a:lnTo>
                    <a:pt x="932513" y="271097"/>
                  </a:lnTo>
                  <a:lnTo>
                    <a:pt x="917418" y="281263"/>
                  </a:lnTo>
                  <a:lnTo>
                    <a:pt x="898905" y="284988"/>
                  </a:lnTo>
                  <a:lnTo>
                    <a:pt x="47498" y="284988"/>
                  </a:lnTo>
                  <a:lnTo>
                    <a:pt x="28985" y="281263"/>
                  </a:lnTo>
                  <a:lnTo>
                    <a:pt x="13890" y="271097"/>
                  </a:lnTo>
                  <a:lnTo>
                    <a:pt x="3724" y="256002"/>
                  </a:lnTo>
                  <a:lnTo>
                    <a:pt x="0" y="237489"/>
                  </a:lnTo>
                  <a:lnTo>
                    <a:pt x="0" y="47498"/>
                  </a:lnTo>
                  <a:close/>
                </a:path>
              </a:pathLst>
            </a:custGeom>
            <a:ln w="12191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573651" y="2463165"/>
            <a:ext cx="3016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Cold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704076" y="2833116"/>
            <a:ext cx="1544320" cy="661670"/>
            <a:chOff x="6704076" y="2833116"/>
            <a:chExt cx="1544320" cy="661670"/>
          </a:xfrm>
        </p:grpSpPr>
        <p:sp>
          <p:nvSpPr>
            <p:cNvPr id="11" name="object 11"/>
            <p:cNvSpPr/>
            <p:nvPr/>
          </p:nvSpPr>
          <p:spPr>
            <a:xfrm>
              <a:off x="6710172" y="2839212"/>
              <a:ext cx="1531620" cy="649605"/>
            </a:xfrm>
            <a:custGeom>
              <a:avLst/>
              <a:gdLst/>
              <a:ahLst/>
              <a:cxnLst/>
              <a:rect l="l" t="t" r="r" b="b"/>
              <a:pathLst>
                <a:path w="1531620" h="649604">
                  <a:moveTo>
                    <a:pt x="1423416" y="0"/>
                  </a:moveTo>
                  <a:lnTo>
                    <a:pt x="108203" y="0"/>
                  </a:ln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0" y="541020"/>
                  </a:lnTo>
                  <a:lnTo>
                    <a:pt x="8495" y="583162"/>
                  </a:lnTo>
                  <a:lnTo>
                    <a:pt x="31670" y="617553"/>
                  </a:lnTo>
                  <a:lnTo>
                    <a:pt x="66061" y="640728"/>
                  </a:lnTo>
                  <a:lnTo>
                    <a:pt x="108203" y="649224"/>
                  </a:lnTo>
                  <a:lnTo>
                    <a:pt x="1423416" y="649224"/>
                  </a:lnTo>
                  <a:lnTo>
                    <a:pt x="1465558" y="640728"/>
                  </a:lnTo>
                  <a:lnTo>
                    <a:pt x="1499949" y="617553"/>
                  </a:lnTo>
                  <a:lnTo>
                    <a:pt x="1523124" y="583162"/>
                  </a:lnTo>
                  <a:lnTo>
                    <a:pt x="1531620" y="541020"/>
                  </a:lnTo>
                  <a:lnTo>
                    <a:pt x="1531620" y="108203"/>
                  </a:lnTo>
                  <a:lnTo>
                    <a:pt x="1523124" y="66061"/>
                  </a:lnTo>
                  <a:lnTo>
                    <a:pt x="1499949" y="31670"/>
                  </a:lnTo>
                  <a:lnTo>
                    <a:pt x="1465558" y="8495"/>
                  </a:lnTo>
                  <a:lnTo>
                    <a:pt x="1423416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10172" y="2839212"/>
              <a:ext cx="1531620" cy="649605"/>
            </a:xfrm>
            <a:custGeom>
              <a:avLst/>
              <a:gdLst/>
              <a:ahLst/>
              <a:cxnLst/>
              <a:rect l="l" t="t" r="r" b="b"/>
              <a:pathLst>
                <a:path w="1531620" h="649604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423416" y="0"/>
                  </a:lnTo>
                  <a:lnTo>
                    <a:pt x="1465558" y="8495"/>
                  </a:lnTo>
                  <a:lnTo>
                    <a:pt x="1499949" y="31670"/>
                  </a:lnTo>
                  <a:lnTo>
                    <a:pt x="1523124" y="66061"/>
                  </a:lnTo>
                  <a:lnTo>
                    <a:pt x="1531620" y="108203"/>
                  </a:lnTo>
                  <a:lnTo>
                    <a:pt x="1531620" y="541020"/>
                  </a:lnTo>
                  <a:lnTo>
                    <a:pt x="1523124" y="583162"/>
                  </a:lnTo>
                  <a:lnTo>
                    <a:pt x="1499949" y="617553"/>
                  </a:lnTo>
                  <a:lnTo>
                    <a:pt x="1465558" y="640728"/>
                  </a:lnTo>
                  <a:lnTo>
                    <a:pt x="1423416" y="649224"/>
                  </a:lnTo>
                  <a:lnTo>
                    <a:pt x="108203" y="649224"/>
                  </a:lnTo>
                  <a:lnTo>
                    <a:pt x="66061" y="640728"/>
                  </a:lnTo>
                  <a:lnTo>
                    <a:pt x="31670" y="617553"/>
                  </a:lnTo>
                  <a:lnTo>
                    <a:pt x="8495" y="583162"/>
                  </a:lnTo>
                  <a:lnTo>
                    <a:pt x="0" y="541020"/>
                  </a:lnTo>
                  <a:lnTo>
                    <a:pt x="0" y="108203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274814" y="2959100"/>
            <a:ext cx="4044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405" marR="5080" indent="-53340">
              <a:lnSpc>
                <a:spcPct val="100000"/>
              </a:lnSpc>
              <a:spcBef>
                <a:spcPts val="100"/>
              </a:spcBef>
            </a:pPr>
            <a:r>
              <a:rPr sz="1200" spc="-4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arm 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(No)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290059" y="6089903"/>
            <a:ext cx="1350645" cy="414655"/>
            <a:chOff x="4290059" y="6089903"/>
            <a:chExt cx="1350645" cy="414655"/>
          </a:xfrm>
        </p:grpSpPr>
        <p:sp>
          <p:nvSpPr>
            <p:cNvPr id="15" name="object 15"/>
            <p:cNvSpPr/>
            <p:nvPr/>
          </p:nvSpPr>
          <p:spPr>
            <a:xfrm>
              <a:off x="4296155" y="6095999"/>
              <a:ext cx="1338580" cy="402590"/>
            </a:xfrm>
            <a:custGeom>
              <a:avLst/>
              <a:gdLst/>
              <a:ahLst/>
              <a:cxnLst/>
              <a:rect l="l" t="t" r="r" b="b"/>
              <a:pathLst>
                <a:path w="1338579" h="402589">
                  <a:moveTo>
                    <a:pt x="1271016" y="0"/>
                  </a:moveTo>
                  <a:lnTo>
                    <a:pt x="67056" y="0"/>
                  </a:lnTo>
                  <a:lnTo>
                    <a:pt x="40933" y="5269"/>
                  </a:lnTo>
                  <a:lnTo>
                    <a:pt x="19621" y="19640"/>
                  </a:lnTo>
                  <a:lnTo>
                    <a:pt x="5262" y="40955"/>
                  </a:lnTo>
                  <a:lnTo>
                    <a:pt x="0" y="67056"/>
                  </a:lnTo>
                  <a:lnTo>
                    <a:pt x="0" y="335280"/>
                  </a:lnTo>
                  <a:lnTo>
                    <a:pt x="5262" y="361380"/>
                  </a:lnTo>
                  <a:lnTo>
                    <a:pt x="19621" y="382695"/>
                  </a:lnTo>
                  <a:lnTo>
                    <a:pt x="40933" y="397066"/>
                  </a:lnTo>
                  <a:lnTo>
                    <a:pt x="67056" y="402336"/>
                  </a:lnTo>
                  <a:lnTo>
                    <a:pt x="1271016" y="402336"/>
                  </a:lnTo>
                  <a:lnTo>
                    <a:pt x="1297138" y="397066"/>
                  </a:lnTo>
                  <a:lnTo>
                    <a:pt x="1318450" y="382695"/>
                  </a:lnTo>
                  <a:lnTo>
                    <a:pt x="1332809" y="361380"/>
                  </a:lnTo>
                  <a:lnTo>
                    <a:pt x="1338072" y="335280"/>
                  </a:lnTo>
                  <a:lnTo>
                    <a:pt x="1338072" y="67056"/>
                  </a:lnTo>
                  <a:lnTo>
                    <a:pt x="1332809" y="40955"/>
                  </a:lnTo>
                  <a:lnTo>
                    <a:pt x="1318450" y="19640"/>
                  </a:lnTo>
                  <a:lnTo>
                    <a:pt x="1297138" y="5269"/>
                  </a:lnTo>
                  <a:lnTo>
                    <a:pt x="1271016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96155" y="6095999"/>
              <a:ext cx="1338580" cy="402590"/>
            </a:xfrm>
            <a:custGeom>
              <a:avLst/>
              <a:gdLst/>
              <a:ahLst/>
              <a:cxnLst/>
              <a:rect l="l" t="t" r="r" b="b"/>
              <a:pathLst>
                <a:path w="1338579" h="402589">
                  <a:moveTo>
                    <a:pt x="0" y="67056"/>
                  </a:moveTo>
                  <a:lnTo>
                    <a:pt x="5262" y="40955"/>
                  </a:lnTo>
                  <a:lnTo>
                    <a:pt x="19621" y="19640"/>
                  </a:lnTo>
                  <a:lnTo>
                    <a:pt x="40933" y="5269"/>
                  </a:lnTo>
                  <a:lnTo>
                    <a:pt x="67056" y="0"/>
                  </a:lnTo>
                  <a:lnTo>
                    <a:pt x="1271016" y="0"/>
                  </a:lnTo>
                  <a:lnTo>
                    <a:pt x="1297138" y="5269"/>
                  </a:lnTo>
                  <a:lnTo>
                    <a:pt x="1318450" y="19640"/>
                  </a:lnTo>
                  <a:lnTo>
                    <a:pt x="1332809" y="40955"/>
                  </a:lnTo>
                  <a:lnTo>
                    <a:pt x="1338072" y="67056"/>
                  </a:lnTo>
                  <a:lnTo>
                    <a:pt x="1338072" y="335280"/>
                  </a:lnTo>
                  <a:lnTo>
                    <a:pt x="1332809" y="361380"/>
                  </a:lnTo>
                  <a:lnTo>
                    <a:pt x="1318450" y="382695"/>
                  </a:lnTo>
                  <a:lnTo>
                    <a:pt x="1297138" y="397066"/>
                  </a:lnTo>
                  <a:lnTo>
                    <a:pt x="1271016" y="402336"/>
                  </a:lnTo>
                  <a:lnTo>
                    <a:pt x="67056" y="402336"/>
                  </a:lnTo>
                  <a:lnTo>
                    <a:pt x="40933" y="397066"/>
                  </a:lnTo>
                  <a:lnTo>
                    <a:pt x="19621" y="382695"/>
                  </a:lnTo>
                  <a:lnTo>
                    <a:pt x="5262" y="361380"/>
                  </a:lnTo>
                  <a:lnTo>
                    <a:pt x="0" y="335280"/>
                  </a:lnTo>
                  <a:lnTo>
                    <a:pt x="0" y="67056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454144" y="6151270"/>
            <a:ext cx="10242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Cloudy</a:t>
            </a:r>
            <a:r>
              <a:rPr sz="16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(Yes)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542788" y="4515611"/>
            <a:ext cx="1495425" cy="608330"/>
            <a:chOff x="5542788" y="4515611"/>
            <a:chExt cx="1495425" cy="608330"/>
          </a:xfrm>
        </p:grpSpPr>
        <p:sp>
          <p:nvSpPr>
            <p:cNvPr id="19" name="object 19"/>
            <p:cNvSpPr/>
            <p:nvPr/>
          </p:nvSpPr>
          <p:spPr>
            <a:xfrm>
              <a:off x="5548884" y="4521707"/>
              <a:ext cx="1483360" cy="596265"/>
            </a:xfrm>
            <a:custGeom>
              <a:avLst/>
              <a:gdLst/>
              <a:ahLst/>
              <a:cxnLst/>
              <a:rect l="l" t="t" r="r" b="b"/>
              <a:pathLst>
                <a:path w="1483359" h="596264">
                  <a:moveTo>
                    <a:pt x="1383538" y="0"/>
                  </a:moveTo>
                  <a:lnTo>
                    <a:pt x="99313" y="0"/>
                  </a:lnTo>
                  <a:lnTo>
                    <a:pt x="60650" y="7802"/>
                  </a:lnTo>
                  <a:lnTo>
                    <a:pt x="29083" y="29083"/>
                  </a:lnTo>
                  <a:lnTo>
                    <a:pt x="7802" y="60650"/>
                  </a:lnTo>
                  <a:lnTo>
                    <a:pt x="0" y="99314"/>
                  </a:lnTo>
                  <a:lnTo>
                    <a:pt x="0" y="496570"/>
                  </a:lnTo>
                  <a:lnTo>
                    <a:pt x="7802" y="535233"/>
                  </a:lnTo>
                  <a:lnTo>
                    <a:pt x="29083" y="566801"/>
                  </a:lnTo>
                  <a:lnTo>
                    <a:pt x="60650" y="588081"/>
                  </a:lnTo>
                  <a:lnTo>
                    <a:pt x="99313" y="595884"/>
                  </a:lnTo>
                  <a:lnTo>
                    <a:pt x="1383538" y="595884"/>
                  </a:lnTo>
                  <a:lnTo>
                    <a:pt x="1422201" y="588081"/>
                  </a:lnTo>
                  <a:lnTo>
                    <a:pt x="1453768" y="566801"/>
                  </a:lnTo>
                  <a:lnTo>
                    <a:pt x="1475049" y="535233"/>
                  </a:lnTo>
                  <a:lnTo>
                    <a:pt x="1482851" y="496570"/>
                  </a:lnTo>
                  <a:lnTo>
                    <a:pt x="1482851" y="99314"/>
                  </a:lnTo>
                  <a:lnTo>
                    <a:pt x="1475049" y="60650"/>
                  </a:lnTo>
                  <a:lnTo>
                    <a:pt x="1453768" y="29083"/>
                  </a:lnTo>
                  <a:lnTo>
                    <a:pt x="1422201" y="7802"/>
                  </a:lnTo>
                  <a:lnTo>
                    <a:pt x="1383538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48884" y="4521707"/>
              <a:ext cx="1483360" cy="596265"/>
            </a:xfrm>
            <a:custGeom>
              <a:avLst/>
              <a:gdLst/>
              <a:ahLst/>
              <a:cxnLst/>
              <a:rect l="l" t="t" r="r" b="b"/>
              <a:pathLst>
                <a:path w="1483359" h="596264">
                  <a:moveTo>
                    <a:pt x="0" y="99314"/>
                  </a:moveTo>
                  <a:lnTo>
                    <a:pt x="7802" y="60650"/>
                  </a:lnTo>
                  <a:lnTo>
                    <a:pt x="29083" y="29083"/>
                  </a:lnTo>
                  <a:lnTo>
                    <a:pt x="60650" y="7802"/>
                  </a:lnTo>
                  <a:lnTo>
                    <a:pt x="99313" y="0"/>
                  </a:lnTo>
                  <a:lnTo>
                    <a:pt x="1383538" y="0"/>
                  </a:lnTo>
                  <a:lnTo>
                    <a:pt x="1422201" y="7802"/>
                  </a:lnTo>
                  <a:lnTo>
                    <a:pt x="1453768" y="29083"/>
                  </a:lnTo>
                  <a:lnTo>
                    <a:pt x="1475049" y="60650"/>
                  </a:lnTo>
                  <a:lnTo>
                    <a:pt x="1482851" y="99314"/>
                  </a:lnTo>
                  <a:lnTo>
                    <a:pt x="1482851" y="496570"/>
                  </a:lnTo>
                  <a:lnTo>
                    <a:pt x="1475049" y="535233"/>
                  </a:lnTo>
                  <a:lnTo>
                    <a:pt x="1453768" y="566801"/>
                  </a:lnTo>
                  <a:lnTo>
                    <a:pt x="1422201" y="588081"/>
                  </a:lnTo>
                  <a:lnTo>
                    <a:pt x="1383538" y="595884"/>
                  </a:lnTo>
                  <a:lnTo>
                    <a:pt x="99313" y="595884"/>
                  </a:lnTo>
                  <a:lnTo>
                    <a:pt x="60650" y="588081"/>
                  </a:lnTo>
                  <a:lnTo>
                    <a:pt x="29083" y="566801"/>
                  </a:lnTo>
                  <a:lnTo>
                    <a:pt x="7802" y="535233"/>
                  </a:lnTo>
                  <a:lnTo>
                    <a:pt x="0" y="496570"/>
                  </a:lnTo>
                  <a:lnTo>
                    <a:pt x="0" y="99314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015354" y="4615942"/>
            <a:ext cx="552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539" marR="5080" indent="-117475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200" spc="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r  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(Yes)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319017" y="3730497"/>
            <a:ext cx="919480" cy="370840"/>
            <a:chOff x="3319017" y="3730497"/>
            <a:chExt cx="919480" cy="370840"/>
          </a:xfrm>
        </p:grpSpPr>
        <p:sp>
          <p:nvSpPr>
            <p:cNvPr id="23" name="object 23"/>
            <p:cNvSpPr/>
            <p:nvPr/>
          </p:nvSpPr>
          <p:spPr>
            <a:xfrm>
              <a:off x="3325367" y="3736847"/>
              <a:ext cx="906780" cy="358140"/>
            </a:xfrm>
            <a:custGeom>
              <a:avLst/>
              <a:gdLst/>
              <a:ahLst/>
              <a:cxnLst/>
              <a:rect l="l" t="t" r="r" b="b"/>
              <a:pathLst>
                <a:path w="906779" h="358139">
                  <a:moveTo>
                    <a:pt x="847090" y="0"/>
                  </a:moveTo>
                  <a:lnTo>
                    <a:pt x="59690" y="0"/>
                  </a:lnTo>
                  <a:lnTo>
                    <a:pt x="36433" y="4683"/>
                  </a:lnTo>
                  <a:lnTo>
                    <a:pt x="17462" y="17462"/>
                  </a:lnTo>
                  <a:lnTo>
                    <a:pt x="4683" y="36433"/>
                  </a:lnTo>
                  <a:lnTo>
                    <a:pt x="0" y="59689"/>
                  </a:lnTo>
                  <a:lnTo>
                    <a:pt x="0" y="298450"/>
                  </a:lnTo>
                  <a:lnTo>
                    <a:pt x="4683" y="321706"/>
                  </a:lnTo>
                  <a:lnTo>
                    <a:pt x="17462" y="340677"/>
                  </a:lnTo>
                  <a:lnTo>
                    <a:pt x="36433" y="353456"/>
                  </a:lnTo>
                  <a:lnTo>
                    <a:pt x="59690" y="358139"/>
                  </a:lnTo>
                  <a:lnTo>
                    <a:pt x="847090" y="358139"/>
                  </a:lnTo>
                  <a:lnTo>
                    <a:pt x="870346" y="353456"/>
                  </a:lnTo>
                  <a:lnTo>
                    <a:pt x="889317" y="340677"/>
                  </a:lnTo>
                  <a:lnTo>
                    <a:pt x="902096" y="321706"/>
                  </a:lnTo>
                  <a:lnTo>
                    <a:pt x="906780" y="298450"/>
                  </a:lnTo>
                  <a:lnTo>
                    <a:pt x="906780" y="59689"/>
                  </a:lnTo>
                  <a:lnTo>
                    <a:pt x="902096" y="36433"/>
                  </a:lnTo>
                  <a:lnTo>
                    <a:pt x="889317" y="17462"/>
                  </a:lnTo>
                  <a:lnTo>
                    <a:pt x="870346" y="4683"/>
                  </a:lnTo>
                  <a:lnTo>
                    <a:pt x="847090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325367" y="3736847"/>
              <a:ext cx="906780" cy="358140"/>
            </a:xfrm>
            <a:custGeom>
              <a:avLst/>
              <a:gdLst/>
              <a:ahLst/>
              <a:cxnLst/>
              <a:rect l="l" t="t" r="r" b="b"/>
              <a:pathLst>
                <a:path w="906779" h="358139">
                  <a:moveTo>
                    <a:pt x="0" y="59689"/>
                  </a:moveTo>
                  <a:lnTo>
                    <a:pt x="4683" y="36433"/>
                  </a:lnTo>
                  <a:lnTo>
                    <a:pt x="17462" y="17462"/>
                  </a:lnTo>
                  <a:lnTo>
                    <a:pt x="36433" y="4683"/>
                  </a:lnTo>
                  <a:lnTo>
                    <a:pt x="59690" y="0"/>
                  </a:lnTo>
                  <a:lnTo>
                    <a:pt x="847090" y="0"/>
                  </a:lnTo>
                  <a:lnTo>
                    <a:pt x="870346" y="4683"/>
                  </a:lnTo>
                  <a:lnTo>
                    <a:pt x="889317" y="17462"/>
                  </a:lnTo>
                  <a:lnTo>
                    <a:pt x="902096" y="36433"/>
                  </a:lnTo>
                  <a:lnTo>
                    <a:pt x="906780" y="59689"/>
                  </a:lnTo>
                  <a:lnTo>
                    <a:pt x="906780" y="298450"/>
                  </a:lnTo>
                  <a:lnTo>
                    <a:pt x="902096" y="321706"/>
                  </a:lnTo>
                  <a:lnTo>
                    <a:pt x="889317" y="340677"/>
                  </a:lnTo>
                  <a:lnTo>
                    <a:pt x="870346" y="353456"/>
                  </a:lnTo>
                  <a:lnTo>
                    <a:pt x="847090" y="358139"/>
                  </a:lnTo>
                  <a:lnTo>
                    <a:pt x="59690" y="358139"/>
                  </a:lnTo>
                  <a:lnTo>
                    <a:pt x="36433" y="353456"/>
                  </a:lnTo>
                  <a:lnTo>
                    <a:pt x="17462" y="340677"/>
                  </a:lnTo>
                  <a:lnTo>
                    <a:pt x="4683" y="321706"/>
                  </a:lnTo>
                  <a:lnTo>
                    <a:pt x="0" y="298450"/>
                  </a:lnTo>
                  <a:lnTo>
                    <a:pt x="0" y="59689"/>
                  </a:lnTo>
                  <a:close/>
                </a:path>
              </a:pathLst>
            </a:custGeom>
            <a:ln w="12191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4289805" y="2471420"/>
            <a:ext cx="2869565" cy="1348105"/>
            <a:chOff x="4289805" y="2471420"/>
            <a:chExt cx="2869565" cy="1348105"/>
          </a:xfrm>
        </p:grpSpPr>
        <p:sp>
          <p:nvSpPr>
            <p:cNvPr id="26" name="object 26"/>
            <p:cNvSpPr/>
            <p:nvPr/>
          </p:nvSpPr>
          <p:spPr>
            <a:xfrm>
              <a:off x="4296156" y="2471419"/>
              <a:ext cx="2863215" cy="1341755"/>
            </a:xfrm>
            <a:custGeom>
              <a:avLst/>
              <a:gdLst/>
              <a:ahLst/>
              <a:cxnLst/>
              <a:rect l="l" t="t" r="r" b="b"/>
              <a:pathLst>
                <a:path w="2863215" h="1341754">
                  <a:moveTo>
                    <a:pt x="1338072" y="965962"/>
                  </a:moveTo>
                  <a:lnTo>
                    <a:pt x="1327289" y="898436"/>
                  </a:lnTo>
                  <a:lnTo>
                    <a:pt x="1296200" y="834872"/>
                  </a:lnTo>
                  <a:lnTo>
                    <a:pt x="1246708" y="776338"/>
                  </a:lnTo>
                  <a:lnTo>
                    <a:pt x="1215656" y="749300"/>
                  </a:lnTo>
                  <a:lnTo>
                    <a:pt x="1180693" y="723912"/>
                  </a:lnTo>
                  <a:lnTo>
                    <a:pt x="1142085" y="700316"/>
                  </a:lnTo>
                  <a:lnTo>
                    <a:pt x="1100061" y="678637"/>
                  </a:lnTo>
                  <a:lnTo>
                    <a:pt x="1054849" y="659015"/>
                  </a:lnTo>
                  <a:lnTo>
                    <a:pt x="1006678" y="641578"/>
                  </a:lnTo>
                  <a:lnTo>
                    <a:pt x="955802" y="626465"/>
                  </a:lnTo>
                  <a:lnTo>
                    <a:pt x="902462" y="613803"/>
                  </a:lnTo>
                  <a:lnTo>
                    <a:pt x="846861" y="603719"/>
                  </a:lnTo>
                  <a:lnTo>
                    <a:pt x="789279" y="596353"/>
                  </a:lnTo>
                  <a:lnTo>
                    <a:pt x="729919" y="591832"/>
                  </a:lnTo>
                  <a:lnTo>
                    <a:pt x="669036" y="590296"/>
                  </a:lnTo>
                  <a:lnTo>
                    <a:pt x="608139" y="591832"/>
                  </a:lnTo>
                  <a:lnTo>
                    <a:pt x="548779" y="596353"/>
                  </a:lnTo>
                  <a:lnTo>
                    <a:pt x="491197" y="603719"/>
                  </a:lnTo>
                  <a:lnTo>
                    <a:pt x="435610" y="613803"/>
                  </a:lnTo>
                  <a:lnTo>
                    <a:pt x="382257" y="626465"/>
                  </a:lnTo>
                  <a:lnTo>
                    <a:pt x="331381" y="641578"/>
                  </a:lnTo>
                  <a:lnTo>
                    <a:pt x="283210" y="659015"/>
                  </a:lnTo>
                  <a:lnTo>
                    <a:pt x="237998" y="678637"/>
                  </a:lnTo>
                  <a:lnTo>
                    <a:pt x="195973" y="700316"/>
                  </a:lnTo>
                  <a:lnTo>
                    <a:pt x="157365" y="723912"/>
                  </a:lnTo>
                  <a:lnTo>
                    <a:pt x="122402" y="749300"/>
                  </a:lnTo>
                  <a:lnTo>
                    <a:pt x="91351" y="776338"/>
                  </a:lnTo>
                  <a:lnTo>
                    <a:pt x="64414" y="804913"/>
                  </a:lnTo>
                  <a:lnTo>
                    <a:pt x="23901" y="866089"/>
                  </a:lnTo>
                  <a:lnTo>
                    <a:pt x="2730" y="931773"/>
                  </a:lnTo>
                  <a:lnTo>
                    <a:pt x="0" y="965962"/>
                  </a:lnTo>
                  <a:lnTo>
                    <a:pt x="2730" y="1000163"/>
                  </a:lnTo>
                  <a:lnTo>
                    <a:pt x="23901" y="1065847"/>
                  </a:lnTo>
                  <a:lnTo>
                    <a:pt x="64414" y="1127023"/>
                  </a:lnTo>
                  <a:lnTo>
                    <a:pt x="91351" y="1155598"/>
                  </a:lnTo>
                  <a:lnTo>
                    <a:pt x="122402" y="1182636"/>
                  </a:lnTo>
                  <a:lnTo>
                    <a:pt x="157365" y="1208024"/>
                  </a:lnTo>
                  <a:lnTo>
                    <a:pt x="195973" y="1231620"/>
                  </a:lnTo>
                  <a:lnTo>
                    <a:pt x="237998" y="1253299"/>
                  </a:lnTo>
                  <a:lnTo>
                    <a:pt x="283210" y="1272921"/>
                  </a:lnTo>
                  <a:lnTo>
                    <a:pt x="331381" y="1290358"/>
                  </a:lnTo>
                  <a:lnTo>
                    <a:pt x="382257" y="1305471"/>
                  </a:lnTo>
                  <a:lnTo>
                    <a:pt x="435610" y="1318133"/>
                  </a:lnTo>
                  <a:lnTo>
                    <a:pt x="491197" y="1328216"/>
                  </a:lnTo>
                  <a:lnTo>
                    <a:pt x="548779" y="1335582"/>
                  </a:lnTo>
                  <a:lnTo>
                    <a:pt x="608139" y="1340104"/>
                  </a:lnTo>
                  <a:lnTo>
                    <a:pt x="669036" y="1341628"/>
                  </a:lnTo>
                  <a:lnTo>
                    <a:pt x="729919" y="1340104"/>
                  </a:lnTo>
                  <a:lnTo>
                    <a:pt x="789279" y="1335582"/>
                  </a:lnTo>
                  <a:lnTo>
                    <a:pt x="846861" y="1328216"/>
                  </a:lnTo>
                  <a:lnTo>
                    <a:pt x="902462" y="1318133"/>
                  </a:lnTo>
                  <a:lnTo>
                    <a:pt x="955802" y="1305471"/>
                  </a:lnTo>
                  <a:lnTo>
                    <a:pt x="1006678" y="1290358"/>
                  </a:lnTo>
                  <a:lnTo>
                    <a:pt x="1054849" y="1272921"/>
                  </a:lnTo>
                  <a:lnTo>
                    <a:pt x="1100061" y="1253299"/>
                  </a:lnTo>
                  <a:lnTo>
                    <a:pt x="1142085" y="1231620"/>
                  </a:lnTo>
                  <a:lnTo>
                    <a:pt x="1180693" y="1208024"/>
                  </a:lnTo>
                  <a:lnTo>
                    <a:pt x="1215656" y="1182636"/>
                  </a:lnTo>
                  <a:lnTo>
                    <a:pt x="1246708" y="1155598"/>
                  </a:lnTo>
                  <a:lnTo>
                    <a:pt x="1273644" y="1127023"/>
                  </a:lnTo>
                  <a:lnTo>
                    <a:pt x="1314157" y="1065847"/>
                  </a:lnTo>
                  <a:lnTo>
                    <a:pt x="1335328" y="1000163"/>
                  </a:lnTo>
                  <a:lnTo>
                    <a:pt x="1338072" y="965962"/>
                  </a:lnTo>
                  <a:close/>
                </a:path>
                <a:path w="2863215" h="1341754">
                  <a:moveTo>
                    <a:pt x="1343660" y="92583"/>
                  </a:moveTo>
                  <a:lnTo>
                    <a:pt x="1333246" y="85217"/>
                  </a:lnTo>
                  <a:lnTo>
                    <a:pt x="1006170" y="553643"/>
                  </a:lnTo>
                  <a:lnTo>
                    <a:pt x="980186" y="535432"/>
                  </a:lnTo>
                  <a:lnTo>
                    <a:pt x="967740" y="619760"/>
                  </a:lnTo>
                  <a:lnTo>
                    <a:pt x="1042543" y="579120"/>
                  </a:lnTo>
                  <a:lnTo>
                    <a:pt x="1031481" y="571373"/>
                  </a:lnTo>
                  <a:lnTo>
                    <a:pt x="1016558" y="560933"/>
                  </a:lnTo>
                  <a:lnTo>
                    <a:pt x="1343660" y="92583"/>
                  </a:lnTo>
                  <a:close/>
                </a:path>
                <a:path w="2863215" h="1341754">
                  <a:moveTo>
                    <a:pt x="2862834" y="304165"/>
                  </a:moveTo>
                  <a:lnTo>
                    <a:pt x="2846222" y="271653"/>
                  </a:lnTo>
                  <a:lnTo>
                    <a:pt x="2824099" y="228346"/>
                  </a:lnTo>
                  <a:lnTo>
                    <a:pt x="2805277" y="253873"/>
                  </a:lnTo>
                  <a:lnTo>
                    <a:pt x="2460498" y="0"/>
                  </a:lnTo>
                  <a:lnTo>
                    <a:pt x="2452878" y="10160"/>
                  </a:lnTo>
                  <a:lnTo>
                    <a:pt x="2797733" y="264121"/>
                  </a:lnTo>
                  <a:lnTo>
                    <a:pt x="2778887" y="289687"/>
                  </a:lnTo>
                  <a:lnTo>
                    <a:pt x="2862834" y="304165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296155" y="3061716"/>
              <a:ext cx="1338580" cy="751840"/>
            </a:xfrm>
            <a:custGeom>
              <a:avLst/>
              <a:gdLst/>
              <a:ahLst/>
              <a:cxnLst/>
              <a:rect l="l" t="t" r="r" b="b"/>
              <a:pathLst>
                <a:path w="1338579" h="751839">
                  <a:moveTo>
                    <a:pt x="0" y="375666"/>
                  </a:moveTo>
                  <a:lnTo>
                    <a:pt x="10780" y="308128"/>
                  </a:lnTo>
                  <a:lnTo>
                    <a:pt x="41862" y="244566"/>
                  </a:lnTo>
                  <a:lnTo>
                    <a:pt x="91355" y="186040"/>
                  </a:lnTo>
                  <a:lnTo>
                    <a:pt x="122414" y="158997"/>
                  </a:lnTo>
                  <a:lnTo>
                    <a:pt x="157367" y="133611"/>
                  </a:lnTo>
                  <a:lnTo>
                    <a:pt x="195976" y="110013"/>
                  </a:lnTo>
                  <a:lnTo>
                    <a:pt x="238007" y="88337"/>
                  </a:lnTo>
                  <a:lnTo>
                    <a:pt x="283222" y="68715"/>
                  </a:lnTo>
                  <a:lnTo>
                    <a:pt x="331385" y="51279"/>
                  </a:lnTo>
                  <a:lnTo>
                    <a:pt x="382260" y="36162"/>
                  </a:lnTo>
                  <a:lnTo>
                    <a:pt x="435610" y="23497"/>
                  </a:lnTo>
                  <a:lnTo>
                    <a:pt x="491198" y="13416"/>
                  </a:lnTo>
                  <a:lnTo>
                    <a:pt x="548790" y="6051"/>
                  </a:lnTo>
                  <a:lnTo>
                    <a:pt x="608148" y="1534"/>
                  </a:lnTo>
                  <a:lnTo>
                    <a:pt x="669036" y="0"/>
                  </a:lnTo>
                  <a:lnTo>
                    <a:pt x="729923" y="1534"/>
                  </a:lnTo>
                  <a:lnTo>
                    <a:pt x="789281" y="6051"/>
                  </a:lnTo>
                  <a:lnTo>
                    <a:pt x="846873" y="13416"/>
                  </a:lnTo>
                  <a:lnTo>
                    <a:pt x="902462" y="23497"/>
                  </a:lnTo>
                  <a:lnTo>
                    <a:pt x="955811" y="36162"/>
                  </a:lnTo>
                  <a:lnTo>
                    <a:pt x="1006686" y="51279"/>
                  </a:lnTo>
                  <a:lnTo>
                    <a:pt x="1054849" y="68715"/>
                  </a:lnTo>
                  <a:lnTo>
                    <a:pt x="1100064" y="88337"/>
                  </a:lnTo>
                  <a:lnTo>
                    <a:pt x="1142095" y="110013"/>
                  </a:lnTo>
                  <a:lnTo>
                    <a:pt x="1180704" y="133611"/>
                  </a:lnTo>
                  <a:lnTo>
                    <a:pt x="1215657" y="158997"/>
                  </a:lnTo>
                  <a:lnTo>
                    <a:pt x="1246716" y="186040"/>
                  </a:lnTo>
                  <a:lnTo>
                    <a:pt x="1273645" y="214607"/>
                  </a:lnTo>
                  <a:lnTo>
                    <a:pt x="1314169" y="275784"/>
                  </a:lnTo>
                  <a:lnTo>
                    <a:pt x="1335337" y="341466"/>
                  </a:lnTo>
                  <a:lnTo>
                    <a:pt x="1338072" y="375666"/>
                  </a:lnTo>
                  <a:lnTo>
                    <a:pt x="1335337" y="409865"/>
                  </a:lnTo>
                  <a:lnTo>
                    <a:pt x="1314169" y="475547"/>
                  </a:lnTo>
                  <a:lnTo>
                    <a:pt x="1273645" y="536724"/>
                  </a:lnTo>
                  <a:lnTo>
                    <a:pt x="1246716" y="565291"/>
                  </a:lnTo>
                  <a:lnTo>
                    <a:pt x="1215657" y="592334"/>
                  </a:lnTo>
                  <a:lnTo>
                    <a:pt x="1180704" y="617720"/>
                  </a:lnTo>
                  <a:lnTo>
                    <a:pt x="1142095" y="641318"/>
                  </a:lnTo>
                  <a:lnTo>
                    <a:pt x="1100064" y="662994"/>
                  </a:lnTo>
                  <a:lnTo>
                    <a:pt x="1054849" y="682616"/>
                  </a:lnTo>
                  <a:lnTo>
                    <a:pt x="1006686" y="700052"/>
                  </a:lnTo>
                  <a:lnTo>
                    <a:pt x="955811" y="715169"/>
                  </a:lnTo>
                  <a:lnTo>
                    <a:pt x="902462" y="727834"/>
                  </a:lnTo>
                  <a:lnTo>
                    <a:pt x="846873" y="737915"/>
                  </a:lnTo>
                  <a:lnTo>
                    <a:pt x="789281" y="745280"/>
                  </a:lnTo>
                  <a:lnTo>
                    <a:pt x="729923" y="749797"/>
                  </a:lnTo>
                  <a:lnTo>
                    <a:pt x="669036" y="751332"/>
                  </a:lnTo>
                  <a:lnTo>
                    <a:pt x="608148" y="749797"/>
                  </a:lnTo>
                  <a:lnTo>
                    <a:pt x="548790" y="745280"/>
                  </a:lnTo>
                  <a:lnTo>
                    <a:pt x="491198" y="737915"/>
                  </a:lnTo>
                  <a:lnTo>
                    <a:pt x="435610" y="727834"/>
                  </a:lnTo>
                  <a:lnTo>
                    <a:pt x="382260" y="715169"/>
                  </a:lnTo>
                  <a:lnTo>
                    <a:pt x="331385" y="700052"/>
                  </a:lnTo>
                  <a:lnTo>
                    <a:pt x="283222" y="682616"/>
                  </a:lnTo>
                  <a:lnTo>
                    <a:pt x="238007" y="662994"/>
                  </a:lnTo>
                  <a:lnTo>
                    <a:pt x="195976" y="641318"/>
                  </a:lnTo>
                  <a:lnTo>
                    <a:pt x="157367" y="617720"/>
                  </a:lnTo>
                  <a:lnTo>
                    <a:pt x="122414" y="592334"/>
                  </a:lnTo>
                  <a:lnTo>
                    <a:pt x="91355" y="565291"/>
                  </a:lnTo>
                  <a:lnTo>
                    <a:pt x="64426" y="536724"/>
                  </a:lnTo>
                  <a:lnTo>
                    <a:pt x="23902" y="475547"/>
                  </a:lnTo>
                  <a:lnTo>
                    <a:pt x="2734" y="409865"/>
                  </a:lnTo>
                  <a:lnTo>
                    <a:pt x="0" y="375666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558285" y="3291078"/>
            <a:ext cx="1740535" cy="720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85850">
              <a:lnSpc>
                <a:spcPct val="100000"/>
              </a:lnSpc>
              <a:spcBef>
                <a:spcPts val="95"/>
              </a:spcBef>
            </a:pP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Routine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Indoor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287014" y="4551934"/>
            <a:ext cx="1482090" cy="878840"/>
            <a:chOff x="3287014" y="4551934"/>
            <a:chExt cx="1482090" cy="878840"/>
          </a:xfrm>
        </p:grpSpPr>
        <p:sp>
          <p:nvSpPr>
            <p:cNvPr id="30" name="object 30"/>
            <p:cNvSpPr/>
            <p:nvPr/>
          </p:nvSpPr>
          <p:spPr>
            <a:xfrm>
              <a:off x="3293364" y="4558284"/>
              <a:ext cx="1469390" cy="866140"/>
            </a:xfrm>
            <a:custGeom>
              <a:avLst/>
              <a:gdLst/>
              <a:ahLst/>
              <a:cxnLst/>
              <a:rect l="l" t="t" r="r" b="b"/>
              <a:pathLst>
                <a:path w="1469389" h="866139">
                  <a:moveTo>
                    <a:pt x="734568" y="0"/>
                  </a:moveTo>
                  <a:lnTo>
                    <a:pt x="674329" y="1434"/>
                  </a:lnTo>
                  <a:lnTo>
                    <a:pt x="615430" y="5665"/>
                  </a:lnTo>
                  <a:lnTo>
                    <a:pt x="558059" y="12580"/>
                  </a:lnTo>
                  <a:lnTo>
                    <a:pt x="502407" y="22067"/>
                  </a:lnTo>
                  <a:lnTo>
                    <a:pt x="448663" y="34016"/>
                  </a:lnTo>
                  <a:lnTo>
                    <a:pt x="397014" y="48314"/>
                  </a:lnTo>
                  <a:lnTo>
                    <a:pt x="347652" y="64851"/>
                  </a:lnTo>
                  <a:lnTo>
                    <a:pt x="300764" y="83515"/>
                  </a:lnTo>
                  <a:lnTo>
                    <a:pt x="256540" y="104194"/>
                  </a:lnTo>
                  <a:lnTo>
                    <a:pt x="215169" y="126777"/>
                  </a:lnTo>
                  <a:lnTo>
                    <a:pt x="176841" y="151153"/>
                  </a:lnTo>
                  <a:lnTo>
                    <a:pt x="141744" y="177210"/>
                  </a:lnTo>
                  <a:lnTo>
                    <a:pt x="110067" y="204837"/>
                  </a:lnTo>
                  <a:lnTo>
                    <a:pt x="82001" y="233922"/>
                  </a:lnTo>
                  <a:lnTo>
                    <a:pt x="57733" y="264354"/>
                  </a:lnTo>
                  <a:lnTo>
                    <a:pt x="21351" y="328813"/>
                  </a:lnTo>
                  <a:lnTo>
                    <a:pt x="2435" y="397321"/>
                  </a:lnTo>
                  <a:lnTo>
                    <a:pt x="0" y="432816"/>
                  </a:lnTo>
                  <a:lnTo>
                    <a:pt x="2435" y="468310"/>
                  </a:lnTo>
                  <a:lnTo>
                    <a:pt x="21351" y="536818"/>
                  </a:lnTo>
                  <a:lnTo>
                    <a:pt x="57733" y="601277"/>
                  </a:lnTo>
                  <a:lnTo>
                    <a:pt x="82001" y="631709"/>
                  </a:lnTo>
                  <a:lnTo>
                    <a:pt x="110067" y="660794"/>
                  </a:lnTo>
                  <a:lnTo>
                    <a:pt x="141744" y="688421"/>
                  </a:lnTo>
                  <a:lnTo>
                    <a:pt x="176841" y="714478"/>
                  </a:lnTo>
                  <a:lnTo>
                    <a:pt x="215169" y="738854"/>
                  </a:lnTo>
                  <a:lnTo>
                    <a:pt x="256540" y="761437"/>
                  </a:lnTo>
                  <a:lnTo>
                    <a:pt x="300764" y="782116"/>
                  </a:lnTo>
                  <a:lnTo>
                    <a:pt x="347652" y="800780"/>
                  </a:lnTo>
                  <a:lnTo>
                    <a:pt x="397014" y="817317"/>
                  </a:lnTo>
                  <a:lnTo>
                    <a:pt x="448663" y="831615"/>
                  </a:lnTo>
                  <a:lnTo>
                    <a:pt x="502407" y="843564"/>
                  </a:lnTo>
                  <a:lnTo>
                    <a:pt x="558059" y="853051"/>
                  </a:lnTo>
                  <a:lnTo>
                    <a:pt x="615430" y="859966"/>
                  </a:lnTo>
                  <a:lnTo>
                    <a:pt x="674329" y="864197"/>
                  </a:lnTo>
                  <a:lnTo>
                    <a:pt x="734568" y="865632"/>
                  </a:lnTo>
                  <a:lnTo>
                    <a:pt x="794806" y="864197"/>
                  </a:lnTo>
                  <a:lnTo>
                    <a:pt x="853705" y="859966"/>
                  </a:lnTo>
                  <a:lnTo>
                    <a:pt x="911076" y="853051"/>
                  </a:lnTo>
                  <a:lnTo>
                    <a:pt x="966728" y="843564"/>
                  </a:lnTo>
                  <a:lnTo>
                    <a:pt x="1020472" y="831615"/>
                  </a:lnTo>
                  <a:lnTo>
                    <a:pt x="1072121" y="817317"/>
                  </a:lnTo>
                  <a:lnTo>
                    <a:pt x="1121483" y="800780"/>
                  </a:lnTo>
                  <a:lnTo>
                    <a:pt x="1168371" y="782116"/>
                  </a:lnTo>
                  <a:lnTo>
                    <a:pt x="1212595" y="761437"/>
                  </a:lnTo>
                  <a:lnTo>
                    <a:pt x="1253966" y="738854"/>
                  </a:lnTo>
                  <a:lnTo>
                    <a:pt x="1292294" y="714478"/>
                  </a:lnTo>
                  <a:lnTo>
                    <a:pt x="1327391" y="688421"/>
                  </a:lnTo>
                  <a:lnTo>
                    <a:pt x="1359068" y="660794"/>
                  </a:lnTo>
                  <a:lnTo>
                    <a:pt x="1387134" y="631709"/>
                  </a:lnTo>
                  <a:lnTo>
                    <a:pt x="1411402" y="601277"/>
                  </a:lnTo>
                  <a:lnTo>
                    <a:pt x="1447784" y="536818"/>
                  </a:lnTo>
                  <a:lnTo>
                    <a:pt x="1466700" y="468310"/>
                  </a:lnTo>
                  <a:lnTo>
                    <a:pt x="1469136" y="432816"/>
                  </a:lnTo>
                  <a:lnTo>
                    <a:pt x="1466700" y="397321"/>
                  </a:lnTo>
                  <a:lnTo>
                    <a:pt x="1447784" y="328813"/>
                  </a:lnTo>
                  <a:lnTo>
                    <a:pt x="1411402" y="264354"/>
                  </a:lnTo>
                  <a:lnTo>
                    <a:pt x="1387134" y="233922"/>
                  </a:lnTo>
                  <a:lnTo>
                    <a:pt x="1359068" y="204837"/>
                  </a:lnTo>
                  <a:lnTo>
                    <a:pt x="1327391" y="177210"/>
                  </a:lnTo>
                  <a:lnTo>
                    <a:pt x="1292294" y="151153"/>
                  </a:lnTo>
                  <a:lnTo>
                    <a:pt x="1253966" y="126777"/>
                  </a:lnTo>
                  <a:lnTo>
                    <a:pt x="1212595" y="104194"/>
                  </a:lnTo>
                  <a:lnTo>
                    <a:pt x="1168371" y="83515"/>
                  </a:lnTo>
                  <a:lnTo>
                    <a:pt x="1121483" y="64851"/>
                  </a:lnTo>
                  <a:lnTo>
                    <a:pt x="1072121" y="48314"/>
                  </a:lnTo>
                  <a:lnTo>
                    <a:pt x="1020472" y="34016"/>
                  </a:lnTo>
                  <a:lnTo>
                    <a:pt x="966728" y="22067"/>
                  </a:lnTo>
                  <a:lnTo>
                    <a:pt x="911076" y="12580"/>
                  </a:lnTo>
                  <a:lnTo>
                    <a:pt x="853705" y="5665"/>
                  </a:lnTo>
                  <a:lnTo>
                    <a:pt x="794806" y="1434"/>
                  </a:lnTo>
                  <a:lnTo>
                    <a:pt x="73456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93364" y="4558284"/>
              <a:ext cx="1469390" cy="866140"/>
            </a:xfrm>
            <a:custGeom>
              <a:avLst/>
              <a:gdLst/>
              <a:ahLst/>
              <a:cxnLst/>
              <a:rect l="l" t="t" r="r" b="b"/>
              <a:pathLst>
                <a:path w="1469389" h="866139">
                  <a:moveTo>
                    <a:pt x="0" y="432816"/>
                  </a:moveTo>
                  <a:lnTo>
                    <a:pt x="9615" y="362616"/>
                  </a:lnTo>
                  <a:lnTo>
                    <a:pt x="37453" y="296021"/>
                  </a:lnTo>
                  <a:lnTo>
                    <a:pt x="82001" y="233922"/>
                  </a:lnTo>
                  <a:lnTo>
                    <a:pt x="110067" y="204837"/>
                  </a:lnTo>
                  <a:lnTo>
                    <a:pt x="141744" y="177210"/>
                  </a:lnTo>
                  <a:lnTo>
                    <a:pt x="176841" y="151153"/>
                  </a:lnTo>
                  <a:lnTo>
                    <a:pt x="215169" y="126777"/>
                  </a:lnTo>
                  <a:lnTo>
                    <a:pt x="256540" y="104194"/>
                  </a:lnTo>
                  <a:lnTo>
                    <a:pt x="300764" y="83515"/>
                  </a:lnTo>
                  <a:lnTo>
                    <a:pt x="347652" y="64851"/>
                  </a:lnTo>
                  <a:lnTo>
                    <a:pt x="397014" y="48314"/>
                  </a:lnTo>
                  <a:lnTo>
                    <a:pt x="448663" y="34016"/>
                  </a:lnTo>
                  <a:lnTo>
                    <a:pt x="502407" y="22067"/>
                  </a:lnTo>
                  <a:lnTo>
                    <a:pt x="558059" y="12580"/>
                  </a:lnTo>
                  <a:lnTo>
                    <a:pt x="615430" y="5665"/>
                  </a:lnTo>
                  <a:lnTo>
                    <a:pt x="674329" y="1434"/>
                  </a:lnTo>
                  <a:lnTo>
                    <a:pt x="734568" y="0"/>
                  </a:lnTo>
                  <a:lnTo>
                    <a:pt x="794806" y="1434"/>
                  </a:lnTo>
                  <a:lnTo>
                    <a:pt x="853705" y="5665"/>
                  </a:lnTo>
                  <a:lnTo>
                    <a:pt x="911076" y="12580"/>
                  </a:lnTo>
                  <a:lnTo>
                    <a:pt x="966728" y="22067"/>
                  </a:lnTo>
                  <a:lnTo>
                    <a:pt x="1020472" y="34016"/>
                  </a:lnTo>
                  <a:lnTo>
                    <a:pt x="1072121" y="48314"/>
                  </a:lnTo>
                  <a:lnTo>
                    <a:pt x="1121483" y="64851"/>
                  </a:lnTo>
                  <a:lnTo>
                    <a:pt x="1168371" y="83515"/>
                  </a:lnTo>
                  <a:lnTo>
                    <a:pt x="1212595" y="104194"/>
                  </a:lnTo>
                  <a:lnTo>
                    <a:pt x="1253966" y="126777"/>
                  </a:lnTo>
                  <a:lnTo>
                    <a:pt x="1292294" y="151153"/>
                  </a:lnTo>
                  <a:lnTo>
                    <a:pt x="1327391" y="177210"/>
                  </a:lnTo>
                  <a:lnTo>
                    <a:pt x="1359068" y="204837"/>
                  </a:lnTo>
                  <a:lnTo>
                    <a:pt x="1387134" y="233922"/>
                  </a:lnTo>
                  <a:lnTo>
                    <a:pt x="1411402" y="264354"/>
                  </a:lnTo>
                  <a:lnTo>
                    <a:pt x="1447784" y="328813"/>
                  </a:lnTo>
                  <a:lnTo>
                    <a:pt x="1466700" y="397321"/>
                  </a:lnTo>
                  <a:lnTo>
                    <a:pt x="1469136" y="432816"/>
                  </a:lnTo>
                  <a:lnTo>
                    <a:pt x="1466700" y="468310"/>
                  </a:lnTo>
                  <a:lnTo>
                    <a:pt x="1447784" y="536818"/>
                  </a:lnTo>
                  <a:lnTo>
                    <a:pt x="1411402" y="601277"/>
                  </a:lnTo>
                  <a:lnTo>
                    <a:pt x="1387134" y="631709"/>
                  </a:lnTo>
                  <a:lnTo>
                    <a:pt x="1359068" y="660794"/>
                  </a:lnTo>
                  <a:lnTo>
                    <a:pt x="1327391" y="688421"/>
                  </a:lnTo>
                  <a:lnTo>
                    <a:pt x="1292294" y="714478"/>
                  </a:lnTo>
                  <a:lnTo>
                    <a:pt x="1253966" y="738854"/>
                  </a:lnTo>
                  <a:lnTo>
                    <a:pt x="1212595" y="761437"/>
                  </a:lnTo>
                  <a:lnTo>
                    <a:pt x="1168371" y="782116"/>
                  </a:lnTo>
                  <a:lnTo>
                    <a:pt x="1121483" y="800780"/>
                  </a:lnTo>
                  <a:lnTo>
                    <a:pt x="1072121" y="817317"/>
                  </a:lnTo>
                  <a:lnTo>
                    <a:pt x="1020472" y="831615"/>
                  </a:lnTo>
                  <a:lnTo>
                    <a:pt x="966728" y="843564"/>
                  </a:lnTo>
                  <a:lnTo>
                    <a:pt x="911076" y="853051"/>
                  </a:lnTo>
                  <a:lnTo>
                    <a:pt x="853705" y="859966"/>
                  </a:lnTo>
                  <a:lnTo>
                    <a:pt x="794806" y="864197"/>
                  </a:lnTo>
                  <a:lnTo>
                    <a:pt x="734568" y="865632"/>
                  </a:lnTo>
                  <a:lnTo>
                    <a:pt x="674329" y="864197"/>
                  </a:lnTo>
                  <a:lnTo>
                    <a:pt x="615430" y="859966"/>
                  </a:lnTo>
                  <a:lnTo>
                    <a:pt x="558059" y="853051"/>
                  </a:lnTo>
                  <a:lnTo>
                    <a:pt x="502407" y="843564"/>
                  </a:lnTo>
                  <a:lnTo>
                    <a:pt x="448663" y="831615"/>
                  </a:lnTo>
                  <a:lnTo>
                    <a:pt x="397014" y="817317"/>
                  </a:lnTo>
                  <a:lnTo>
                    <a:pt x="347652" y="800780"/>
                  </a:lnTo>
                  <a:lnTo>
                    <a:pt x="300764" y="782116"/>
                  </a:lnTo>
                  <a:lnTo>
                    <a:pt x="256540" y="761437"/>
                  </a:lnTo>
                  <a:lnTo>
                    <a:pt x="215169" y="738854"/>
                  </a:lnTo>
                  <a:lnTo>
                    <a:pt x="176841" y="714478"/>
                  </a:lnTo>
                  <a:lnTo>
                    <a:pt x="141744" y="688421"/>
                  </a:lnTo>
                  <a:lnTo>
                    <a:pt x="110067" y="660794"/>
                  </a:lnTo>
                  <a:lnTo>
                    <a:pt x="82001" y="631709"/>
                  </a:lnTo>
                  <a:lnTo>
                    <a:pt x="57733" y="601277"/>
                  </a:lnTo>
                  <a:lnTo>
                    <a:pt x="21351" y="536818"/>
                  </a:lnTo>
                  <a:lnTo>
                    <a:pt x="2435" y="468310"/>
                  </a:lnTo>
                  <a:lnTo>
                    <a:pt x="0" y="432816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684523" y="4845558"/>
            <a:ext cx="6877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Outlook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251959" y="3884040"/>
            <a:ext cx="375920" cy="534670"/>
          </a:xfrm>
          <a:custGeom>
            <a:avLst/>
            <a:gdLst/>
            <a:ahLst/>
            <a:cxnLst/>
            <a:rect l="l" t="t" r="r" b="b"/>
            <a:pathLst>
              <a:path w="375920" h="534670">
                <a:moveTo>
                  <a:pt x="12445" y="450214"/>
                </a:moveTo>
                <a:lnTo>
                  <a:pt x="0" y="534542"/>
                </a:lnTo>
                <a:lnTo>
                  <a:pt x="74802" y="493902"/>
                </a:lnTo>
                <a:lnTo>
                  <a:pt x="63745" y="486155"/>
                </a:lnTo>
                <a:lnTo>
                  <a:pt x="41528" y="486155"/>
                </a:lnTo>
                <a:lnTo>
                  <a:pt x="31114" y="478916"/>
                </a:lnTo>
                <a:lnTo>
                  <a:pt x="38439" y="468426"/>
                </a:lnTo>
                <a:lnTo>
                  <a:pt x="12445" y="450214"/>
                </a:lnTo>
                <a:close/>
              </a:path>
              <a:path w="375920" h="534670">
                <a:moveTo>
                  <a:pt x="38439" y="468426"/>
                </a:moveTo>
                <a:lnTo>
                  <a:pt x="31114" y="478916"/>
                </a:lnTo>
                <a:lnTo>
                  <a:pt x="41528" y="486155"/>
                </a:lnTo>
                <a:lnTo>
                  <a:pt x="48828" y="475704"/>
                </a:lnTo>
                <a:lnTo>
                  <a:pt x="38439" y="468426"/>
                </a:lnTo>
                <a:close/>
              </a:path>
              <a:path w="375920" h="534670">
                <a:moveTo>
                  <a:pt x="48828" y="475704"/>
                </a:moveTo>
                <a:lnTo>
                  <a:pt x="41528" y="486155"/>
                </a:lnTo>
                <a:lnTo>
                  <a:pt x="63745" y="486155"/>
                </a:lnTo>
                <a:lnTo>
                  <a:pt x="48828" y="475704"/>
                </a:lnTo>
                <a:close/>
              </a:path>
              <a:path w="375920" h="534670">
                <a:moveTo>
                  <a:pt x="365505" y="0"/>
                </a:moveTo>
                <a:lnTo>
                  <a:pt x="38439" y="468426"/>
                </a:lnTo>
                <a:lnTo>
                  <a:pt x="48828" y="475704"/>
                </a:lnTo>
                <a:lnTo>
                  <a:pt x="375919" y="7365"/>
                </a:lnTo>
                <a:lnTo>
                  <a:pt x="365505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159252" y="5360670"/>
            <a:ext cx="1602740" cy="581660"/>
          </a:xfrm>
          <a:custGeom>
            <a:avLst/>
            <a:gdLst/>
            <a:ahLst/>
            <a:cxnLst/>
            <a:rect l="l" t="t" r="r" b="b"/>
            <a:pathLst>
              <a:path w="1602739" h="581660">
                <a:moveTo>
                  <a:pt x="428752" y="7620"/>
                </a:moveTo>
                <a:lnTo>
                  <a:pt x="418465" y="0"/>
                </a:lnTo>
                <a:lnTo>
                  <a:pt x="39916" y="516128"/>
                </a:lnTo>
                <a:lnTo>
                  <a:pt x="14351" y="497382"/>
                </a:lnTo>
                <a:lnTo>
                  <a:pt x="0" y="581355"/>
                </a:lnTo>
                <a:lnTo>
                  <a:pt x="75819" y="542442"/>
                </a:lnTo>
                <a:lnTo>
                  <a:pt x="64173" y="533908"/>
                </a:lnTo>
                <a:lnTo>
                  <a:pt x="50190" y="523659"/>
                </a:lnTo>
                <a:lnTo>
                  <a:pt x="428752" y="7620"/>
                </a:lnTo>
                <a:close/>
              </a:path>
              <a:path w="1602739" h="581660">
                <a:moveTo>
                  <a:pt x="1602359" y="581253"/>
                </a:moveTo>
                <a:lnTo>
                  <a:pt x="1600542" y="528523"/>
                </a:lnTo>
                <a:lnTo>
                  <a:pt x="1599438" y="496112"/>
                </a:lnTo>
                <a:lnTo>
                  <a:pt x="1571523" y="511314"/>
                </a:lnTo>
                <a:lnTo>
                  <a:pt x="1319276" y="48006"/>
                </a:lnTo>
                <a:lnTo>
                  <a:pt x="1308100" y="54102"/>
                </a:lnTo>
                <a:lnTo>
                  <a:pt x="1560347" y="517398"/>
                </a:lnTo>
                <a:lnTo>
                  <a:pt x="1532509" y="532549"/>
                </a:lnTo>
                <a:lnTo>
                  <a:pt x="1602359" y="581253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543296" y="3797934"/>
            <a:ext cx="308610" cy="592455"/>
          </a:xfrm>
          <a:custGeom>
            <a:avLst/>
            <a:gdLst/>
            <a:ahLst/>
            <a:cxnLst/>
            <a:rect l="l" t="t" r="r" b="b"/>
            <a:pathLst>
              <a:path w="308610" h="592454">
                <a:moveTo>
                  <a:pt x="268114" y="527279"/>
                </a:moveTo>
                <a:lnTo>
                  <a:pt x="239902" y="541782"/>
                </a:lnTo>
                <a:lnTo>
                  <a:pt x="308609" y="592201"/>
                </a:lnTo>
                <a:lnTo>
                  <a:pt x="307971" y="538607"/>
                </a:lnTo>
                <a:lnTo>
                  <a:pt x="273938" y="538607"/>
                </a:lnTo>
                <a:lnTo>
                  <a:pt x="268114" y="527279"/>
                </a:lnTo>
                <a:close/>
              </a:path>
              <a:path w="308610" h="592454">
                <a:moveTo>
                  <a:pt x="279428" y="521463"/>
                </a:moveTo>
                <a:lnTo>
                  <a:pt x="268114" y="527279"/>
                </a:lnTo>
                <a:lnTo>
                  <a:pt x="273938" y="538607"/>
                </a:lnTo>
                <a:lnTo>
                  <a:pt x="285241" y="532764"/>
                </a:lnTo>
                <a:lnTo>
                  <a:pt x="279428" y="521463"/>
                </a:lnTo>
                <a:close/>
              </a:path>
              <a:path w="308610" h="592454">
                <a:moveTo>
                  <a:pt x="307593" y="506983"/>
                </a:moveTo>
                <a:lnTo>
                  <a:pt x="279428" y="521463"/>
                </a:lnTo>
                <a:lnTo>
                  <a:pt x="285241" y="532764"/>
                </a:lnTo>
                <a:lnTo>
                  <a:pt x="273938" y="538607"/>
                </a:lnTo>
                <a:lnTo>
                  <a:pt x="307971" y="538607"/>
                </a:lnTo>
                <a:lnTo>
                  <a:pt x="307593" y="506983"/>
                </a:lnTo>
                <a:close/>
              </a:path>
              <a:path w="308610" h="592454">
                <a:moveTo>
                  <a:pt x="11175" y="0"/>
                </a:moveTo>
                <a:lnTo>
                  <a:pt x="0" y="5841"/>
                </a:lnTo>
                <a:lnTo>
                  <a:pt x="268114" y="527279"/>
                </a:lnTo>
                <a:lnTo>
                  <a:pt x="279428" y="521463"/>
                </a:lnTo>
                <a:lnTo>
                  <a:pt x="11175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6" name="object 36"/>
          <p:cNvGrpSpPr/>
          <p:nvPr/>
        </p:nvGrpSpPr>
        <p:grpSpPr>
          <a:xfrm>
            <a:off x="2471927" y="6048755"/>
            <a:ext cx="1316990" cy="455930"/>
            <a:chOff x="2471927" y="6048755"/>
            <a:chExt cx="1316990" cy="455930"/>
          </a:xfrm>
        </p:grpSpPr>
        <p:sp>
          <p:nvSpPr>
            <p:cNvPr id="37" name="object 37"/>
            <p:cNvSpPr/>
            <p:nvPr/>
          </p:nvSpPr>
          <p:spPr>
            <a:xfrm>
              <a:off x="2478023" y="6054851"/>
              <a:ext cx="1304925" cy="443865"/>
            </a:xfrm>
            <a:custGeom>
              <a:avLst/>
              <a:gdLst/>
              <a:ahLst/>
              <a:cxnLst/>
              <a:rect l="l" t="t" r="r" b="b"/>
              <a:pathLst>
                <a:path w="1304925" h="443864">
                  <a:moveTo>
                    <a:pt x="1230629" y="0"/>
                  </a:moveTo>
                  <a:lnTo>
                    <a:pt x="73913" y="0"/>
                  </a:lnTo>
                  <a:lnTo>
                    <a:pt x="45166" y="5809"/>
                  </a:lnTo>
                  <a:lnTo>
                    <a:pt x="21669" y="21650"/>
                  </a:lnTo>
                  <a:lnTo>
                    <a:pt x="5816" y="45144"/>
                  </a:lnTo>
                  <a:lnTo>
                    <a:pt x="0" y="73914"/>
                  </a:lnTo>
                  <a:lnTo>
                    <a:pt x="0" y="369570"/>
                  </a:lnTo>
                  <a:lnTo>
                    <a:pt x="5816" y="398339"/>
                  </a:lnTo>
                  <a:lnTo>
                    <a:pt x="21669" y="421833"/>
                  </a:lnTo>
                  <a:lnTo>
                    <a:pt x="45166" y="437674"/>
                  </a:lnTo>
                  <a:lnTo>
                    <a:pt x="73913" y="443484"/>
                  </a:lnTo>
                  <a:lnTo>
                    <a:pt x="1230629" y="443484"/>
                  </a:lnTo>
                  <a:lnTo>
                    <a:pt x="1259377" y="437674"/>
                  </a:lnTo>
                  <a:lnTo>
                    <a:pt x="1282874" y="421833"/>
                  </a:lnTo>
                  <a:lnTo>
                    <a:pt x="1298727" y="398339"/>
                  </a:lnTo>
                  <a:lnTo>
                    <a:pt x="1304543" y="369570"/>
                  </a:lnTo>
                  <a:lnTo>
                    <a:pt x="1304543" y="73914"/>
                  </a:lnTo>
                  <a:lnTo>
                    <a:pt x="1298727" y="45144"/>
                  </a:lnTo>
                  <a:lnTo>
                    <a:pt x="1282874" y="21650"/>
                  </a:lnTo>
                  <a:lnTo>
                    <a:pt x="1259377" y="5809"/>
                  </a:lnTo>
                  <a:lnTo>
                    <a:pt x="1230629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478023" y="6054851"/>
              <a:ext cx="1304925" cy="443865"/>
            </a:xfrm>
            <a:custGeom>
              <a:avLst/>
              <a:gdLst/>
              <a:ahLst/>
              <a:cxnLst/>
              <a:rect l="l" t="t" r="r" b="b"/>
              <a:pathLst>
                <a:path w="1304925" h="443864">
                  <a:moveTo>
                    <a:pt x="0" y="73914"/>
                  </a:moveTo>
                  <a:lnTo>
                    <a:pt x="5816" y="45144"/>
                  </a:lnTo>
                  <a:lnTo>
                    <a:pt x="21669" y="21650"/>
                  </a:lnTo>
                  <a:lnTo>
                    <a:pt x="45166" y="5809"/>
                  </a:lnTo>
                  <a:lnTo>
                    <a:pt x="73913" y="0"/>
                  </a:lnTo>
                  <a:lnTo>
                    <a:pt x="1230629" y="0"/>
                  </a:lnTo>
                  <a:lnTo>
                    <a:pt x="1259377" y="5809"/>
                  </a:lnTo>
                  <a:lnTo>
                    <a:pt x="1282874" y="21650"/>
                  </a:lnTo>
                  <a:lnTo>
                    <a:pt x="1298727" y="45144"/>
                  </a:lnTo>
                  <a:lnTo>
                    <a:pt x="1304543" y="73914"/>
                  </a:lnTo>
                  <a:lnTo>
                    <a:pt x="1304543" y="369570"/>
                  </a:lnTo>
                  <a:lnTo>
                    <a:pt x="1298727" y="398339"/>
                  </a:lnTo>
                  <a:lnTo>
                    <a:pt x="1282874" y="421833"/>
                  </a:lnTo>
                  <a:lnTo>
                    <a:pt x="1259377" y="437674"/>
                  </a:lnTo>
                  <a:lnTo>
                    <a:pt x="1230629" y="443484"/>
                  </a:lnTo>
                  <a:lnTo>
                    <a:pt x="73913" y="443484"/>
                  </a:lnTo>
                  <a:lnTo>
                    <a:pt x="45166" y="437674"/>
                  </a:lnTo>
                  <a:lnTo>
                    <a:pt x="21669" y="421833"/>
                  </a:lnTo>
                  <a:lnTo>
                    <a:pt x="5816" y="398339"/>
                  </a:lnTo>
                  <a:lnTo>
                    <a:pt x="0" y="369570"/>
                  </a:lnTo>
                  <a:lnTo>
                    <a:pt x="0" y="73914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2664079" y="6130848"/>
            <a:ext cx="9334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Sunny</a:t>
            </a:r>
            <a:r>
              <a:rPr sz="16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(No)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241792" y="4917947"/>
            <a:ext cx="3700779" cy="666115"/>
          </a:xfrm>
          <a:prstGeom prst="rect">
            <a:avLst/>
          </a:prstGeom>
          <a:solidFill>
            <a:srgbClr val="4471C4"/>
          </a:solidFill>
          <a:ln w="12192">
            <a:solidFill>
              <a:srgbClr val="2E528F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757555">
              <a:lnSpc>
                <a:spcPct val="100000"/>
              </a:lnSpc>
              <a:spcBef>
                <a:spcPts val="1430"/>
              </a:spcBef>
            </a:pP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Sunny,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Cold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Indoor=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??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194292" y="5935979"/>
            <a:ext cx="2037714" cy="45593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76200" rIns="0" bIns="0" rtlCol="0">
            <a:spAutoFit/>
          </a:bodyPr>
          <a:lstStyle/>
          <a:p>
            <a:pPr marL="158750">
              <a:lnSpc>
                <a:spcPct val="100000"/>
              </a:lnSpc>
              <a:spcBef>
                <a:spcPts val="6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‘No’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title"/>
          </p:nvPr>
        </p:nvSpPr>
        <p:spPr>
          <a:xfrm>
            <a:off x="3966209" y="540765"/>
            <a:ext cx="3559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All</a:t>
            </a:r>
            <a:r>
              <a:rPr spc="-10" dirty="0"/>
              <a:t> </a:t>
            </a:r>
            <a:r>
              <a:rPr dirty="0"/>
              <a:t>about</a:t>
            </a:r>
            <a:r>
              <a:rPr spc="-20" dirty="0"/>
              <a:t> </a:t>
            </a:r>
            <a:r>
              <a:rPr spc="-10" dirty="0"/>
              <a:t>Decision</a:t>
            </a:r>
            <a:r>
              <a:rPr spc="-25" dirty="0"/>
              <a:t> </a:t>
            </a:r>
            <a:r>
              <a:rPr dirty="0"/>
              <a:t>Tree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9494" y="2371344"/>
            <a:ext cx="3770161" cy="398983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07950" y="3922521"/>
            <a:ext cx="1398270" cy="927100"/>
            <a:chOff x="107950" y="3922521"/>
            <a:chExt cx="1398270" cy="927100"/>
          </a:xfrm>
        </p:grpSpPr>
        <p:sp>
          <p:nvSpPr>
            <p:cNvPr id="4" name="object 4"/>
            <p:cNvSpPr/>
            <p:nvPr/>
          </p:nvSpPr>
          <p:spPr>
            <a:xfrm>
              <a:off x="114300" y="3928871"/>
              <a:ext cx="1385570" cy="914400"/>
            </a:xfrm>
            <a:custGeom>
              <a:avLst/>
              <a:gdLst/>
              <a:ahLst/>
              <a:cxnLst/>
              <a:rect l="l" t="t" r="r" b="b"/>
              <a:pathLst>
                <a:path w="1385570" h="914400">
                  <a:moveTo>
                    <a:pt x="692658" y="0"/>
                  </a:moveTo>
                  <a:lnTo>
                    <a:pt x="635848" y="1515"/>
                  </a:lnTo>
                  <a:lnTo>
                    <a:pt x="580304" y="5984"/>
                  </a:lnTo>
                  <a:lnTo>
                    <a:pt x="526202" y="13289"/>
                  </a:lnTo>
                  <a:lnTo>
                    <a:pt x="473722" y="23311"/>
                  </a:lnTo>
                  <a:lnTo>
                    <a:pt x="423042" y="35933"/>
                  </a:lnTo>
                  <a:lnTo>
                    <a:pt x="374339" y="51037"/>
                  </a:lnTo>
                  <a:lnTo>
                    <a:pt x="327793" y="68505"/>
                  </a:lnTo>
                  <a:lnTo>
                    <a:pt x="283581" y="88221"/>
                  </a:lnTo>
                  <a:lnTo>
                    <a:pt x="241881" y="110065"/>
                  </a:lnTo>
                  <a:lnTo>
                    <a:pt x="202872" y="133921"/>
                  </a:lnTo>
                  <a:lnTo>
                    <a:pt x="166733" y="159670"/>
                  </a:lnTo>
                  <a:lnTo>
                    <a:pt x="133641" y="187195"/>
                  </a:lnTo>
                  <a:lnTo>
                    <a:pt x="103774" y="216379"/>
                  </a:lnTo>
                  <a:lnTo>
                    <a:pt x="77312" y="247102"/>
                  </a:lnTo>
                  <a:lnTo>
                    <a:pt x="54431" y="279249"/>
                  </a:lnTo>
                  <a:lnTo>
                    <a:pt x="35311" y="312700"/>
                  </a:lnTo>
                  <a:lnTo>
                    <a:pt x="9065" y="383046"/>
                  </a:lnTo>
                  <a:lnTo>
                    <a:pt x="0" y="457200"/>
                  </a:lnTo>
                  <a:lnTo>
                    <a:pt x="2296" y="494693"/>
                  </a:lnTo>
                  <a:lnTo>
                    <a:pt x="20130" y="567061"/>
                  </a:lnTo>
                  <a:lnTo>
                    <a:pt x="54431" y="635150"/>
                  </a:lnTo>
                  <a:lnTo>
                    <a:pt x="77312" y="667297"/>
                  </a:lnTo>
                  <a:lnTo>
                    <a:pt x="103774" y="698020"/>
                  </a:lnTo>
                  <a:lnTo>
                    <a:pt x="133641" y="727204"/>
                  </a:lnTo>
                  <a:lnTo>
                    <a:pt x="166733" y="754729"/>
                  </a:lnTo>
                  <a:lnTo>
                    <a:pt x="202872" y="780478"/>
                  </a:lnTo>
                  <a:lnTo>
                    <a:pt x="241881" y="804334"/>
                  </a:lnTo>
                  <a:lnTo>
                    <a:pt x="283581" y="826178"/>
                  </a:lnTo>
                  <a:lnTo>
                    <a:pt x="327793" y="845894"/>
                  </a:lnTo>
                  <a:lnTo>
                    <a:pt x="374339" y="863362"/>
                  </a:lnTo>
                  <a:lnTo>
                    <a:pt x="423042" y="878466"/>
                  </a:lnTo>
                  <a:lnTo>
                    <a:pt x="473722" y="891088"/>
                  </a:lnTo>
                  <a:lnTo>
                    <a:pt x="526202" y="901110"/>
                  </a:lnTo>
                  <a:lnTo>
                    <a:pt x="580304" y="908415"/>
                  </a:lnTo>
                  <a:lnTo>
                    <a:pt x="635848" y="912884"/>
                  </a:lnTo>
                  <a:lnTo>
                    <a:pt x="692658" y="914400"/>
                  </a:lnTo>
                  <a:lnTo>
                    <a:pt x="749467" y="912884"/>
                  </a:lnTo>
                  <a:lnTo>
                    <a:pt x="805011" y="908415"/>
                  </a:lnTo>
                  <a:lnTo>
                    <a:pt x="859113" y="901110"/>
                  </a:lnTo>
                  <a:lnTo>
                    <a:pt x="911593" y="891088"/>
                  </a:lnTo>
                  <a:lnTo>
                    <a:pt x="962273" y="878466"/>
                  </a:lnTo>
                  <a:lnTo>
                    <a:pt x="1010976" y="863362"/>
                  </a:lnTo>
                  <a:lnTo>
                    <a:pt x="1057522" y="845894"/>
                  </a:lnTo>
                  <a:lnTo>
                    <a:pt x="1101734" y="826178"/>
                  </a:lnTo>
                  <a:lnTo>
                    <a:pt x="1143434" y="804334"/>
                  </a:lnTo>
                  <a:lnTo>
                    <a:pt x="1182443" y="780478"/>
                  </a:lnTo>
                  <a:lnTo>
                    <a:pt x="1218582" y="754729"/>
                  </a:lnTo>
                  <a:lnTo>
                    <a:pt x="1251674" y="727204"/>
                  </a:lnTo>
                  <a:lnTo>
                    <a:pt x="1281541" y="698020"/>
                  </a:lnTo>
                  <a:lnTo>
                    <a:pt x="1308003" y="667297"/>
                  </a:lnTo>
                  <a:lnTo>
                    <a:pt x="1330884" y="635150"/>
                  </a:lnTo>
                  <a:lnTo>
                    <a:pt x="1350004" y="601699"/>
                  </a:lnTo>
                  <a:lnTo>
                    <a:pt x="1376250" y="531353"/>
                  </a:lnTo>
                  <a:lnTo>
                    <a:pt x="1385316" y="457200"/>
                  </a:lnTo>
                  <a:lnTo>
                    <a:pt x="1383019" y="419706"/>
                  </a:lnTo>
                  <a:lnTo>
                    <a:pt x="1365185" y="347338"/>
                  </a:lnTo>
                  <a:lnTo>
                    <a:pt x="1330884" y="279249"/>
                  </a:lnTo>
                  <a:lnTo>
                    <a:pt x="1308003" y="247102"/>
                  </a:lnTo>
                  <a:lnTo>
                    <a:pt x="1281541" y="216379"/>
                  </a:lnTo>
                  <a:lnTo>
                    <a:pt x="1251674" y="187195"/>
                  </a:lnTo>
                  <a:lnTo>
                    <a:pt x="1218582" y="159670"/>
                  </a:lnTo>
                  <a:lnTo>
                    <a:pt x="1182443" y="133921"/>
                  </a:lnTo>
                  <a:lnTo>
                    <a:pt x="1143434" y="110065"/>
                  </a:lnTo>
                  <a:lnTo>
                    <a:pt x="1101734" y="88221"/>
                  </a:lnTo>
                  <a:lnTo>
                    <a:pt x="1057522" y="68505"/>
                  </a:lnTo>
                  <a:lnTo>
                    <a:pt x="1010976" y="51037"/>
                  </a:lnTo>
                  <a:lnTo>
                    <a:pt x="962273" y="35933"/>
                  </a:lnTo>
                  <a:lnTo>
                    <a:pt x="911593" y="23311"/>
                  </a:lnTo>
                  <a:lnTo>
                    <a:pt x="859113" y="13289"/>
                  </a:lnTo>
                  <a:lnTo>
                    <a:pt x="805011" y="5984"/>
                  </a:lnTo>
                  <a:lnTo>
                    <a:pt x="749467" y="1515"/>
                  </a:lnTo>
                  <a:lnTo>
                    <a:pt x="6926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4300" y="3928871"/>
              <a:ext cx="1385570" cy="914400"/>
            </a:xfrm>
            <a:custGeom>
              <a:avLst/>
              <a:gdLst/>
              <a:ahLst/>
              <a:cxnLst/>
              <a:rect l="l" t="t" r="r" b="b"/>
              <a:pathLst>
                <a:path w="1385570" h="914400">
                  <a:moveTo>
                    <a:pt x="0" y="457200"/>
                  </a:moveTo>
                  <a:lnTo>
                    <a:pt x="9065" y="383046"/>
                  </a:lnTo>
                  <a:lnTo>
                    <a:pt x="35311" y="312700"/>
                  </a:lnTo>
                  <a:lnTo>
                    <a:pt x="54431" y="279249"/>
                  </a:lnTo>
                  <a:lnTo>
                    <a:pt x="77312" y="247102"/>
                  </a:lnTo>
                  <a:lnTo>
                    <a:pt x="103774" y="216379"/>
                  </a:lnTo>
                  <a:lnTo>
                    <a:pt x="133641" y="187195"/>
                  </a:lnTo>
                  <a:lnTo>
                    <a:pt x="166733" y="159670"/>
                  </a:lnTo>
                  <a:lnTo>
                    <a:pt x="202872" y="133921"/>
                  </a:lnTo>
                  <a:lnTo>
                    <a:pt x="241881" y="110065"/>
                  </a:lnTo>
                  <a:lnTo>
                    <a:pt x="283581" y="88221"/>
                  </a:lnTo>
                  <a:lnTo>
                    <a:pt x="327793" y="68505"/>
                  </a:lnTo>
                  <a:lnTo>
                    <a:pt x="374339" y="51037"/>
                  </a:lnTo>
                  <a:lnTo>
                    <a:pt x="423042" y="35933"/>
                  </a:lnTo>
                  <a:lnTo>
                    <a:pt x="473722" y="23311"/>
                  </a:lnTo>
                  <a:lnTo>
                    <a:pt x="526202" y="13289"/>
                  </a:lnTo>
                  <a:lnTo>
                    <a:pt x="580304" y="5984"/>
                  </a:lnTo>
                  <a:lnTo>
                    <a:pt x="635848" y="1515"/>
                  </a:lnTo>
                  <a:lnTo>
                    <a:pt x="692658" y="0"/>
                  </a:lnTo>
                  <a:lnTo>
                    <a:pt x="749467" y="1515"/>
                  </a:lnTo>
                  <a:lnTo>
                    <a:pt x="805011" y="5984"/>
                  </a:lnTo>
                  <a:lnTo>
                    <a:pt x="859113" y="13289"/>
                  </a:lnTo>
                  <a:lnTo>
                    <a:pt x="911593" y="23311"/>
                  </a:lnTo>
                  <a:lnTo>
                    <a:pt x="962273" y="35933"/>
                  </a:lnTo>
                  <a:lnTo>
                    <a:pt x="1010976" y="51037"/>
                  </a:lnTo>
                  <a:lnTo>
                    <a:pt x="1057522" y="68505"/>
                  </a:lnTo>
                  <a:lnTo>
                    <a:pt x="1101734" y="88221"/>
                  </a:lnTo>
                  <a:lnTo>
                    <a:pt x="1143434" y="110065"/>
                  </a:lnTo>
                  <a:lnTo>
                    <a:pt x="1182443" y="133921"/>
                  </a:lnTo>
                  <a:lnTo>
                    <a:pt x="1218582" y="159670"/>
                  </a:lnTo>
                  <a:lnTo>
                    <a:pt x="1251674" y="187195"/>
                  </a:lnTo>
                  <a:lnTo>
                    <a:pt x="1281541" y="216379"/>
                  </a:lnTo>
                  <a:lnTo>
                    <a:pt x="1308003" y="247102"/>
                  </a:lnTo>
                  <a:lnTo>
                    <a:pt x="1330884" y="279249"/>
                  </a:lnTo>
                  <a:lnTo>
                    <a:pt x="1350004" y="312700"/>
                  </a:lnTo>
                  <a:lnTo>
                    <a:pt x="1376250" y="383046"/>
                  </a:lnTo>
                  <a:lnTo>
                    <a:pt x="1385316" y="457200"/>
                  </a:lnTo>
                  <a:lnTo>
                    <a:pt x="1383019" y="494693"/>
                  </a:lnTo>
                  <a:lnTo>
                    <a:pt x="1365185" y="567061"/>
                  </a:lnTo>
                  <a:lnTo>
                    <a:pt x="1330884" y="635150"/>
                  </a:lnTo>
                  <a:lnTo>
                    <a:pt x="1308003" y="667297"/>
                  </a:lnTo>
                  <a:lnTo>
                    <a:pt x="1281541" y="698020"/>
                  </a:lnTo>
                  <a:lnTo>
                    <a:pt x="1251674" y="727204"/>
                  </a:lnTo>
                  <a:lnTo>
                    <a:pt x="1218582" y="754729"/>
                  </a:lnTo>
                  <a:lnTo>
                    <a:pt x="1182443" y="780478"/>
                  </a:lnTo>
                  <a:lnTo>
                    <a:pt x="1143434" y="804334"/>
                  </a:lnTo>
                  <a:lnTo>
                    <a:pt x="1101734" y="826178"/>
                  </a:lnTo>
                  <a:lnTo>
                    <a:pt x="1057522" y="845894"/>
                  </a:lnTo>
                  <a:lnTo>
                    <a:pt x="1010976" y="863362"/>
                  </a:lnTo>
                  <a:lnTo>
                    <a:pt x="962273" y="878466"/>
                  </a:lnTo>
                  <a:lnTo>
                    <a:pt x="911593" y="891088"/>
                  </a:lnTo>
                  <a:lnTo>
                    <a:pt x="859113" y="901110"/>
                  </a:lnTo>
                  <a:lnTo>
                    <a:pt x="805011" y="908415"/>
                  </a:lnTo>
                  <a:lnTo>
                    <a:pt x="749467" y="912884"/>
                  </a:lnTo>
                  <a:lnTo>
                    <a:pt x="692658" y="914400"/>
                  </a:lnTo>
                  <a:lnTo>
                    <a:pt x="635848" y="912884"/>
                  </a:lnTo>
                  <a:lnTo>
                    <a:pt x="580304" y="908415"/>
                  </a:lnTo>
                  <a:lnTo>
                    <a:pt x="526202" y="901110"/>
                  </a:lnTo>
                  <a:lnTo>
                    <a:pt x="473722" y="891088"/>
                  </a:lnTo>
                  <a:lnTo>
                    <a:pt x="423042" y="878466"/>
                  </a:lnTo>
                  <a:lnTo>
                    <a:pt x="374339" y="863362"/>
                  </a:lnTo>
                  <a:lnTo>
                    <a:pt x="327793" y="845894"/>
                  </a:lnTo>
                  <a:lnTo>
                    <a:pt x="283581" y="826178"/>
                  </a:lnTo>
                  <a:lnTo>
                    <a:pt x="241881" y="804334"/>
                  </a:lnTo>
                  <a:lnTo>
                    <a:pt x="202872" y="780478"/>
                  </a:lnTo>
                  <a:lnTo>
                    <a:pt x="166733" y="754729"/>
                  </a:lnTo>
                  <a:lnTo>
                    <a:pt x="133641" y="727204"/>
                  </a:lnTo>
                  <a:lnTo>
                    <a:pt x="103774" y="698020"/>
                  </a:lnTo>
                  <a:lnTo>
                    <a:pt x="77312" y="667297"/>
                  </a:lnTo>
                  <a:lnTo>
                    <a:pt x="54431" y="635150"/>
                  </a:lnTo>
                  <a:lnTo>
                    <a:pt x="35311" y="601699"/>
                  </a:lnTo>
                  <a:lnTo>
                    <a:pt x="9065" y="531353"/>
                  </a:lnTo>
                  <a:lnTo>
                    <a:pt x="0" y="457200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12800" y="4222242"/>
            <a:ext cx="789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10577" y="3014472"/>
            <a:ext cx="804545" cy="776605"/>
            <a:chOff x="1010577" y="3014472"/>
            <a:chExt cx="804545" cy="776605"/>
          </a:xfrm>
        </p:grpSpPr>
        <p:sp>
          <p:nvSpPr>
            <p:cNvPr id="8" name="object 8"/>
            <p:cNvSpPr/>
            <p:nvPr/>
          </p:nvSpPr>
          <p:spPr>
            <a:xfrm>
              <a:off x="1010577" y="3014472"/>
              <a:ext cx="804545" cy="776605"/>
            </a:xfrm>
            <a:custGeom>
              <a:avLst/>
              <a:gdLst/>
              <a:ahLst/>
              <a:cxnLst/>
              <a:rect l="l" t="t" r="r" b="b"/>
              <a:pathLst>
                <a:path w="804544" h="776604">
                  <a:moveTo>
                    <a:pt x="745210" y="48303"/>
                  </a:moveTo>
                  <a:lnTo>
                    <a:pt x="0" y="766952"/>
                  </a:lnTo>
                  <a:lnTo>
                    <a:pt x="8813" y="776096"/>
                  </a:lnTo>
                  <a:lnTo>
                    <a:pt x="754066" y="57478"/>
                  </a:lnTo>
                  <a:lnTo>
                    <a:pt x="745210" y="48303"/>
                  </a:lnTo>
                  <a:close/>
                </a:path>
                <a:path w="804544" h="776604">
                  <a:moveTo>
                    <a:pt x="790507" y="39497"/>
                  </a:moveTo>
                  <a:lnTo>
                    <a:pt x="754341" y="39497"/>
                  </a:lnTo>
                  <a:lnTo>
                    <a:pt x="763231" y="48640"/>
                  </a:lnTo>
                  <a:lnTo>
                    <a:pt x="754066" y="57478"/>
                  </a:lnTo>
                  <a:lnTo>
                    <a:pt x="776058" y="80263"/>
                  </a:lnTo>
                  <a:lnTo>
                    <a:pt x="790507" y="39497"/>
                  </a:lnTo>
                  <a:close/>
                </a:path>
                <a:path w="804544" h="776604">
                  <a:moveTo>
                    <a:pt x="754341" y="39497"/>
                  </a:moveTo>
                  <a:lnTo>
                    <a:pt x="745210" y="48303"/>
                  </a:lnTo>
                  <a:lnTo>
                    <a:pt x="754066" y="57478"/>
                  </a:lnTo>
                  <a:lnTo>
                    <a:pt x="763231" y="48640"/>
                  </a:lnTo>
                  <a:lnTo>
                    <a:pt x="754341" y="39497"/>
                  </a:lnTo>
                  <a:close/>
                </a:path>
                <a:path w="804544" h="776604">
                  <a:moveTo>
                    <a:pt x="804506" y="0"/>
                  </a:moveTo>
                  <a:lnTo>
                    <a:pt x="723226" y="25526"/>
                  </a:lnTo>
                  <a:lnTo>
                    <a:pt x="745210" y="48303"/>
                  </a:lnTo>
                  <a:lnTo>
                    <a:pt x="754341" y="39497"/>
                  </a:lnTo>
                  <a:lnTo>
                    <a:pt x="790507" y="39497"/>
                  </a:lnTo>
                  <a:lnTo>
                    <a:pt x="80450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8867" y="3153537"/>
              <a:ext cx="199072" cy="237871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1499235" y="4437126"/>
            <a:ext cx="286385" cy="76200"/>
          </a:xfrm>
          <a:custGeom>
            <a:avLst/>
            <a:gdLst/>
            <a:ahLst/>
            <a:cxnLst/>
            <a:rect l="l" t="t" r="r" b="b"/>
            <a:pathLst>
              <a:path w="286385" h="76200">
                <a:moveTo>
                  <a:pt x="278910" y="31115"/>
                </a:moveTo>
                <a:lnTo>
                  <a:pt x="222377" y="31115"/>
                </a:lnTo>
                <a:lnTo>
                  <a:pt x="223012" y="43815"/>
                </a:lnTo>
                <a:lnTo>
                  <a:pt x="210375" y="44442"/>
                </a:lnTo>
                <a:lnTo>
                  <a:pt x="211963" y="76200"/>
                </a:lnTo>
                <a:lnTo>
                  <a:pt x="286131" y="34290"/>
                </a:lnTo>
                <a:lnTo>
                  <a:pt x="278910" y="31115"/>
                </a:lnTo>
                <a:close/>
              </a:path>
              <a:path w="286385" h="76200">
                <a:moveTo>
                  <a:pt x="209740" y="31750"/>
                </a:moveTo>
                <a:lnTo>
                  <a:pt x="0" y="42291"/>
                </a:lnTo>
                <a:lnTo>
                  <a:pt x="634" y="54863"/>
                </a:lnTo>
                <a:lnTo>
                  <a:pt x="210375" y="44442"/>
                </a:lnTo>
                <a:lnTo>
                  <a:pt x="209740" y="31750"/>
                </a:lnTo>
                <a:close/>
              </a:path>
              <a:path w="286385" h="76200">
                <a:moveTo>
                  <a:pt x="222377" y="31115"/>
                </a:moveTo>
                <a:lnTo>
                  <a:pt x="209740" y="31750"/>
                </a:lnTo>
                <a:lnTo>
                  <a:pt x="210375" y="44442"/>
                </a:lnTo>
                <a:lnTo>
                  <a:pt x="223012" y="43815"/>
                </a:lnTo>
                <a:lnTo>
                  <a:pt x="222377" y="31115"/>
                </a:lnTo>
                <a:close/>
              </a:path>
              <a:path w="286385" h="76200">
                <a:moveTo>
                  <a:pt x="208153" y="0"/>
                </a:moveTo>
                <a:lnTo>
                  <a:pt x="209740" y="31750"/>
                </a:lnTo>
                <a:lnTo>
                  <a:pt x="222377" y="31115"/>
                </a:lnTo>
                <a:lnTo>
                  <a:pt x="278910" y="31115"/>
                </a:lnTo>
                <a:lnTo>
                  <a:pt x="208153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95794" y="5068951"/>
            <a:ext cx="690880" cy="702945"/>
          </a:xfrm>
          <a:custGeom>
            <a:avLst/>
            <a:gdLst/>
            <a:ahLst/>
            <a:cxnLst/>
            <a:rect l="l" t="t" r="r" b="b"/>
            <a:pathLst>
              <a:path w="690880" h="702945">
                <a:moveTo>
                  <a:pt x="632437" y="652912"/>
                </a:moveTo>
                <a:lnTo>
                  <a:pt x="609815" y="675132"/>
                </a:lnTo>
                <a:lnTo>
                  <a:pt x="690333" y="702805"/>
                </a:lnTo>
                <a:lnTo>
                  <a:pt x="677148" y="661949"/>
                </a:lnTo>
                <a:lnTo>
                  <a:pt x="641311" y="661949"/>
                </a:lnTo>
                <a:lnTo>
                  <a:pt x="632437" y="652912"/>
                </a:lnTo>
                <a:close/>
              </a:path>
              <a:path w="690880" h="702945">
                <a:moveTo>
                  <a:pt x="641477" y="644032"/>
                </a:moveTo>
                <a:lnTo>
                  <a:pt x="632437" y="652912"/>
                </a:lnTo>
                <a:lnTo>
                  <a:pt x="641311" y="661949"/>
                </a:lnTo>
                <a:lnTo>
                  <a:pt x="650328" y="653046"/>
                </a:lnTo>
                <a:lnTo>
                  <a:pt x="641477" y="644032"/>
                </a:lnTo>
                <a:close/>
              </a:path>
              <a:path w="690880" h="702945">
                <a:moveTo>
                  <a:pt x="664171" y="621741"/>
                </a:moveTo>
                <a:lnTo>
                  <a:pt x="641477" y="644032"/>
                </a:lnTo>
                <a:lnTo>
                  <a:pt x="650328" y="653046"/>
                </a:lnTo>
                <a:lnTo>
                  <a:pt x="641311" y="661949"/>
                </a:lnTo>
                <a:lnTo>
                  <a:pt x="677148" y="661949"/>
                </a:lnTo>
                <a:lnTo>
                  <a:pt x="664171" y="621741"/>
                </a:lnTo>
                <a:close/>
              </a:path>
              <a:path w="690880" h="702945">
                <a:moveTo>
                  <a:pt x="9067" y="0"/>
                </a:moveTo>
                <a:lnTo>
                  <a:pt x="0" y="8890"/>
                </a:lnTo>
                <a:lnTo>
                  <a:pt x="632437" y="652912"/>
                </a:lnTo>
                <a:lnTo>
                  <a:pt x="641477" y="644032"/>
                </a:lnTo>
                <a:lnTo>
                  <a:pt x="9067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174735" y="5972555"/>
            <a:ext cx="833755" cy="490855"/>
          </a:xfrm>
          <a:prstGeom prst="rect">
            <a:avLst/>
          </a:prstGeom>
          <a:solidFill>
            <a:srgbClr val="4471C4"/>
          </a:solidFill>
          <a:ln w="12192">
            <a:solidFill>
              <a:srgbClr val="2E528F"/>
            </a:solidFill>
          </a:ln>
        </p:spPr>
        <p:txBody>
          <a:bodyPr vert="horz" wrap="square" lIns="0" tIns="93980" rIns="0" bIns="0" rtlCol="0">
            <a:spAutoFit/>
          </a:bodyPr>
          <a:lstStyle/>
          <a:p>
            <a:pPr marL="199390">
              <a:lnSpc>
                <a:spcPct val="100000"/>
              </a:lnSpc>
              <a:spcBef>
                <a:spcPts val="74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DT-1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89701" y="2643632"/>
            <a:ext cx="4302125" cy="1223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18690" indent="-28765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218690" algn="l"/>
                <a:tab pos="2219325" algn="l"/>
              </a:tabLst>
            </a:pPr>
            <a:r>
              <a:rPr sz="1800" dirty="0">
                <a:latin typeface="Calibri"/>
                <a:cs typeface="Calibri"/>
              </a:rPr>
              <a:t>Base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Learners </a:t>
            </a:r>
            <a:r>
              <a:rPr sz="1800" dirty="0">
                <a:latin typeface="Calibri"/>
                <a:cs typeface="Calibri"/>
              </a:rPr>
              <a:t>Model</a:t>
            </a:r>
            <a:endParaRPr sz="1800">
              <a:latin typeface="Calibri"/>
              <a:cs typeface="Calibri"/>
            </a:endParaRPr>
          </a:p>
          <a:p>
            <a:pPr marL="2675890" lvl="1" indent="-287655">
              <a:lnSpc>
                <a:spcPct val="100000"/>
              </a:lnSpc>
              <a:buFont typeface="Wingdings"/>
              <a:buChar char=""/>
              <a:tabLst>
                <a:tab pos="2675890" algn="l"/>
                <a:tab pos="2676525" algn="l"/>
              </a:tabLst>
            </a:pPr>
            <a:r>
              <a:rPr sz="1800" spc="-20" dirty="0">
                <a:latin typeface="Calibri"/>
                <a:cs typeface="Calibri"/>
              </a:rPr>
              <a:t>Row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Sampling</a:t>
            </a:r>
            <a:endParaRPr sz="1800">
              <a:latin typeface="Calibri"/>
              <a:cs typeface="Calibri"/>
            </a:endParaRPr>
          </a:p>
          <a:p>
            <a:pPr marL="2675890" lvl="1" indent="-287655">
              <a:lnSpc>
                <a:spcPct val="100000"/>
              </a:lnSpc>
              <a:buFont typeface="Wingdings"/>
              <a:buChar char=""/>
              <a:tabLst>
                <a:tab pos="2675890" algn="l"/>
                <a:tab pos="2676525" algn="l"/>
              </a:tabLst>
            </a:pPr>
            <a:r>
              <a:rPr sz="1800" spc="-10" dirty="0">
                <a:latin typeface="Calibri"/>
                <a:cs typeface="Calibri"/>
              </a:rPr>
              <a:t>Feature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Sampling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800" spc="-5" dirty="0">
                <a:latin typeface="Calibri"/>
                <a:cs typeface="Calibri"/>
              </a:rPr>
              <a:t>Majority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Voting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208264" y="4744211"/>
            <a:ext cx="2392680" cy="815340"/>
          </a:xfrm>
          <a:prstGeom prst="rect">
            <a:avLst/>
          </a:prstGeom>
          <a:solidFill>
            <a:srgbClr val="000000"/>
          </a:solidFill>
          <a:ln w="12192">
            <a:solidFill>
              <a:srgbClr val="2E528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75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</a:pP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633716" y="4672584"/>
            <a:ext cx="76200" cy="1791970"/>
          </a:xfrm>
          <a:custGeom>
            <a:avLst/>
            <a:gdLst/>
            <a:ahLst/>
            <a:cxnLst/>
            <a:rect l="l" t="t" r="r" b="b"/>
            <a:pathLst>
              <a:path w="76200" h="1791970">
                <a:moveTo>
                  <a:pt x="31649" y="1715420"/>
                </a:moveTo>
                <a:lnTo>
                  <a:pt x="0" y="1715668"/>
                </a:lnTo>
                <a:lnTo>
                  <a:pt x="38607" y="1791563"/>
                </a:lnTo>
                <a:lnTo>
                  <a:pt x="69783" y="1728127"/>
                </a:lnTo>
                <a:lnTo>
                  <a:pt x="31750" y="1728127"/>
                </a:lnTo>
                <a:lnTo>
                  <a:pt x="31649" y="1715420"/>
                </a:lnTo>
                <a:close/>
              </a:path>
              <a:path w="76200" h="1791970">
                <a:moveTo>
                  <a:pt x="44349" y="1715320"/>
                </a:moveTo>
                <a:lnTo>
                  <a:pt x="31649" y="1715420"/>
                </a:lnTo>
                <a:lnTo>
                  <a:pt x="31750" y="1728127"/>
                </a:lnTo>
                <a:lnTo>
                  <a:pt x="44450" y="1728025"/>
                </a:lnTo>
                <a:lnTo>
                  <a:pt x="44349" y="1715320"/>
                </a:lnTo>
                <a:close/>
              </a:path>
              <a:path w="76200" h="1791970">
                <a:moveTo>
                  <a:pt x="76200" y="1715071"/>
                </a:moveTo>
                <a:lnTo>
                  <a:pt x="44349" y="1715320"/>
                </a:lnTo>
                <a:lnTo>
                  <a:pt x="44450" y="1728025"/>
                </a:lnTo>
                <a:lnTo>
                  <a:pt x="31750" y="1728127"/>
                </a:lnTo>
                <a:lnTo>
                  <a:pt x="69783" y="1728127"/>
                </a:lnTo>
                <a:lnTo>
                  <a:pt x="76200" y="1715071"/>
                </a:lnTo>
                <a:close/>
              </a:path>
              <a:path w="76200" h="1791970">
                <a:moveTo>
                  <a:pt x="30733" y="0"/>
                </a:moveTo>
                <a:lnTo>
                  <a:pt x="18033" y="0"/>
                </a:lnTo>
                <a:lnTo>
                  <a:pt x="31649" y="1715420"/>
                </a:lnTo>
                <a:lnTo>
                  <a:pt x="44349" y="1715320"/>
                </a:lnTo>
                <a:lnTo>
                  <a:pt x="30733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830311" y="4204715"/>
            <a:ext cx="3208020" cy="76200"/>
          </a:xfrm>
          <a:custGeom>
            <a:avLst/>
            <a:gdLst/>
            <a:ahLst/>
            <a:cxnLst/>
            <a:rect l="l" t="t" r="r" b="b"/>
            <a:pathLst>
              <a:path w="3208020" h="76200">
                <a:moveTo>
                  <a:pt x="3131312" y="0"/>
                </a:moveTo>
                <a:lnTo>
                  <a:pt x="3131312" y="76199"/>
                </a:lnTo>
                <a:lnTo>
                  <a:pt x="3194812" y="44449"/>
                </a:lnTo>
                <a:lnTo>
                  <a:pt x="3144012" y="44449"/>
                </a:lnTo>
                <a:lnTo>
                  <a:pt x="3144012" y="31749"/>
                </a:lnTo>
                <a:lnTo>
                  <a:pt x="3194812" y="31749"/>
                </a:lnTo>
                <a:lnTo>
                  <a:pt x="3131312" y="0"/>
                </a:lnTo>
                <a:close/>
              </a:path>
              <a:path w="3208020" h="76200">
                <a:moveTo>
                  <a:pt x="3131312" y="31749"/>
                </a:moveTo>
                <a:lnTo>
                  <a:pt x="0" y="31749"/>
                </a:lnTo>
                <a:lnTo>
                  <a:pt x="0" y="44449"/>
                </a:lnTo>
                <a:lnTo>
                  <a:pt x="3131312" y="44449"/>
                </a:lnTo>
                <a:lnTo>
                  <a:pt x="3131312" y="31749"/>
                </a:lnTo>
                <a:close/>
              </a:path>
              <a:path w="3208020" h="76200">
                <a:moveTo>
                  <a:pt x="3194812" y="31749"/>
                </a:moveTo>
                <a:lnTo>
                  <a:pt x="3144012" y="31749"/>
                </a:lnTo>
                <a:lnTo>
                  <a:pt x="3144012" y="44449"/>
                </a:lnTo>
                <a:lnTo>
                  <a:pt x="3194812" y="44449"/>
                </a:lnTo>
                <a:lnTo>
                  <a:pt x="3207512" y="38099"/>
                </a:lnTo>
                <a:lnTo>
                  <a:pt x="3194812" y="31749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566531" y="4306061"/>
            <a:ext cx="1328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Row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Sampling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14691" y="4747778"/>
            <a:ext cx="254000" cy="16383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10" dirty="0">
                <a:latin typeface="Calibri"/>
                <a:cs typeface="Calibri"/>
              </a:rPr>
              <a:t>Feature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Sampling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108947" y="5555869"/>
            <a:ext cx="301625" cy="417195"/>
          </a:xfrm>
          <a:custGeom>
            <a:avLst/>
            <a:gdLst/>
            <a:ahLst/>
            <a:cxnLst/>
            <a:rect l="l" t="t" r="r" b="b"/>
            <a:pathLst>
              <a:path w="301625" h="417195">
                <a:moveTo>
                  <a:pt x="13461" y="332828"/>
                </a:moveTo>
                <a:lnTo>
                  <a:pt x="0" y="416940"/>
                </a:lnTo>
                <a:lnTo>
                  <a:pt x="75310" y="377240"/>
                </a:lnTo>
                <a:lnTo>
                  <a:pt x="63903" y="369049"/>
                </a:lnTo>
                <a:lnTo>
                  <a:pt x="42163" y="369049"/>
                </a:lnTo>
                <a:lnTo>
                  <a:pt x="31876" y="361645"/>
                </a:lnTo>
                <a:lnTo>
                  <a:pt x="39260" y="351353"/>
                </a:lnTo>
                <a:lnTo>
                  <a:pt x="13461" y="332828"/>
                </a:lnTo>
                <a:close/>
              </a:path>
              <a:path w="301625" h="417195">
                <a:moveTo>
                  <a:pt x="39260" y="351353"/>
                </a:moveTo>
                <a:lnTo>
                  <a:pt x="31876" y="361645"/>
                </a:lnTo>
                <a:lnTo>
                  <a:pt x="42163" y="369049"/>
                </a:lnTo>
                <a:lnTo>
                  <a:pt x="49555" y="358746"/>
                </a:lnTo>
                <a:lnTo>
                  <a:pt x="39260" y="351353"/>
                </a:lnTo>
                <a:close/>
              </a:path>
              <a:path w="301625" h="417195">
                <a:moveTo>
                  <a:pt x="49555" y="358746"/>
                </a:moveTo>
                <a:lnTo>
                  <a:pt x="42163" y="369049"/>
                </a:lnTo>
                <a:lnTo>
                  <a:pt x="63903" y="369049"/>
                </a:lnTo>
                <a:lnTo>
                  <a:pt x="49555" y="358746"/>
                </a:lnTo>
                <a:close/>
              </a:path>
              <a:path w="301625" h="417195">
                <a:moveTo>
                  <a:pt x="291337" y="0"/>
                </a:moveTo>
                <a:lnTo>
                  <a:pt x="39260" y="351353"/>
                </a:lnTo>
                <a:lnTo>
                  <a:pt x="49555" y="358746"/>
                </a:lnTo>
                <a:lnTo>
                  <a:pt x="301625" y="7365"/>
                </a:lnTo>
                <a:lnTo>
                  <a:pt x="291337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284207" y="5972555"/>
            <a:ext cx="833755" cy="490855"/>
          </a:xfrm>
          <a:prstGeom prst="rect">
            <a:avLst/>
          </a:prstGeom>
          <a:solidFill>
            <a:srgbClr val="4471C4"/>
          </a:solidFill>
          <a:ln w="12192">
            <a:solidFill>
              <a:srgbClr val="2E528F"/>
            </a:solidFill>
          </a:ln>
        </p:spPr>
        <p:txBody>
          <a:bodyPr vert="horz" wrap="square" lIns="0" tIns="93980" rIns="0" bIns="0" rtlCol="0">
            <a:spAutoFit/>
          </a:bodyPr>
          <a:lstStyle/>
          <a:p>
            <a:pPr marL="200025">
              <a:lnSpc>
                <a:spcPct val="100000"/>
              </a:lnSpc>
              <a:spcBef>
                <a:spcPts val="74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DT-2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587228" y="5972555"/>
            <a:ext cx="833755" cy="490855"/>
          </a:xfrm>
          <a:prstGeom prst="rect">
            <a:avLst/>
          </a:prstGeom>
          <a:solidFill>
            <a:srgbClr val="00AFEF"/>
          </a:solidFill>
          <a:ln w="12192">
            <a:solidFill>
              <a:srgbClr val="2E528F"/>
            </a:solidFill>
          </a:ln>
        </p:spPr>
        <p:txBody>
          <a:bodyPr vert="horz" wrap="square" lIns="0" tIns="93980" rIns="0" bIns="0" rtlCol="0">
            <a:spAutoFit/>
          </a:bodyPr>
          <a:lstStyle/>
          <a:p>
            <a:pPr marL="184785">
              <a:lnSpc>
                <a:spcPct val="100000"/>
              </a:lnSpc>
              <a:spcBef>
                <a:spcPts val="74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DT-N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538843" y="5557265"/>
            <a:ext cx="172085" cy="415925"/>
          </a:xfrm>
          <a:custGeom>
            <a:avLst/>
            <a:gdLst/>
            <a:ahLst/>
            <a:cxnLst/>
            <a:rect l="l" t="t" r="r" b="b"/>
            <a:pathLst>
              <a:path w="172084" h="415925">
                <a:moveTo>
                  <a:pt x="130109" y="346599"/>
                </a:moveTo>
                <a:lnTo>
                  <a:pt x="100456" y="357873"/>
                </a:lnTo>
                <a:lnTo>
                  <a:pt x="163067" y="415544"/>
                </a:lnTo>
                <a:lnTo>
                  <a:pt x="168884" y="358457"/>
                </a:lnTo>
                <a:lnTo>
                  <a:pt x="134620" y="358457"/>
                </a:lnTo>
                <a:lnTo>
                  <a:pt x="130109" y="346599"/>
                </a:lnTo>
                <a:close/>
              </a:path>
              <a:path w="172084" h="415925">
                <a:moveTo>
                  <a:pt x="141934" y="342103"/>
                </a:moveTo>
                <a:lnTo>
                  <a:pt x="130109" y="346599"/>
                </a:lnTo>
                <a:lnTo>
                  <a:pt x="134620" y="358457"/>
                </a:lnTo>
                <a:lnTo>
                  <a:pt x="146430" y="353936"/>
                </a:lnTo>
                <a:lnTo>
                  <a:pt x="141934" y="342103"/>
                </a:lnTo>
                <a:close/>
              </a:path>
              <a:path w="172084" h="415925">
                <a:moveTo>
                  <a:pt x="171703" y="330784"/>
                </a:moveTo>
                <a:lnTo>
                  <a:pt x="141934" y="342103"/>
                </a:lnTo>
                <a:lnTo>
                  <a:pt x="146430" y="353936"/>
                </a:lnTo>
                <a:lnTo>
                  <a:pt x="134620" y="358457"/>
                </a:lnTo>
                <a:lnTo>
                  <a:pt x="168884" y="358457"/>
                </a:lnTo>
                <a:lnTo>
                  <a:pt x="171703" y="330784"/>
                </a:lnTo>
                <a:close/>
              </a:path>
              <a:path w="172084" h="415925">
                <a:moveTo>
                  <a:pt x="11937" y="0"/>
                </a:moveTo>
                <a:lnTo>
                  <a:pt x="0" y="4572"/>
                </a:lnTo>
                <a:lnTo>
                  <a:pt x="130109" y="346599"/>
                </a:lnTo>
                <a:lnTo>
                  <a:pt x="141934" y="342103"/>
                </a:lnTo>
                <a:lnTo>
                  <a:pt x="11937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113644" y="5554726"/>
            <a:ext cx="487680" cy="418465"/>
          </a:xfrm>
          <a:custGeom>
            <a:avLst/>
            <a:gdLst/>
            <a:ahLst/>
            <a:cxnLst/>
            <a:rect l="l" t="t" r="r" b="b"/>
            <a:pathLst>
              <a:path w="487679" h="418464">
                <a:moveTo>
                  <a:pt x="425411" y="373363"/>
                </a:moveTo>
                <a:lnTo>
                  <a:pt x="404749" y="397522"/>
                </a:lnTo>
                <a:lnTo>
                  <a:pt x="487425" y="418084"/>
                </a:lnTo>
                <a:lnTo>
                  <a:pt x="472035" y="381647"/>
                </a:lnTo>
                <a:lnTo>
                  <a:pt x="435101" y="381647"/>
                </a:lnTo>
                <a:lnTo>
                  <a:pt x="425411" y="373363"/>
                </a:lnTo>
                <a:close/>
              </a:path>
              <a:path w="487679" h="418464">
                <a:moveTo>
                  <a:pt x="433666" y="363711"/>
                </a:moveTo>
                <a:lnTo>
                  <a:pt x="425411" y="373363"/>
                </a:lnTo>
                <a:lnTo>
                  <a:pt x="435101" y="381647"/>
                </a:lnTo>
                <a:lnTo>
                  <a:pt x="443356" y="371995"/>
                </a:lnTo>
                <a:lnTo>
                  <a:pt x="433666" y="363711"/>
                </a:lnTo>
                <a:close/>
              </a:path>
              <a:path w="487679" h="418464">
                <a:moveTo>
                  <a:pt x="454278" y="339610"/>
                </a:moveTo>
                <a:lnTo>
                  <a:pt x="433666" y="363711"/>
                </a:lnTo>
                <a:lnTo>
                  <a:pt x="443356" y="371995"/>
                </a:lnTo>
                <a:lnTo>
                  <a:pt x="435101" y="381647"/>
                </a:lnTo>
                <a:lnTo>
                  <a:pt x="472035" y="381647"/>
                </a:lnTo>
                <a:lnTo>
                  <a:pt x="454278" y="339610"/>
                </a:lnTo>
                <a:close/>
              </a:path>
              <a:path w="487679" h="418464">
                <a:moveTo>
                  <a:pt x="8254" y="0"/>
                </a:moveTo>
                <a:lnTo>
                  <a:pt x="0" y="9652"/>
                </a:lnTo>
                <a:lnTo>
                  <a:pt x="425411" y="373363"/>
                </a:lnTo>
                <a:lnTo>
                  <a:pt x="433666" y="363711"/>
                </a:lnTo>
                <a:lnTo>
                  <a:pt x="8254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0184130" y="6078423"/>
            <a:ext cx="3568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…</a:t>
            </a:r>
            <a:r>
              <a:rPr sz="1800" dirty="0">
                <a:latin typeface="Calibri"/>
                <a:cs typeface="Calibri"/>
              </a:rPr>
              <a:t>.</a:t>
            </a:r>
            <a:r>
              <a:rPr sz="1800" spc="-5" dirty="0">
                <a:latin typeface="Calibri"/>
                <a:cs typeface="Calibri"/>
              </a:rPr>
              <a:t>..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1295402" y="950545"/>
            <a:ext cx="9601196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497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Random</a:t>
            </a:r>
            <a:r>
              <a:rPr spc="-80" dirty="0"/>
              <a:t> </a:t>
            </a:r>
            <a:r>
              <a:rPr dirty="0" smtClean="0"/>
              <a:t>Forest</a:t>
            </a:r>
            <a:r>
              <a:rPr lang="en-US" dirty="0" smtClean="0"/>
              <a:t/>
            </a:r>
            <a:br>
              <a:rPr lang="en-US" dirty="0" smtClean="0"/>
            </a:br>
            <a:endParaRPr dirty="0"/>
          </a:p>
        </p:txBody>
      </p:sp>
      <p:pic>
        <p:nvPicPr>
          <p:cNvPr id="26" name="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02307" y="3921252"/>
            <a:ext cx="1027768" cy="1032986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6207378" y="5044821"/>
            <a:ext cx="9232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Final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Output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86155" y="1560321"/>
            <a:ext cx="10901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For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Random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Forest,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Every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tree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will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calculated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by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same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procedure.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Final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result</a:t>
            </a:r>
            <a:r>
              <a:rPr sz="1800" spc="-5" dirty="0">
                <a:latin typeface="Calibri"/>
                <a:cs typeface="Calibri"/>
              </a:rPr>
              <a:t> will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generated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majority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voting.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50945" y="2969767"/>
            <a:ext cx="5114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latin typeface="Calibri"/>
                <a:cs typeface="Calibri"/>
              </a:rPr>
              <a:t>Let’s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Have </a:t>
            </a:r>
            <a:r>
              <a:rPr sz="1800" b="1" dirty="0">
                <a:latin typeface="Calibri"/>
                <a:cs typeface="Calibri"/>
              </a:rPr>
              <a:t>a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Look </a:t>
            </a:r>
            <a:r>
              <a:rPr sz="1800" b="1" dirty="0">
                <a:latin typeface="Calibri"/>
                <a:cs typeface="Calibri"/>
              </a:rPr>
              <a:t>in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the</a:t>
            </a:r>
            <a:r>
              <a:rPr sz="1800" b="1" spc="-10" dirty="0">
                <a:latin typeface="Calibri"/>
                <a:cs typeface="Calibri"/>
              </a:rPr>
              <a:t> Implementation </a:t>
            </a:r>
            <a:r>
              <a:rPr sz="1800" b="1" spc="-5" dirty="0">
                <a:latin typeface="Calibri"/>
                <a:cs typeface="Calibri"/>
              </a:rPr>
              <a:t>with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Python!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2692398" y="1711847"/>
            <a:ext cx="6815669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497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Random</a:t>
            </a:r>
            <a:r>
              <a:rPr spc="-80" dirty="0"/>
              <a:t> </a:t>
            </a:r>
            <a:r>
              <a:rPr dirty="0" smtClean="0"/>
              <a:t>Forest</a:t>
            </a:r>
            <a:r>
              <a:rPr lang="en-US" dirty="0" smtClean="0"/>
              <a:t/>
            </a:r>
            <a:br>
              <a:rPr lang="en-US" dirty="0" smtClean="0"/>
            </a:b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324</TotalTime>
  <Words>1474</Words>
  <Application>Microsoft Office PowerPoint</Application>
  <PresentationFormat>Widescreen</PresentationFormat>
  <Paragraphs>200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Calibri</vt:lpstr>
      <vt:lpstr>Garamond</vt:lpstr>
      <vt:lpstr>Segoe Print</vt:lpstr>
      <vt:lpstr>Times New Roman</vt:lpstr>
      <vt:lpstr>Wingdings</vt:lpstr>
      <vt:lpstr>Organic</vt:lpstr>
      <vt:lpstr>Class Content:</vt:lpstr>
      <vt:lpstr>Decision Tree</vt:lpstr>
      <vt:lpstr>Pruning in Decision Tree</vt:lpstr>
      <vt:lpstr>Pre-Pruning vs Post-Pruning</vt:lpstr>
      <vt:lpstr>Ensemble Methods in Machine Learning</vt:lpstr>
      <vt:lpstr>Ensemble Methods in Machine Learning</vt:lpstr>
      <vt:lpstr>PowerPoint Presentation</vt:lpstr>
      <vt:lpstr>Ensemble Methods in Machine Learning</vt:lpstr>
      <vt:lpstr>PowerPoint Presentation</vt:lpstr>
      <vt:lpstr>Random Forest</vt:lpstr>
      <vt:lpstr>Random Forest</vt:lpstr>
      <vt:lpstr>Random Forest</vt:lpstr>
      <vt:lpstr>Random Forest</vt:lpstr>
      <vt:lpstr>Random Forest</vt:lpstr>
      <vt:lpstr>Random Forest</vt:lpstr>
      <vt:lpstr>Random Forest</vt:lpstr>
      <vt:lpstr>All about Decision Tree</vt:lpstr>
      <vt:lpstr>PowerPoint Presentation</vt:lpstr>
      <vt:lpstr>All about Decision Tree</vt:lpstr>
      <vt:lpstr>All about Decision Tree</vt:lpstr>
      <vt:lpstr>All about Decision Tree</vt:lpstr>
      <vt:lpstr>All about Decision Tree</vt:lpstr>
      <vt:lpstr>All about Decision Tree</vt:lpstr>
      <vt:lpstr>All about Decision Tree</vt:lpstr>
      <vt:lpstr>All about Decision Tree</vt:lpstr>
      <vt:lpstr>All about Decision Tree</vt:lpstr>
      <vt:lpstr>All about Decision Tree</vt:lpstr>
      <vt:lpstr>All about Decision Tree</vt:lpstr>
      <vt:lpstr>All about Decision Tree</vt:lpstr>
      <vt:lpstr>All about Decision Tree</vt:lpstr>
      <vt:lpstr>All about Decision Tree</vt:lpstr>
      <vt:lpstr>All about Decision Tree</vt:lpstr>
      <vt:lpstr>Random Forest </vt:lpstr>
      <vt:lpstr>Random Forest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study mart</dc:creator>
  <cp:lastModifiedBy>Microsoft account</cp:lastModifiedBy>
  <cp:revision>6</cp:revision>
  <dcterms:created xsi:type="dcterms:W3CDTF">2023-03-05T16:40:45Z</dcterms:created>
  <dcterms:modified xsi:type="dcterms:W3CDTF">2025-08-15T18:51:30Z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2022-09-03T00:00:00Z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2023-03-05T00:00:00Z</vt:filetime>
  </property>
</Properties>
</file>